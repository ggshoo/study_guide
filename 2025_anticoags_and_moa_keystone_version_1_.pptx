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xml" ContentType="application/vnd.openxmlformats-officedocument.presentationml.tags+xml"/>
  <Override PartName="/ppt/notesSlides/notesSlide20.xml" ContentType="application/vnd.openxmlformats-officedocument.presentationml.notesSlide+xml"/>
  <Override PartName="/ppt/tags/tag2.xml" ContentType="application/vnd.openxmlformats-officedocument.presentationml.tags+xml"/>
  <Override PartName="/ppt/notesSlides/notesSlide21.xml" ContentType="application/vnd.openxmlformats-officedocument.presentationml.notesSlide+xml"/>
  <Override PartName="/ppt/tags/tag3.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4.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5.xml" ContentType="application/vnd.openxmlformats-officedocument.presentationml.tags+xml"/>
  <Override PartName="/ppt/notesSlides/notesSlide37.xml" ContentType="application/vnd.openxmlformats-officedocument.presentationml.notesSlide+xml"/>
  <Override PartName="/ppt/tags/tag6.xml" ContentType="application/vnd.openxmlformats-officedocument.presentationml.tags+xml"/>
  <Override PartName="/ppt/notesSlides/notesSlide38.xml" ContentType="application/vnd.openxmlformats-officedocument.presentationml.notesSlide+xml"/>
  <Override PartName="/ppt/tags/tag7.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8.xml" ContentType="application/vnd.openxmlformats-officedocument.presentationml.tags+xml"/>
  <Override PartName="/ppt/notesSlides/notesSlide52.xml" ContentType="application/vnd.openxmlformats-officedocument.presentationml.notesSlide+xml"/>
  <Override PartName="/ppt/tags/tag9.xml" ContentType="application/vnd.openxmlformats-officedocument.presentationml.tags+xml"/>
  <Override PartName="/ppt/notesSlides/notesSlide53.xml" ContentType="application/vnd.openxmlformats-officedocument.presentationml.notesSlide+xml"/>
  <Override PartName="/ppt/tags/tag10.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4" r:id="rId1"/>
    <p:sldMasterId id="2147483729" r:id="rId2"/>
  </p:sldMasterIdLst>
  <p:notesMasterIdLst>
    <p:notesMasterId r:id="rId61"/>
  </p:notesMasterIdLst>
  <p:handoutMasterIdLst>
    <p:handoutMasterId r:id="rId62"/>
  </p:handoutMasterIdLst>
  <p:sldIdLst>
    <p:sldId id="530" r:id="rId3"/>
    <p:sldId id="575" r:id="rId4"/>
    <p:sldId id="576" r:id="rId5"/>
    <p:sldId id="578" r:id="rId6"/>
    <p:sldId id="579" r:id="rId7"/>
    <p:sldId id="515" r:id="rId8"/>
    <p:sldId id="531" r:id="rId9"/>
    <p:sldId id="463" r:id="rId10"/>
    <p:sldId id="532" r:id="rId11"/>
    <p:sldId id="533" r:id="rId12"/>
    <p:sldId id="534" r:id="rId13"/>
    <p:sldId id="535" r:id="rId14"/>
    <p:sldId id="536" r:id="rId15"/>
    <p:sldId id="538" r:id="rId16"/>
    <p:sldId id="539" r:id="rId17"/>
    <p:sldId id="540" r:id="rId18"/>
    <p:sldId id="541" r:id="rId19"/>
    <p:sldId id="542" r:id="rId20"/>
    <p:sldId id="512" r:id="rId21"/>
    <p:sldId id="565" r:id="rId22"/>
    <p:sldId id="566" r:id="rId23"/>
    <p:sldId id="567" r:id="rId24"/>
    <p:sldId id="543" r:id="rId25"/>
    <p:sldId id="544" r:id="rId26"/>
    <p:sldId id="545" r:id="rId27"/>
    <p:sldId id="546" r:id="rId28"/>
    <p:sldId id="548" r:id="rId29"/>
    <p:sldId id="550" r:id="rId30"/>
    <p:sldId id="551" r:id="rId31"/>
    <p:sldId id="549" r:id="rId32"/>
    <p:sldId id="552" r:id="rId33"/>
    <p:sldId id="553" r:id="rId34"/>
    <p:sldId id="555" r:id="rId35"/>
    <p:sldId id="488" r:id="rId36"/>
    <p:sldId id="568" r:id="rId37"/>
    <p:sldId id="491" r:id="rId38"/>
    <p:sldId id="569" r:id="rId39"/>
    <p:sldId id="570" r:id="rId40"/>
    <p:sldId id="571" r:id="rId41"/>
    <p:sldId id="554" r:id="rId42"/>
    <p:sldId id="556" r:id="rId43"/>
    <p:sldId id="557" r:id="rId44"/>
    <p:sldId id="558" r:id="rId45"/>
    <p:sldId id="559" r:id="rId46"/>
    <p:sldId id="580" r:id="rId47"/>
    <p:sldId id="561" r:id="rId48"/>
    <p:sldId id="562" r:id="rId49"/>
    <p:sldId id="528" r:id="rId50"/>
    <p:sldId id="564" r:id="rId51"/>
    <p:sldId id="516" r:id="rId52"/>
    <p:sldId id="490" r:id="rId53"/>
    <p:sldId id="572" r:id="rId54"/>
    <p:sldId id="573" r:id="rId55"/>
    <p:sldId id="574" r:id="rId56"/>
    <p:sldId id="521" r:id="rId57"/>
    <p:sldId id="583" r:id="rId58"/>
    <p:sldId id="581" r:id="rId59"/>
    <p:sldId id="582"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752" userDrawn="1">
          <p15:clr>
            <a:srgbClr val="A4A3A4"/>
          </p15:clr>
        </p15:guide>
        <p15:guide id="3"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6969"/>
    <a:srgbClr val="BA0C2F"/>
    <a:srgbClr val="B9B9B9"/>
    <a:srgbClr val="D9D9D9"/>
    <a:srgbClr val="404040"/>
    <a:srgbClr val="6BA7A7"/>
    <a:srgbClr val="B5E3D8"/>
    <a:srgbClr val="1A5675"/>
    <a:srgbClr val="FFFFFF"/>
    <a:srgbClr val="21573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22" autoAdjust="0"/>
    <p:restoredTop sz="69128" autoAdjust="0"/>
  </p:normalViewPr>
  <p:slideViewPr>
    <p:cSldViewPr snapToGrid="0" snapToObjects="1">
      <p:cViewPr varScale="1">
        <p:scale>
          <a:sx n="76" d="100"/>
          <a:sy n="76" d="100"/>
        </p:scale>
        <p:origin x="1038" y="96"/>
      </p:cViewPr>
      <p:guideLst>
        <p:guide orient="horz" pos="1752"/>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40" d="100"/>
        <a:sy n="40" d="100"/>
      </p:scale>
      <p:origin x="0" y="0"/>
    </p:cViewPr>
  </p:sorterViewPr>
  <p:notesViewPr>
    <p:cSldViewPr snapToGrid="0" snapToObjects="1" showGuides="1">
      <p:cViewPr varScale="1">
        <p:scale>
          <a:sx n="82" d="100"/>
          <a:sy n="82" d="100"/>
        </p:scale>
        <p:origin x="3018"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8A20FC-0320-AAD5-D14C-A1A4B8275F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380C3D6-98DE-0A12-4145-04EC1C874F7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88C6E8-70FA-4C4C-AADA-A3C17CFE6311}" type="datetimeFigureOut">
              <a:rPr lang="en-US" smtClean="0"/>
              <a:t>11/3/2025</a:t>
            </a:fld>
            <a:endParaRPr lang="en-US"/>
          </a:p>
        </p:txBody>
      </p:sp>
      <p:sp>
        <p:nvSpPr>
          <p:cNvPr id="4" name="Footer Placeholder 3">
            <a:extLst>
              <a:ext uri="{FF2B5EF4-FFF2-40B4-BE49-F238E27FC236}">
                <a16:creationId xmlns:a16="http://schemas.microsoft.com/office/drawing/2014/main" id="{C72E76F7-44BA-B1CF-41B0-7DDB74D3866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395C797-BF16-0F37-8AC5-42E0A2645A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3612DE-C133-4B61-9061-341435EA0409}" type="slidenum">
              <a:rPr lang="en-US" smtClean="0"/>
              <a:t>‹#›</a:t>
            </a:fld>
            <a:endParaRPr lang="en-US"/>
          </a:p>
        </p:txBody>
      </p:sp>
    </p:spTree>
    <p:extLst>
      <p:ext uri="{BB962C8B-B14F-4D97-AF65-F5344CB8AC3E}">
        <p14:creationId xmlns:p14="http://schemas.microsoft.com/office/powerpoint/2010/main" val="348691318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E3AD09-9720-9047-BB14-484CD98DBB2F}" type="datetimeFigureOut">
              <a:rPr lang="en-US" smtClean="0"/>
              <a:t>11/3/2025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380D64-6F43-4C4D-BE6A-3F3482AA5165}" type="slidenum">
              <a:rPr lang="en-US" smtClean="0"/>
              <a:t>‹#›</a:t>
            </a:fld>
            <a:endParaRPr lang="en-US"/>
          </a:p>
        </p:txBody>
      </p:sp>
    </p:spTree>
    <p:extLst>
      <p:ext uri="{BB962C8B-B14F-4D97-AF65-F5344CB8AC3E}">
        <p14:creationId xmlns:p14="http://schemas.microsoft.com/office/powerpoint/2010/main" val="425239001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01F2F-5311-4A6B-A2CA-4A56CB9B08FF}" type="slidenum">
              <a:rPr lang="en-US" smtClean="0"/>
              <a:t>1</a:t>
            </a:fld>
            <a:endParaRPr lang="en-US"/>
          </a:p>
        </p:txBody>
      </p:sp>
    </p:spTree>
    <p:extLst>
      <p:ext uri="{BB962C8B-B14F-4D97-AF65-F5344CB8AC3E}">
        <p14:creationId xmlns:p14="http://schemas.microsoft.com/office/powerpoint/2010/main" val="1952621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1632170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1212439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01F2F-5311-4A6B-A2CA-4A56CB9B08FF}" type="slidenum">
              <a:rPr lang="en-US" smtClean="0"/>
              <a:t>4</a:t>
            </a:fld>
            <a:endParaRPr lang="en-US"/>
          </a:p>
        </p:txBody>
      </p:sp>
    </p:spTree>
    <p:extLst>
      <p:ext uri="{BB962C8B-B14F-4D97-AF65-F5344CB8AC3E}">
        <p14:creationId xmlns:p14="http://schemas.microsoft.com/office/powerpoint/2010/main" val="3348186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01F2F-5311-4A6B-A2CA-4A56CB9B08FF}" type="slidenum">
              <a:rPr lang="en-US" smtClean="0"/>
              <a:t>5</a:t>
            </a:fld>
            <a:endParaRPr lang="en-US"/>
          </a:p>
        </p:txBody>
      </p:sp>
    </p:spTree>
    <p:extLst>
      <p:ext uri="{BB962C8B-B14F-4D97-AF65-F5344CB8AC3E}">
        <p14:creationId xmlns:p14="http://schemas.microsoft.com/office/powerpoint/2010/main" val="2091581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597828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JC is the nations oldest and largest</a:t>
            </a:r>
            <a:r>
              <a:rPr lang="en-US" sz="1200" b="0" i="0" kern="1200" baseline="0" dirty="0">
                <a:solidFill>
                  <a:schemeClr val="tx1"/>
                </a:solidFill>
                <a:effectLst/>
                <a:latin typeface="+mn-lt"/>
                <a:ea typeface="+mn-ea"/>
                <a:cs typeface="+mn-cs"/>
              </a:rPr>
              <a:t> independent, not-for-profit organization that accredits and certifies health care organizations and programs in the US.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3880125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1935751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1916 </a:t>
            </a:r>
            <a:r>
              <a:rPr lang="en-US" dirty="0">
                <a:effectLst/>
              </a:rPr>
              <a:t>Heparin  discovered in dog liver by a team from The Johns Hopkins University in Baltimore, MD.</a:t>
            </a:r>
          </a:p>
          <a:p>
            <a:r>
              <a:rPr lang="en-US" b="1" dirty="0">
                <a:effectLst/>
              </a:rPr>
              <a:t>1932</a:t>
            </a:r>
            <a:r>
              <a:rPr lang="en-US" dirty="0">
                <a:effectLst/>
              </a:rPr>
              <a:t> U.S. clinical scientist shows that heparin requires a plasma factor (AT) for its anticoagulant action.</a:t>
            </a:r>
            <a:endParaRPr lang="en-US" baseline="0" dirty="0"/>
          </a:p>
          <a:p>
            <a:r>
              <a:rPr lang="en-US" b="1" dirty="0">
                <a:effectLst/>
              </a:rPr>
              <a:t>1920s </a:t>
            </a:r>
            <a:r>
              <a:rPr lang="en-US" dirty="0">
                <a:effectLst/>
              </a:rPr>
              <a:t>Cattle in the northern U.S. and Canada are dying from a bleeding disease caused by a substance in moldy sweet clover.</a:t>
            </a:r>
          </a:p>
          <a:p>
            <a:r>
              <a:rPr lang="en-US" b="1" dirty="0">
                <a:effectLst/>
              </a:rPr>
              <a:t>1939 </a:t>
            </a:r>
            <a:r>
              <a:rPr lang="en-US" dirty="0">
                <a:effectLst/>
              </a:rPr>
              <a:t>Researchers at the University of Wisconsin identify the substance in moldy clover as dicumarol. Over the next several years, warfarin, a related compound, is made in this laboratory.</a:t>
            </a:r>
          </a:p>
          <a:p>
            <a:r>
              <a:rPr lang="en-US" b="1" dirty="0">
                <a:effectLst/>
              </a:rPr>
              <a:t>1941 </a:t>
            </a:r>
            <a:r>
              <a:rPr lang="en-US" dirty="0">
                <a:effectLst/>
              </a:rPr>
              <a:t>Dicumarol is first given to patients at the Mayo Clinic.</a:t>
            </a:r>
          </a:p>
          <a:p>
            <a:r>
              <a:rPr lang="en-US" b="1" dirty="0">
                <a:effectLst/>
              </a:rPr>
              <a:t>1950s </a:t>
            </a:r>
            <a:r>
              <a:rPr lang="en-US" dirty="0">
                <a:effectLst/>
              </a:rPr>
              <a:t>Clinical studies with warfarin begin in the U.S., and the drug is approved for clinical use in 1954.</a:t>
            </a:r>
          </a:p>
          <a:p>
            <a:r>
              <a:rPr lang="en-US" b="1" dirty="0">
                <a:effectLst/>
              </a:rPr>
              <a:t>1970s </a:t>
            </a:r>
            <a:r>
              <a:rPr lang="en-US" dirty="0">
                <a:effectLst/>
              </a:rPr>
              <a:t>The mechanism of action of vitamin K is explained by scientists who discover that warfarin's anticoagulant effect is caused by interference with the action of vitamin K.</a:t>
            </a:r>
            <a:endParaRPr lang="en-US" dirty="0"/>
          </a:p>
        </p:txBody>
      </p:sp>
      <p:sp>
        <p:nvSpPr>
          <p:cNvPr id="4" name="Slide Number Placeholder 3"/>
          <p:cNvSpPr>
            <a:spLocks noGrp="1"/>
          </p:cNvSpPr>
          <p:nvPr>
            <p:ph type="sldNum" sz="quarter" idx="10"/>
          </p:nvPr>
        </p:nvSpPr>
        <p:spPr/>
        <p:txBody>
          <a:bodyPr/>
          <a:lstStyle/>
          <a:p>
            <a:fld id="{0DC01F2F-5311-4A6B-A2CA-4A56CB9B08FF}" type="slidenum">
              <a:rPr lang="en-US" smtClean="0"/>
              <a:t>9</a:t>
            </a:fld>
            <a:endParaRPr lang="en-US"/>
          </a:p>
        </p:txBody>
      </p:sp>
    </p:spTree>
    <p:extLst>
      <p:ext uri="{BB962C8B-B14F-4D97-AF65-F5344CB8AC3E}">
        <p14:creationId xmlns:p14="http://schemas.microsoft.com/office/powerpoint/2010/main" val="31987667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01F2F-5311-4A6B-A2CA-4A56CB9B08FF}" type="slidenum">
              <a:rPr lang="en-US" smtClean="0"/>
              <a:t>10</a:t>
            </a:fld>
            <a:endParaRPr lang="en-US"/>
          </a:p>
        </p:txBody>
      </p:sp>
    </p:spTree>
    <p:extLst>
      <p:ext uri="{BB962C8B-B14F-4D97-AF65-F5344CB8AC3E}">
        <p14:creationId xmlns:p14="http://schemas.microsoft.com/office/powerpoint/2010/main" val="856415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01F2F-5311-4A6B-A2CA-4A56CB9B08FF}" type="slidenum">
              <a:rPr lang="en-US" smtClean="0"/>
              <a:t>11</a:t>
            </a:fld>
            <a:endParaRPr lang="en-US"/>
          </a:p>
        </p:txBody>
      </p:sp>
    </p:spTree>
    <p:extLst>
      <p:ext uri="{BB962C8B-B14F-4D97-AF65-F5344CB8AC3E}">
        <p14:creationId xmlns:p14="http://schemas.microsoft.com/office/powerpoint/2010/main" val="336658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C01F2F-5311-4A6B-A2CA-4A56CB9B08FF}" type="slidenum">
              <a:rPr lang="en-US" smtClean="0"/>
              <a:t>12</a:t>
            </a:fld>
            <a:endParaRPr lang="en-US"/>
          </a:p>
        </p:txBody>
      </p:sp>
    </p:spTree>
    <p:extLst>
      <p:ext uri="{BB962C8B-B14F-4D97-AF65-F5344CB8AC3E}">
        <p14:creationId xmlns:p14="http://schemas.microsoft.com/office/powerpoint/2010/main" val="3976747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mn-lt"/>
              <a:ea typeface="Calibri"/>
              <a:cs typeface="Calibri"/>
            </a:endParaRPr>
          </a:p>
        </p:txBody>
      </p:sp>
      <p:sp>
        <p:nvSpPr>
          <p:cNvPr id="4" name="Slide Number Placeholder 3"/>
          <p:cNvSpPr>
            <a:spLocks noGrp="1"/>
          </p:cNvSpPr>
          <p:nvPr>
            <p:ph type="sldNum" sz="quarter" idx="10"/>
          </p:nvPr>
        </p:nvSpPr>
        <p:spPr/>
        <p:txBody>
          <a:bodyPr/>
          <a:lstStyle/>
          <a:p>
            <a:fld id="{0DC01F2F-5311-4A6B-A2CA-4A56CB9B08FF}" type="slidenum">
              <a:rPr lang="en-US" smtClean="0"/>
              <a:t>13</a:t>
            </a:fld>
            <a:endParaRPr lang="en-US"/>
          </a:p>
        </p:txBody>
      </p:sp>
    </p:spTree>
    <p:extLst>
      <p:ext uri="{BB962C8B-B14F-4D97-AF65-F5344CB8AC3E}">
        <p14:creationId xmlns:p14="http://schemas.microsoft.com/office/powerpoint/2010/main" val="45210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0DC01F2F-5311-4A6B-A2CA-4A56CB9B08FF}" type="slidenum">
              <a:rPr lang="en-US" smtClean="0"/>
              <a:t>14</a:t>
            </a:fld>
            <a:endParaRPr lang="en-US"/>
          </a:p>
        </p:txBody>
      </p:sp>
    </p:spTree>
    <p:extLst>
      <p:ext uri="{BB962C8B-B14F-4D97-AF65-F5344CB8AC3E}">
        <p14:creationId xmlns:p14="http://schemas.microsoft.com/office/powerpoint/2010/main" val="4882415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0" dirty="0"/>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9628419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0" dirty="0"/>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1634704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DC01F2F-5311-4A6B-A2CA-4A56CB9B08FF}" type="slidenum">
              <a:rPr lang="en-US" smtClean="0"/>
              <a:t>17</a:t>
            </a:fld>
            <a:endParaRPr lang="en-US"/>
          </a:p>
        </p:txBody>
      </p:sp>
    </p:spTree>
    <p:extLst>
      <p:ext uri="{BB962C8B-B14F-4D97-AF65-F5344CB8AC3E}">
        <p14:creationId xmlns:p14="http://schemas.microsoft.com/office/powerpoint/2010/main" val="30963318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DC01F2F-5311-4A6B-A2CA-4A56CB9B08FF}" type="slidenum">
              <a:rPr lang="en-US" smtClean="0"/>
              <a:t>18</a:t>
            </a:fld>
            <a:endParaRPr lang="en-US"/>
          </a:p>
        </p:txBody>
      </p:sp>
    </p:spTree>
    <p:extLst>
      <p:ext uri="{BB962C8B-B14F-4D97-AF65-F5344CB8AC3E}">
        <p14:creationId xmlns:p14="http://schemas.microsoft.com/office/powerpoint/2010/main" val="26579250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DC01F2F-5311-4A6B-A2CA-4A56CB9B08FF}" type="slidenum">
              <a:rPr lang="en-US" smtClean="0"/>
              <a:t>19</a:t>
            </a:fld>
            <a:endParaRPr lang="en-US"/>
          </a:p>
        </p:txBody>
      </p:sp>
    </p:spTree>
    <p:extLst>
      <p:ext uri="{BB962C8B-B14F-4D97-AF65-F5344CB8AC3E}">
        <p14:creationId xmlns:p14="http://schemas.microsoft.com/office/powerpoint/2010/main" val="41731162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could be contributing to this finding?
https://www.polleverywhere.com/multiple_choice_polls/wlFXNp5u4dHMyJgtpxJp4?display_state=instructions&amp;activity_state=opened&amp;state=opened&amp;flow=Instructor&amp;onscreen=persist</a:t>
            </a:r>
          </a:p>
        </p:txBody>
      </p:sp>
      <p:sp>
        <p:nvSpPr>
          <p:cNvPr id="4" name="Slide Number Placeholder 3"/>
          <p:cNvSpPr>
            <a:spLocks noGrp="1"/>
          </p:cNvSpPr>
          <p:nvPr>
            <p:ph type="sldNum" sz="quarter" idx="10"/>
          </p:nvPr>
        </p:nvSpPr>
        <p:spPr/>
        <p:txBody>
          <a:bodyPr/>
          <a:lstStyle/>
          <a:p>
            <a:fld id="{0DC01F2F-5311-4A6B-A2CA-4A56CB9B08FF}" type="slidenum">
              <a:rPr lang="en-US" smtClean="0"/>
              <a:t>20</a:t>
            </a:fld>
            <a:endParaRPr lang="en-US"/>
          </a:p>
        </p:txBody>
      </p:sp>
      <p:sp>
        <p:nvSpPr>
          <p:cNvPr id="5" name="TextBox 4"/>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7764434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could be contributing to this finding?
https://www.polleverywhere.com/multiple_choice_polls/wlFXNp5u4dHMyJgtpxJp4?display_state=chart&amp;activity_state=closed&amp;state=closed&amp;flow=Instructor&amp;onscreen=persist</a:t>
            </a:r>
          </a:p>
        </p:txBody>
      </p:sp>
      <p:sp>
        <p:nvSpPr>
          <p:cNvPr id="4" name="Slide Number Placeholder 3"/>
          <p:cNvSpPr>
            <a:spLocks noGrp="1"/>
          </p:cNvSpPr>
          <p:nvPr>
            <p:ph type="sldNum" sz="quarter" idx="10"/>
          </p:nvPr>
        </p:nvSpPr>
        <p:spPr/>
        <p:txBody>
          <a:bodyPr/>
          <a:lstStyle/>
          <a:p>
            <a:fld id="{0DC01F2F-5311-4A6B-A2CA-4A56CB9B08FF}" type="slidenum">
              <a:rPr lang="en-US" smtClean="0"/>
              <a:t>21</a:t>
            </a:fld>
            <a:endParaRPr lang="en-US"/>
          </a:p>
        </p:txBody>
      </p:sp>
      <p:sp>
        <p:nvSpPr>
          <p:cNvPr id="5" name="TextBox 4"/>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752693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Poll Title: Do not modify the notes in this section to avoid tampering with the Poll Everywhere activity.
More info at polleverywhere.com/support
What could be contributing to this finding?
https://www.polleverywhere.com/multiple_choice_polls/wlFXNp5u4dHMyJgtpxJp4?display_state=chart&amp;activity_state=closed&amp;display=correctness&amp;state=closed&amp;flow=Instructor&amp;onscreen=persist</a:t>
            </a:r>
          </a:p>
        </p:txBody>
      </p:sp>
      <p:sp>
        <p:nvSpPr>
          <p:cNvPr id="4" name="Slide Number Placeholder 3"/>
          <p:cNvSpPr>
            <a:spLocks noGrp="1"/>
          </p:cNvSpPr>
          <p:nvPr>
            <p:ph type="sldNum" sz="quarter" idx="10"/>
          </p:nvPr>
        </p:nvSpPr>
        <p:spPr/>
        <p:txBody>
          <a:bodyPr/>
          <a:lstStyle/>
          <a:p>
            <a:fld id="{0DC01F2F-5311-4A6B-A2CA-4A56CB9B08FF}" type="slidenum">
              <a:rPr lang="en-US" smtClean="0"/>
              <a:t>22</a:t>
            </a:fld>
            <a:endParaRPr lang="en-US"/>
          </a:p>
        </p:txBody>
      </p:sp>
      <p:sp>
        <p:nvSpPr>
          <p:cNvPr id="5" name="TextBox 4"/>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6088255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DC01F2F-5311-4A6B-A2CA-4A56CB9B08FF}" type="slidenum">
              <a:rPr lang="en-US" smtClean="0"/>
              <a:t>23</a:t>
            </a:fld>
            <a:endParaRPr lang="en-US"/>
          </a:p>
        </p:txBody>
      </p:sp>
    </p:spTree>
    <p:extLst>
      <p:ext uri="{BB962C8B-B14F-4D97-AF65-F5344CB8AC3E}">
        <p14:creationId xmlns:p14="http://schemas.microsoft.com/office/powerpoint/2010/main" val="30644995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DC01F2F-5311-4A6B-A2CA-4A56CB9B08FF}" type="slidenum">
              <a:rPr lang="en-US" smtClean="0"/>
              <a:t>24</a:t>
            </a:fld>
            <a:endParaRPr lang="en-US"/>
          </a:p>
        </p:txBody>
      </p:sp>
    </p:spTree>
    <p:extLst>
      <p:ext uri="{BB962C8B-B14F-4D97-AF65-F5344CB8AC3E}">
        <p14:creationId xmlns:p14="http://schemas.microsoft.com/office/powerpoint/2010/main" val="19451195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dirty="0">
                <a:solidFill>
                  <a:schemeClr val="tx1"/>
                </a:solidFill>
                <a:effectLst/>
                <a:highlight>
                  <a:srgbClr val="FFFFFF"/>
                </a:highlight>
                <a:latin typeface="+mn-lt"/>
              </a:rPr>
              <a:t>P</a:t>
            </a:r>
            <a:r>
              <a:rPr lang="en-US" b="0" i="0" dirty="0">
                <a:solidFill>
                  <a:srgbClr val="333333"/>
                </a:solidFill>
                <a:effectLst/>
                <a:highlight>
                  <a:srgbClr val="FFFFFF"/>
                </a:highlight>
                <a:latin typeface="Open Sans" panose="020B0606030504020204" pitchFamily="34" charset="0"/>
              </a:rPr>
              <a:t>rothrombin time (PT) actually measures how quickly your blood clots. The PT results can be expressed as an INR to standardize the results.</a:t>
            </a:r>
            <a:endParaRPr lang="en-US" sz="1200" dirty="0"/>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Measurement of the PT has been standardized worldwide and is expressed as the </a:t>
            </a:r>
            <a:r>
              <a:rPr lang="en-US" sz="1200" b="1" i="0" kern="1200" dirty="0">
                <a:solidFill>
                  <a:schemeClr val="tx1"/>
                </a:solidFill>
                <a:effectLst/>
                <a:latin typeface="+mn-lt"/>
                <a:ea typeface="+mn-ea"/>
                <a:cs typeface="+mn-cs"/>
              </a:rPr>
              <a:t>international normalized ratio (INR)</a:t>
            </a:r>
            <a:r>
              <a:rPr lang="en-US" sz="1200" b="0" i="0" kern="1200" dirty="0">
                <a:solidFill>
                  <a:schemeClr val="tx1"/>
                </a:solidFill>
                <a:effectLst/>
                <a:latin typeface="+mn-lt"/>
                <a:ea typeface="+mn-ea"/>
                <a:cs typeface="+mn-cs"/>
              </a:rPr>
              <a:t> of the prothrombin time in the patient sample to that in a control sample, normalized for the international sensitivity index (ISI) of the laboratory’s thromboplastin preparation compared to the World Health Organization’s reference thromboplastin preparation. </a:t>
            </a:r>
          </a:p>
          <a:p>
            <a:endParaRPr lang="en-US" sz="1200" b="0" i="0" kern="1200" dirty="0">
              <a:solidFill>
                <a:schemeClr val="tx1"/>
              </a:solidFill>
              <a:effectLst/>
              <a:latin typeface="+mn-lt"/>
              <a:ea typeface="+mn-ea"/>
              <a:cs typeface="+mn-cs"/>
            </a:endParaRPr>
          </a:p>
          <a:p>
            <a:r>
              <a:rPr lang="en-US" b="0" i="0" dirty="0">
                <a:solidFill>
                  <a:srgbClr val="333333"/>
                </a:solidFill>
                <a:effectLst/>
                <a:highlight>
                  <a:srgbClr val="FFFFFF"/>
                </a:highlight>
                <a:latin typeface="Montserrat" panose="00000500000000000000" pitchFamily="2" charset="0"/>
              </a:rPr>
              <a:t>INR tests are used instead of the PT because the INR is corrected for the strength of your blood clotting tissue. INR is also used to standardize the method used across all labs to lead to the most accurate results.</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formula used to calculate the INR is as follows: INR = [</a:t>
            </a:r>
            <a:r>
              <a:rPr lang="en-US" sz="1200" b="0" i="0" kern="1200" dirty="0" err="1">
                <a:solidFill>
                  <a:schemeClr val="tx1"/>
                </a:solidFill>
                <a:effectLst/>
                <a:latin typeface="+mn-lt"/>
                <a:ea typeface="+mn-ea"/>
                <a:cs typeface="+mn-cs"/>
              </a:rPr>
              <a:t>PT</a:t>
            </a:r>
            <a:r>
              <a:rPr lang="en-US" sz="1200" b="0" i="0" kern="1200" baseline="-25000" dirty="0" err="1">
                <a:solidFill>
                  <a:schemeClr val="tx1"/>
                </a:solidFill>
                <a:effectLst/>
                <a:latin typeface="+mn-lt"/>
                <a:ea typeface="+mn-ea"/>
                <a:cs typeface="+mn-cs"/>
              </a:rPr>
              <a:t>patient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PT</a:t>
            </a:r>
            <a:r>
              <a:rPr lang="en-US" sz="1200" b="0" i="0" kern="1200" baseline="-25000" dirty="0" err="1">
                <a:solidFill>
                  <a:schemeClr val="tx1"/>
                </a:solidFill>
                <a:effectLst/>
                <a:latin typeface="+mn-lt"/>
                <a:ea typeface="+mn-ea"/>
                <a:cs typeface="+mn-cs"/>
              </a:rPr>
              <a:t>control</a:t>
            </a:r>
            <a:r>
              <a:rPr lang="en-US" sz="1200" b="0" i="0" kern="1200" dirty="0">
                <a:solidFill>
                  <a:schemeClr val="tx1"/>
                </a:solidFill>
                <a:effectLst/>
                <a:latin typeface="+mn-lt"/>
                <a:ea typeface="+mn-ea"/>
                <a:cs typeface="+mn-cs"/>
              </a:rPr>
              <a:t>]</a:t>
            </a:r>
            <a:r>
              <a:rPr lang="en-US" sz="1200" b="0" i="0" kern="1200" baseline="30000" dirty="0">
                <a:solidFill>
                  <a:schemeClr val="tx1"/>
                </a:solidFill>
                <a:effectLst/>
                <a:latin typeface="+mn-lt"/>
                <a:ea typeface="+mn-ea"/>
                <a:cs typeface="+mn-cs"/>
              </a:rPr>
              <a:t>ISI</a:t>
            </a:r>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endParaRPr lang="en-US" sz="1200" dirty="0"/>
          </a:p>
          <a:p>
            <a:endParaRPr lang="en-US" sz="1200" dirty="0"/>
          </a:p>
          <a:p>
            <a:endParaRPr lang="en-US" sz="1200" dirty="0"/>
          </a:p>
          <a:p>
            <a:endParaRPr lang="en-US" sz="1200" dirty="0"/>
          </a:p>
          <a:p>
            <a:pPr marL="173079" indent="-173079">
              <a:buFont typeface="Arial" pitchFamily="34" charset="0"/>
              <a:buChar char="•"/>
            </a:pPr>
            <a:endParaRPr lang="en-US" dirty="0"/>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20821716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342900" marR="0" lvl="0" indent="-342900">
              <a:lnSpc>
                <a:spcPct val="107000"/>
              </a:lnSpc>
              <a:spcBef>
                <a:spcPts val="0"/>
              </a:spcBef>
              <a:spcAft>
                <a:spcPts val="750"/>
              </a:spcAft>
              <a:buSzPts val="1000"/>
              <a:buFont typeface="Symbol" panose="05050102010706020507" pitchFamily="18" charset="2"/>
              <a:buChar char=""/>
              <a:tabLst>
                <a:tab pos="457200" algn="l"/>
              </a:tabLst>
            </a:pP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22959251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i="0" kern="1200" dirty="0">
              <a:solidFill>
                <a:schemeClr val="tx1"/>
              </a:solidFill>
              <a:effectLst/>
              <a:latin typeface="+mn-lt"/>
              <a:ea typeface="+mn-ea"/>
              <a:cs typeface="+mn-cs"/>
            </a:endParaRPr>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38707091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DC01F2F-5311-4A6B-A2CA-4A56CB9B08FF}" type="slidenum">
              <a:rPr lang="en-US" smtClean="0"/>
              <a:t>28</a:t>
            </a:fld>
            <a:endParaRPr lang="en-US"/>
          </a:p>
        </p:txBody>
      </p:sp>
    </p:spTree>
    <p:extLst>
      <p:ext uri="{BB962C8B-B14F-4D97-AF65-F5344CB8AC3E}">
        <p14:creationId xmlns:p14="http://schemas.microsoft.com/office/powerpoint/2010/main" val="14407590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i="0" kern="1200" dirty="0">
              <a:solidFill>
                <a:schemeClr val="tx1"/>
              </a:solidFill>
              <a:effectLst/>
              <a:latin typeface="+mn-lt"/>
              <a:ea typeface="Calibri"/>
              <a:cs typeface="Calibri"/>
            </a:endParaRPr>
          </a:p>
          <a:p>
            <a:endParaRPr lang="en-US" sz="1200" b="0" i="0" kern="1200" dirty="0">
              <a:solidFill>
                <a:schemeClr val="tx1"/>
              </a:solidFill>
              <a:effectLst/>
              <a:latin typeface="+mn-lt"/>
              <a:ea typeface="+mn-ea"/>
              <a:cs typeface="+mn-cs"/>
            </a:endParaRPr>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29407958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01F2F-5311-4A6B-A2CA-4A56CB9B08FF}" type="slidenum">
              <a:rPr lang="en-US" smtClean="0"/>
              <a:t>30</a:t>
            </a:fld>
            <a:endParaRPr lang="en-US"/>
          </a:p>
        </p:txBody>
      </p:sp>
    </p:spTree>
    <p:extLst>
      <p:ext uri="{BB962C8B-B14F-4D97-AF65-F5344CB8AC3E}">
        <p14:creationId xmlns:p14="http://schemas.microsoft.com/office/powerpoint/2010/main" val="5107071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i="0" kern="1200" dirty="0">
              <a:solidFill>
                <a:schemeClr val="tx1"/>
              </a:solidFill>
              <a:effectLst/>
              <a:latin typeface="+mn-lt"/>
              <a:ea typeface="+mn-ea"/>
              <a:cs typeface="+mn-cs"/>
            </a:endParaRPr>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25127291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01F2F-5311-4A6B-A2CA-4A56CB9B08FF}" type="slidenum">
              <a:rPr lang="en-US" smtClean="0"/>
              <a:t>32</a:t>
            </a:fld>
            <a:endParaRPr lang="en-US"/>
          </a:p>
        </p:txBody>
      </p:sp>
    </p:spTree>
    <p:extLst>
      <p:ext uri="{BB962C8B-B14F-4D97-AF65-F5344CB8AC3E}">
        <p14:creationId xmlns:p14="http://schemas.microsoft.com/office/powerpoint/2010/main" val="12111778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i="0" kern="1200" dirty="0">
              <a:solidFill>
                <a:schemeClr val="tx1"/>
              </a:solidFill>
              <a:effectLst/>
              <a:latin typeface="+mn-lt"/>
              <a:ea typeface="+mn-ea"/>
              <a:cs typeface="+mn-cs"/>
            </a:endParaRPr>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29734278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sz="2000" dirty="0"/>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1132730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When thinking about different anticoagulant agents available, what patient factors will be important to assess before choosing a specific agent?
https://www.polleverywhere.com/free_text_polls/liuM0lzcIfPD78wUsi4vD</a:t>
            </a:r>
          </a:p>
        </p:txBody>
      </p:sp>
      <p:sp>
        <p:nvSpPr>
          <p:cNvPr id="4" name="Slide Number Placeholder 3"/>
          <p:cNvSpPr>
            <a:spLocks noGrp="1"/>
          </p:cNvSpPr>
          <p:nvPr>
            <p:ph type="sldNum" sz="quarter" idx="10"/>
          </p:nvPr>
        </p:nvSpPr>
        <p:spPr/>
        <p:txBody>
          <a:bodyPr/>
          <a:lstStyle/>
          <a:p>
            <a:fld id="{0DC01F2F-5311-4A6B-A2CA-4A56CB9B08FF}" type="slidenum">
              <a:rPr lang="en-US" smtClean="0"/>
              <a:t>35</a:t>
            </a:fld>
            <a:endParaRPr lang="en-US"/>
          </a:p>
        </p:txBody>
      </p:sp>
      <p:sp>
        <p:nvSpPr>
          <p:cNvPr id="5" name="TextBox 4"/>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7896464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0DC01F2F-5311-4A6B-A2CA-4A56CB9B08FF}" type="slidenum">
              <a:rPr lang="en-US" smtClean="0"/>
              <a:t>36</a:t>
            </a:fld>
            <a:endParaRPr lang="en-US"/>
          </a:p>
        </p:txBody>
      </p:sp>
    </p:spTree>
    <p:extLst>
      <p:ext uri="{BB962C8B-B14F-4D97-AF65-F5344CB8AC3E}">
        <p14:creationId xmlns:p14="http://schemas.microsoft.com/office/powerpoint/2010/main" val="41975124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Thinking about warfarin's mechanism of action, what would you consider administering to this patient to help his bleed and why?
https://www.polleverywhere.com/multiple_choice_polls/Vcs5Q5bG9ZHz3G433cwMq?display_state=instructions&amp;activity_state=opened&amp;state=opened&amp;flow=Instructor&amp;onscreen=persist</a:t>
            </a:r>
          </a:p>
        </p:txBody>
      </p:sp>
      <p:sp>
        <p:nvSpPr>
          <p:cNvPr id="4" name="Slide Number Placeholder 3"/>
          <p:cNvSpPr>
            <a:spLocks noGrp="1"/>
          </p:cNvSpPr>
          <p:nvPr>
            <p:ph type="sldNum" sz="quarter" idx="10"/>
          </p:nvPr>
        </p:nvSpPr>
        <p:spPr/>
        <p:txBody>
          <a:bodyPr/>
          <a:lstStyle/>
          <a:p>
            <a:fld id="{0DC01F2F-5311-4A6B-A2CA-4A56CB9B08FF}" type="slidenum">
              <a:rPr lang="en-US" smtClean="0"/>
              <a:t>37</a:t>
            </a:fld>
            <a:endParaRPr lang="en-US"/>
          </a:p>
        </p:txBody>
      </p:sp>
      <p:sp>
        <p:nvSpPr>
          <p:cNvPr id="5" name="TextBox 4"/>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5287388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Thinking about warfarin's mechanism of action, what would you consider administering to this patient to help his bleed and why?
https://www.polleverywhere.com/multiple_choice_polls/Vcs5Q5bG9ZHz3G433cwMq?display_state=chart&amp;activity_state=closed&amp;state=closed&amp;flow=Instructor&amp;onscreen=persist</a:t>
            </a:r>
          </a:p>
        </p:txBody>
      </p:sp>
      <p:sp>
        <p:nvSpPr>
          <p:cNvPr id="4" name="Slide Number Placeholder 3"/>
          <p:cNvSpPr>
            <a:spLocks noGrp="1"/>
          </p:cNvSpPr>
          <p:nvPr>
            <p:ph type="sldNum" sz="quarter" idx="10"/>
          </p:nvPr>
        </p:nvSpPr>
        <p:spPr/>
        <p:txBody>
          <a:bodyPr/>
          <a:lstStyle/>
          <a:p>
            <a:fld id="{0DC01F2F-5311-4A6B-A2CA-4A56CB9B08FF}" type="slidenum">
              <a:rPr lang="en-US" smtClean="0"/>
              <a:t>38</a:t>
            </a:fld>
            <a:endParaRPr lang="en-US"/>
          </a:p>
        </p:txBody>
      </p:sp>
      <p:sp>
        <p:nvSpPr>
          <p:cNvPr id="5" name="TextBox 4"/>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3167013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Poll Title: Do not modify the notes in this section to avoid tampering with the Poll Everywhere activity.
More info at polleverywhere.com/support
Thinking about warfarin's mechanism of action, what would you consider administering to this patient to help his bleed and why?
https://www.polleverywhere.com/multiple_choice_polls/Vcs5Q5bG9ZHz3G433cwMq?display_state=chart&amp;activity_state=closed&amp;display=correctness&amp;state=closed&amp;flow=Instructor&amp;onscreen=persist</a:t>
            </a:r>
          </a:p>
        </p:txBody>
      </p:sp>
      <p:sp>
        <p:nvSpPr>
          <p:cNvPr id="4" name="Slide Number Placeholder 3"/>
          <p:cNvSpPr>
            <a:spLocks noGrp="1"/>
          </p:cNvSpPr>
          <p:nvPr>
            <p:ph type="sldNum" sz="quarter" idx="10"/>
          </p:nvPr>
        </p:nvSpPr>
        <p:spPr/>
        <p:txBody>
          <a:bodyPr/>
          <a:lstStyle/>
          <a:p>
            <a:fld id="{0DC01F2F-5311-4A6B-A2CA-4A56CB9B08FF}" type="slidenum">
              <a:rPr lang="en-US" smtClean="0"/>
              <a:t>39</a:t>
            </a:fld>
            <a:endParaRPr lang="en-US"/>
          </a:p>
        </p:txBody>
      </p:sp>
      <p:sp>
        <p:nvSpPr>
          <p:cNvPr id="5" name="TextBox 4"/>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6813343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i="0" kern="1200" dirty="0">
              <a:solidFill>
                <a:schemeClr val="tx1"/>
              </a:solidFill>
              <a:effectLst/>
              <a:latin typeface="+mn-lt"/>
              <a:ea typeface="+mn-ea"/>
              <a:cs typeface="+mn-cs"/>
            </a:endParaRPr>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31815560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32240752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endParaRPr lang="en-US" sz="105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21177187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3200" b="0" i="0" dirty="0">
              <a:solidFill>
                <a:srgbClr val="000000"/>
              </a:solidFill>
              <a:effectLst/>
              <a:highlight>
                <a:srgbClr val="FFFFFF"/>
              </a:highlight>
              <a:latin typeface="Times New Roman" panose="02020603050405020304" pitchFamily="18" charset="0"/>
            </a:endParaRPr>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18886952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2774099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62842-7BBF-19CC-49BB-08FBE8A93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8BE19-59BF-D843-BDEF-9316FD9C8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36B4D4-57D9-166D-09EF-A8A22917C262}"/>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707174ED-1B73-734F-8405-5CD99236A874}"/>
              </a:ext>
            </a:extLst>
          </p:cNvPr>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33932861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DC01F2F-5311-4A6B-A2CA-4A56CB9B08FF}" type="slidenum">
              <a:rPr lang="en-US" smtClean="0"/>
              <a:t>46</a:t>
            </a:fld>
            <a:endParaRPr lang="en-US"/>
          </a:p>
        </p:txBody>
      </p:sp>
    </p:spTree>
    <p:extLst>
      <p:ext uri="{BB962C8B-B14F-4D97-AF65-F5344CB8AC3E}">
        <p14:creationId xmlns:p14="http://schemas.microsoft.com/office/powerpoint/2010/main" val="28741683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494949"/>
              </a:solidFill>
              <a:effectLst/>
              <a:highlight>
                <a:srgbClr val="FFFFFF"/>
              </a:highlight>
              <a:latin typeface="Open Sans" panose="020B0606030504020204" pitchFamily="34" charset="0"/>
            </a:endParaRPr>
          </a:p>
        </p:txBody>
      </p:sp>
      <p:sp>
        <p:nvSpPr>
          <p:cNvPr id="4" name="Slide Number Placeholder 3"/>
          <p:cNvSpPr>
            <a:spLocks noGrp="1"/>
          </p:cNvSpPr>
          <p:nvPr>
            <p:ph type="sldNum" sz="quarter" idx="5"/>
          </p:nvPr>
        </p:nvSpPr>
        <p:spPr/>
        <p:txBody>
          <a:bodyPr/>
          <a:lstStyle/>
          <a:p>
            <a:fld id="{0DC01F2F-5311-4A6B-A2CA-4A56CB9B08FF}" type="slidenum">
              <a:rPr lang="en-US" smtClean="0"/>
              <a:t>47</a:t>
            </a:fld>
            <a:endParaRPr lang="en-US"/>
          </a:p>
        </p:txBody>
      </p:sp>
    </p:spTree>
    <p:extLst>
      <p:ext uri="{BB962C8B-B14F-4D97-AF65-F5344CB8AC3E}">
        <p14:creationId xmlns:p14="http://schemas.microsoft.com/office/powerpoint/2010/main" val="14002405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2000" dirty="0"/>
          </a:p>
        </p:txBody>
      </p:sp>
      <p:sp>
        <p:nvSpPr>
          <p:cNvPr id="4" name="Slide Number Placeholder 3"/>
          <p:cNvSpPr>
            <a:spLocks noGrp="1"/>
          </p:cNvSpPr>
          <p:nvPr>
            <p:ph type="sldNum" sz="quarter" idx="10"/>
          </p:nvPr>
        </p:nvSpPr>
        <p:spPr/>
        <p:txBody>
          <a:bodyPr/>
          <a:lstStyle/>
          <a:p>
            <a:fld id="{1194F4A3-AE25-45DB-8AA7-62601A225797}" type="slidenum">
              <a:rPr lang="en-US" smtClean="0"/>
              <a:t>48</a:t>
            </a:fld>
            <a:endParaRPr lang="en-US"/>
          </a:p>
        </p:txBody>
      </p:sp>
    </p:spTree>
    <p:extLst>
      <p:ext uri="{BB962C8B-B14F-4D97-AF65-F5344CB8AC3E}">
        <p14:creationId xmlns:p14="http://schemas.microsoft.com/office/powerpoint/2010/main" val="22815669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Platelets are anucleate cells (they don’t have a nucleus), meaning they can't make new proteins, including surface receptors like P2Y₁₂</a:t>
            </a:r>
          </a:p>
          <a:p>
            <a:r>
              <a:rPr lang="en-US" b="0" dirty="0"/>
              <a:t>platelet can’t synthesize new receptors, that platelet is effectively non-functional in terms of ADP-mediated aggregation.</a:t>
            </a:r>
          </a:p>
          <a:p>
            <a:r>
              <a:rPr lang="en-US" b="0" dirty="0"/>
              <a:t>The body needs to generate new platelets (from megakaryocytes in the bone marrow) to replace the inactivated ones.</a:t>
            </a:r>
          </a:p>
          <a:p>
            <a:endParaRPr lang="en-US" dirty="0"/>
          </a:p>
        </p:txBody>
      </p:sp>
      <p:sp>
        <p:nvSpPr>
          <p:cNvPr id="4" name="Slide Number Placeholder 3"/>
          <p:cNvSpPr>
            <a:spLocks noGrp="1"/>
          </p:cNvSpPr>
          <p:nvPr>
            <p:ph type="sldNum" sz="quarter" idx="10"/>
          </p:nvPr>
        </p:nvSpPr>
        <p:spPr/>
        <p:txBody>
          <a:bodyPr/>
          <a:lstStyle/>
          <a:p>
            <a:fld id="{0DC01F2F-5311-4A6B-A2CA-4A56CB9B08FF}" type="slidenum">
              <a:rPr lang="en-US" smtClean="0"/>
              <a:t>49</a:t>
            </a:fld>
            <a:endParaRPr lang="en-US"/>
          </a:p>
        </p:txBody>
      </p:sp>
    </p:spTree>
    <p:extLst>
      <p:ext uri="{BB962C8B-B14F-4D97-AF65-F5344CB8AC3E}">
        <p14:creationId xmlns:p14="http://schemas.microsoft.com/office/powerpoint/2010/main" val="40837766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receptor is functional after dissociation of the ticagrelor molecule. </a:t>
            </a:r>
          </a:p>
          <a:p>
            <a:r>
              <a:rPr lang="en-US" sz="1200" b="0" i="0" kern="1200" dirty="0">
                <a:solidFill>
                  <a:schemeClr val="tx1"/>
                </a:solidFill>
                <a:effectLst/>
                <a:latin typeface="+mn-lt"/>
                <a:ea typeface="+mn-ea"/>
                <a:cs typeface="+mn-cs"/>
              </a:rPr>
              <a:t>ADP can still bind at its binding site, and the degree of receptor inhibition (and inhibition of ADP-induced signaling) is dependent on the concentration of ticagrelor. </a:t>
            </a:r>
            <a:endParaRPr lang="en-US" dirty="0"/>
          </a:p>
        </p:txBody>
      </p:sp>
      <p:sp>
        <p:nvSpPr>
          <p:cNvPr id="4" name="Slide Number Placeholder 3"/>
          <p:cNvSpPr>
            <a:spLocks noGrp="1"/>
          </p:cNvSpPr>
          <p:nvPr>
            <p:ph type="sldNum" sz="quarter" idx="10"/>
          </p:nvPr>
        </p:nvSpPr>
        <p:spPr/>
        <p:txBody>
          <a:bodyPr/>
          <a:lstStyle/>
          <a:p>
            <a:fld id="{0DC01F2F-5311-4A6B-A2CA-4A56CB9B08FF}" type="slidenum">
              <a:rPr lang="en-US" smtClean="0"/>
              <a:t>50</a:t>
            </a:fld>
            <a:endParaRPr lang="en-US"/>
          </a:p>
        </p:txBody>
      </p:sp>
    </p:spTree>
    <p:extLst>
      <p:ext uri="{BB962C8B-B14F-4D97-AF65-F5344CB8AC3E}">
        <p14:creationId xmlns:p14="http://schemas.microsoft.com/office/powerpoint/2010/main" val="33580520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aseline="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aseline="0" dirty="0"/>
          </a:p>
        </p:txBody>
      </p:sp>
      <p:sp>
        <p:nvSpPr>
          <p:cNvPr id="4" name="Slide Number Placeholder 3"/>
          <p:cNvSpPr>
            <a:spLocks noGrp="1"/>
          </p:cNvSpPr>
          <p:nvPr>
            <p:ph type="sldNum" sz="quarter" idx="10"/>
          </p:nvPr>
        </p:nvSpPr>
        <p:spPr/>
        <p:txBody>
          <a:bodyPr/>
          <a:lstStyle/>
          <a:p>
            <a:fld id="{0DC01F2F-5311-4A6B-A2CA-4A56CB9B08FF}" type="slidenum">
              <a:rPr lang="en-US" smtClean="0"/>
              <a:t>51</a:t>
            </a:fld>
            <a:endParaRPr lang="en-US"/>
          </a:p>
        </p:txBody>
      </p:sp>
    </p:spTree>
    <p:extLst>
      <p:ext uri="{BB962C8B-B14F-4D97-AF65-F5344CB8AC3E}">
        <p14:creationId xmlns:p14="http://schemas.microsoft.com/office/powerpoint/2010/main" val="2521096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Poll Title: Do not modify the notes in this section to avoid tampering with the Poll Everywhere activity.
More info at polleverywhere.com/support
Which of the following does NOT describe a mechanism of action of available antiplatelet agents?
https://www.polleverywhere.com/multiple_choice_polls/HGHTo4OcS1ZaRa2V7qCaN?display_state=instructions&amp;activity_state=opened&amp;state=opened&amp;flow=Instructor&amp;onscreen=persist</a:t>
            </a:r>
          </a:p>
        </p:txBody>
      </p:sp>
      <p:sp>
        <p:nvSpPr>
          <p:cNvPr id="4" name="Slide Number Placeholder 3"/>
          <p:cNvSpPr>
            <a:spLocks noGrp="1"/>
          </p:cNvSpPr>
          <p:nvPr>
            <p:ph type="sldNum" sz="quarter" idx="10"/>
          </p:nvPr>
        </p:nvSpPr>
        <p:spPr/>
        <p:txBody>
          <a:bodyPr/>
          <a:lstStyle/>
          <a:p>
            <a:fld id="{0DC01F2F-5311-4A6B-A2CA-4A56CB9B08FF}" type="slidenum">
              <a:rPr lang="en-US" smtClean="0"/>
              <a:t>52</a:t>
            </a:fld>
            <a:endParaRPr lang="en-US"/>
          </a:p>
        </p:txBody>
      </p:sp>
      <p:sp>
        <p:nvSpPr>
          <p:cNvPr id="5" name="TextBox 4"/>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9493563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Which of the following does NOT describe a mechanism of action of available antiplatelet agents?
https://www.polleverywhere.com/multiple_choice_polls/HGHTo4OcS1ZaRa2V7qCaN?display_state=chart&amp;activity_state=closed&amp;state=closed&amp;flow=Instructor&amp;onscreen=persist</a:t>
            </a:r>
          </a:p>
        </p:txBody>
      </p:sp>
      <p:sp>
        <p:nvSpPr>
          <p:cNvPr id="4" name="Slide Number Placeholder 3"/>
          <p:cNvSpPr>
            <a:spLocks noGrp="1"/>
          </p:cNvSpPr>
          <p:nvPr>
            <p:ph type="sldNum" sz="quarter" idx="10"/>
          </p:nvPr>
        </p:nvSpPr>
        <p:spPr/>
        <p:txBody>
          <a:bodyPr/>
          <a:lstStyle/>
          <a:p>
            <a:fld id="{0DC01F2F-5311-4A6B-A2CA-4A56CB9B08FF}" type="slidenum">
              <a:rPr lang="en-US" smtClean="0"/>
              <a:t>53</a:t>
            </a:fld>
            <a:endParaRPr lang="en-US"/>
          </a:p>
        </p:txBody>
      </p:sp>
      <p:sp>
        <p:nvSpPr>
          <p:cNvPr id="5" name="TextBox 4"/>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5197567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Poll Title: Do not modify the notes in this section to avoid tampering with the Poll Everywhere activity.
More info at polleverywhere.com/support
Which of the following does NOT describe a mechanism of action of available antiplatelet agents?
https://www.polleverywhere.com/multiple_choice_polls/HGHTo4OcS1ZaRa2V7qCaN?display_state=chart&amp;activity_state=closed&amp;display=correctness&amp;state=closed&amp;flow=Instructor&amp;onscreen=persist</a:t>
            </a:r>
          </a:p>
        </p:txBody>
      </p:sp>
      <p:sp>
        <p:nvSpPr>
          <p:cNvPr id="4" name="Slide Number Placeholder 3"/>
          <p:cNvSpPr>
            <a:spLocks noGrp="1"/>
          </p:cNvSpPr>
          <p:nvPr>
            <p:ph type="sldNum" sz="quarter" idx="10"/>
          </p:nvPr>
        </p:nvSpPr>
        <p:spPr/>
        <p:txBody>
          <a:bodyPr/>
          <a:lstStyle/>
          <a:p>
            <a:fld id="{0DC01F2F-5311-4A6B-A2CA-4A56CB9B08FF}" type="slidenum">
              <a:rPr lang="en-US" smtClean="0"/>
              <a:t>54</a:t>
            </a:fld>
            <a:endParaRPr lang="en-US"/>
          </a:p>
        </p:txBody>
      </p:sp>
      <p:sp>
        <p:nvSpPr>
          <p:cNvPr id="5" name="TextBox 4"/>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6894195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DC01F2F-5311-4A6B-A2CA-4A56CB9B08FF}" type="slidenum">
              <a:rPr lang="en-US" smtClean="0"/>
              <a:t>55</a:t>
            </a:fld>
            <a:endParaRPr lang="en-US"/>
          </a:p>
        </p:txBody>
      </p:sp>
    </p:spTree>
    <p:extLst>
      <p:ext uri="{BB962C8B-B14F-4D97-AF65-F5344CB8AC3E}">
        <p14:creationId xmlns:p14="http://schemas.microsoft.com/office/powerpoint/2010/main" val="39498769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191E7-7B8B-E999-585D-F9EF83459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380F8-350B-8735-9534-B611B4B8D1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155FFF-0036-898E-1830-828DA4D18A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B7CD9C-3A23-D5A9-8E83-DEF211FBE8FA}"/>
              </a:ext>
            </a:extLst>
          </p:cNvPr>
          <p:cNvSpPr>
            <a:spLocks noGrp="1"/>
          </p:cNvSpPr>
          <p:nvPr>
            <p:ph type="sldNum" sz="quarter" idx="5"/>
          </p:nvPr>
        </p:nvSpPr>
        <p:spPr/>
        <p:txBody>
          <a:bodyPr/>
          <a:lstStyle/>
          <a:p>
            <a:fld id="{0DC01F2F-5311-4A6B-A2CA-4A56CB9B08FF}" type="slidenum">
              <a:rPr lang="en-US" smtClean="0"/>
              <a:t>56</a:t>
            </a:fld>
            <a:endParaRPr lang="en-US"/>
          </a:p>
        </p:txBody>
      </p:sp>
    </p:spTree>
    <p:extLst>
      <p:ext uri="{BB962C8B-B14F-4D97-AF65-F5344CB8AC3E}">
        <p14:creationId xmlns:p14="http://schemas.microsoft.com/office/powerpoint/2010/main" val="28245695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Heading + Logo">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734311" y="2253752"/>
            <a:ext cx="6650503" cy="1217083"/>
          </a:xfrm>
        </p:spPr>
        <p:txBody>
          <a:bodyPr lIns="0" tIns="0" rIns="0" bIns="0"/>
          <a:lstStyle>
            <a:lvl1pPr algn="l">
              <a:defRPr sz="38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734311" y="3831238"/>
            <a:ext cx="6650503" cy="480836"/>
          </a:xfrm>
        </p:spPr>
        <p:txBody>
          <a:bodyPr lIns="0" tIns="0" rIns="0" bIns="0"/>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6" name="Picture 5" descr="A white letter on a black background&#10;&#10;Description automatically generated">
            <a:extLst>
              <a:ext uri="{FF2B5EF4-FFF2-40B4-BE49-F238E27FC236}">
                <a16:creationId xmlns:a16="http://schemas.microsoft.com/office/drawing/2014/main" id="{CFAEF535-4812-6A5A-2E6A-6BAA02077A9C}"/>
              </a:ext>
            </a:extLst>
          </p:cNvPr>
          <p:cNvPicPr>
            <a:picLocks noChangeAspect="1"/>
          </p:cNvPicPr>
          <p:nvPr/>
        </p:nvPicPr>
        <p:blipFill>
          <a:blip r:embed="rId2"/>
          <a:stretch>
            <a:fillRect/>
          </a:stretch>
        </p:blipFill>
        <p:spPr>
          <a:xfrm>
            <a:off x="738068" y="5438509"/>
            <a:ext cx="4232517" cy="577572"/>
          </a:xfrm>
          <a:prstGeom prst="rect">
            <a:avLst/>
          </a:prstGeom>
        </p:spPr>
      </p:pic>
      <p:pic>
        <p:nvPicPr>
          <p:cNvPr id="7" name="Picture 6" descr="A black and white logo&#10;&#10;Description automatically generated">
            <a:extLst>
              <a:ext uri="{FF2B5EF4-FFF2-40B4-BE49-F238E27FC236}">
                <a16:creationId xmlns:a16="http://schemas.microsoft.com/office/drawing/2014/main" id="{1A646D98-C74B-21CE-81BD-500A1D4FEFF6}"/>
              </a:ext>
            </a:extLst>
          </p:cNvPr>
          <p:cNvPicPr>
            <a:picLocks noChangeAspect="1"/>
          </p:cNvPicPr>
          <p:nvPr/>
        </p:nvPicPr>
        <p:blipFill rotWithShape="1">
          <a:blip r:embed="rId3"/>
          <a:srcRect r="28967"/>
          <a:stretch/>
        </p:blipFill>
        <p:spPr>
          <a:xfrm>
            <a:off x="8428891" y="413673"/>
            <a:ext cx="3763109" cy="6050852"/>
          </a:xfrm>
          <a:prstGeom prst="rect">
            <a:avLst/>
          </a:prstGeom>
        </p:spPr>
      </p:pic>
      <p:sp>
        <p:nvSpPr>
          <p:cNvPr id="4" name="Rectangle 3">
            <a:extLst>
              <a:ext uri="{FF2B5EF4-FFF2-40B4-BE49-F238E27FC236}">
                <a16:creationId xmlns:a16="http://schemas.microsoft.com/office/drawing/2014/main" id="{F33DEEC0-90D1-6FB0-A053-E90AAE356B34}"/>
              </a:ext>
            </a:extLst>
          </p:cNvPr>
          <p:cNvSpPr/>
          <p:nvPr userDrawn="1"/>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5" name="Picture 4" descr="A white letter on a black background&#10;&#10;Description automatically generated">
            <a:extLst>
              <a:ext uri="{FF2B5EF4-FFF2-40B4-BE49-F238E27FC236}">
                <a16:creationId xmlns:a16="http://schemas.microsoft.com/office/drawing/2014/main" id="{78F6CD25-9972-BE00-3358-3CF64BEEAB32}"/>
              </a:ext>
            </a:extLst>
          </p:cNvPr>
          <p:cNvPicPr>
            <a:picLocks noChangeAspect="1"/>
          </p:cNvPicPr>
          <p:nvPr userDrawn="1"/>
        </p:nvPicPr>
        <p:blipFill>
          <a:blip r:embed="rId2"/>
          <a:stretch>
            <a:fillRect/>
          </a:stretch>
        </p:blipFill>
        <p:spPr>
          <a:xfrm>
            <a:off x="738068" y="5438509"/>
            <a:ext cx="4232517" cy="577572"/>
          </a:xfrm>
          <a:prstGeom prst="rect">
            <a:avLst/>
          </a:prstGeom>
        </p:spPr>
      </p:pic>
      <p:pic>
        <p:nvPicPr>
          <p:cNvPr id="8" name="Picture 7" descr="A black and white logo&#10;&#10;Description automatically generated">
            <a:extLst>
              <a:ext uri="{FF2B5EF4-FFF2-40B4-BE49-F238E27FC236}">
                <a16:creationId xmlns:a16="http://schemas.microsoft.com/office/drawing/2014/main" id="{099643AF-4FF5-DB4B-F196-99377B3167A1}"/>
              </a:ext>
            </a:extLst>
          </p:cNvPr>
          <p:cNvPicPr>
            <a:picLocks noChangeAspect="1"/>
          </p:cNvPicPr>
          <p:nvPr userDrawn="1"/>
        </p:nvPicPr>
        <p:blipFill rotWithShape="1">
          <a:blip r:embed="rId3"/>
          <a:srcRect r="28967"/>
          <a:stretch/>
        </p:blipFill>
        <p:spPr>
          <a:xfrm>
            <a:off x="8428891" y="413673"/>
            <a:ext cx="3763109" cy="6050852"/>
          </a:xfrm>
          <a:prstGeom prst="rect">
            <a:avLst/>
          </a:prstGeom>
        </p:spPr>
      </p:pic>
    </p:spTree>
    <p:extLst>
      <p:ext uri="{BB962C8B-B14F-4D97-AF65-F5344CB8AC3E}">
        <p14:creationId xmlns:p14="http://schemas.microsoft.com/office/powerpoint/2010/main" val="33209320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hoto + Large Shield">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7" name="Picture Placeholder 6">
            <a:extLst>
              <a:ext uri="{FF2B5EF4-FFF2-40B4-BE49-F238E27FC236}">
                <a16:creationId xmlns:a16="http://schemas.microsoft.com/office/drawing/2014/main" id="{0F679569-16F9-75AB-84F5-49646B6F0772}"/>
              </a:ext>
            </a:extLst>
          </p:cNvPr>
          <p:cNvSpPr>
            <a:spLocks noGrp="1"/>
          </p:cNvSpPr>
          <p:nvPr>
            <p:ph type="pic" sz="quarter" idx="10" hasCustomPrompt="1"/>
          </p:nvPr>
        </p:nvSpPr>
        <p:spPr>
          <a:xfrm>
            <a:off x="1" y="608867"/>
            <a:ext cx="7291754" cy="4455502"/>
          </a:xfrm>
          <a:solidFill>
            <a:schemeClr val="bg1"/>
          </a:solidFill>
        </p:spPr>
        <p:txBody>
          <a:bodyPr tIns="914400"/>
          <a:lstStyle>
            <a:lvl1pPr marL="0" indent="0" algn="ctr">
              <a:buNone/>
              <a:defRPr>
                <a:solidFill>
                  <a:schemeClr val="tx1"/>
                </a:solidFill>
              </a:defRPr>
            </a:lvl1pPr>
          </a:lstStyle>
          <a:p>
            <a:r>
              <a:rPr lang="en-US" dirty="0"/>
              <a:t>Click the icon </a:t>
            </a:r>
            <a:br>
              <a:rPr lang="en-US" dirty="0"/>
            </a:br>
            <a:r>
              <a:rPr lang="en-US" dirty="0"/>
              <a:t>to insert a photo</a:t>
            </a:r>
          </a:p>
        </p:txBody>
      </p:sp>
      <p:pic>
        <p:nvPicPr>
          <p:cNvPr id="3" name="Picture 2" descr="A black and white logo&#10;&#10;Description automatically generated">
            <a:extLst>
              <a:ext uri="{FF2B5EF4-FFF2-40B4-BE49-F238E27FC236}">
                <a16:creationId xmlns:a16="http://schemas.microsoft.com/office/drawing/2014/main" id="{D8C2AE61-3861-E970-4CC6-B7B1F2BFB133}"/>
              </a:ext>
            </a:extLst>
          </p:cNvPr>
          <p:cNvPicPr>
            <a:picLocks noChangeAspect="1"/>
          </p:cNvPicPr>
          <p:nvPr/>
        </p:nvPicPr>
        <p:blipFill rotWithShape="1">
          <a:blip r:embed="rId2"/>
          <a:srcRect r="28967"/>
          <a:stretch/>
        </p:blipFill>
        <p:spPr>
          <a:xfrm>
            <a:off x="8428891" y="413673"/>
            <a:ext cx="3763109" cy="6050852"/>
          </a:xfrm>
          <a:prstGeom prst="rect">
            <a:avLst/>
          </a:prstGeom>
        </p:spPr>
      </p:pic>
      <p:sp>
        <p:nvSpPr>
          <p:cNvPr id="2" name="Title 1">
            <a:extLst>
              <a:ext uri="{FF2B5EF4-FFF2-40B4-BE49-F238E27FC236}">
                <a16:creationId xmlns:a16="http://schemas.microsoft.com/office/drawing/2014/main" id="{D7224258-A6EE-0DE7-BFFF-04F6FEEA47AB}"/>
              </a:ext>
            </a:extLst>
          </p:cNvPr>
          <p:cNvSpPr>
            <a:spLocks noGrp="1"/>
          </p:cNvSpPr>
          <p:nvPr>
            <p:ph type="ctrTitle"/>
          </p:nvPr>
        </p:nvSpPr>
        <p:spPr>
          <a:xfrm>
            <a:off x="889194" y="5247442"/>
            <a:ext cx="6650503" cy="1217083"/>
          </a:xfrm>
        </p:spPr>
        <p:txBody>
          <a:bodyPr lIns="0" tIns="0" rIns="0" bIns="0"/>
          <a:lstStyle>
            <a:lvl1pPr algn="l">
              <a:defRPr sz="3800">
                <a:solidFill>
                  <a:schemeClr val="bg1"/>
                </a:solidFill>
              </a:defRPr>
            </a:lvl1pPr>
          </a:lstStyle>
          <a:p>
            <a:r>
              <a:rPr lang="en-US"/>
              <a:t>Click to edit Master title style</a:t>
            </a:r>
            <a:endParaRPr lang="en-US" dirty="0"/>
          </a:p>
        </p:txBody>
      </p:sp>
      <p:sp>
        <p:nvSpPr>
          <p:cNvPr id="4" name="Rectangle 3">
            <a:extLst>
              <a:ext uri="{FF2B5EF4-FFF2-40B4-BE49-F238E27FC236}">
                <a16:creationId xmlns:a16="http://schemas.microsoft.com/office/drawing/2014/main" id="{C49FBB3A-F664-E2D2-E01D-A8165BC8A16E}"/>
              </a:ext>
            </a:extLst>
          </p:cNvPr>
          <p:cNvSpPr/>
          <p:nvPr userDrawn="1"/>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5" name="Picture 4" descr="A black and white logo&#10;&#10;Description automatically generated">
            <a:extLst>
              <a:ext uri="{FF2B5EF4-FFF2-40B4-BE49-F238E27FC236}">
                <a16:creationId xmlns:a16="http://schemas.microsoft.com/office/drawing/2014/main" id="{AE49600A-BF71-5AB2-04EB-849476C138EE}"/>
              </a:ext>
            </a:extLst>
          </p:cNvPr>
          <p:cNvPicPr>
            <a:picLocks noChangeAspect="1"/>
          </p:cNvPicPr>
          <p:nvPr userDrawn="1"/>
        </p:nvPicPr>
        <p:blipFill rotWithShape="1">
          <a:blip r:embed="rId2"/>
          <a:srcRect r="28967"/>
          <a:stretch/>
        </p:blipFill>
        <p:spPr>
          <a:xfrm>
            <a:off x="8428891" y="413673"/>
            <a:ext cx="3763109" cy="6050852"/>
          </a:xfrm>
          <a:prstGeom prst="rect">
            <a:avLst/>
          </a:prstGeom>
        </p:spPr>
      </p:pic>
    </p:spTree>
    <p:extLst>
      <p:ext uri="{BB962C8B-B14F-4D97-AF65-F5344CB8AC3E}">
        <p14:creationId xmlns:p14="http://schemas.microsoft.com/office/powerpoint/2010/main" val="33527337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White + Red">
    <p:spTree>
      <p:nvGrpSpPr>
        <p:cNvPr id="1" name=""/>
        <p:cNvGrpSpPr/>
        <p:nvPr/>
      </p:nvGrpSpPr>
      <p:grpSpPr>
        <a:xfrm>
          <a:off x="0" y="0"/>
          <a:ext cx="0" cy="0"/>
          <a:chOff x="0" y="0"/>
          <a:chExt cx="0" cy="0"/>
        </a:xfrm>
      </p:grpSpPr>
      <p:sp>
        <p:nvSpPr>
          <p:cNvPr id="2" name="Title 1"/>
          <p:cNvSpPr>
            <a:spLocks noGrp="1"/>
          </p:cNvSpPr>
          <p:nvPr>
            <p:ph type="ctrTitle"/>
          </p:nvPr>
        </p:nvSpPr>
        <p:spPr>
          <a:xfrm>
            <a:off x="734312" y="2778686"/>
            <a:ext cx="6482566" cy="1217083"/>
          </a:xfrm>
        </p:spPr>
        <p:txBody>
          <a:bodyPr lIns="0" tIns="0" rIns="0" bIns="0"/>
          <a:lstStyle>
            <a:lvl1pPr algn="l">
              <a:defRPr sz="38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734312" y="4356172"/>
            <a:ext cx="6482566" cy="480836"/>
          </a:xfrm>
        </p:spPr>
        <p:txBody>
          <a:bodyPr lIns="0" tIns="0" rIns="0" bIns="0"/>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6" name="Picture 5" descr="A white letter on a black background&#10;&#10;Description automatically generated">
            <a:extLst>
              <a:ext uri="{FF2B5EF4-FFF2-40B4-BE49-F238E27FC236}">
                <a16:creationId xmlns:a16="http://schemas.microsoft.com/office/drawing/2014/main" id="{CFAEF535-4812-6A5A-2E6A-6BAA02077A9C}"/>
              </a:ext>
            </a:extLst>
          </p:cNvPr>
          <p:cNvPicPr>
            <a:picLocks noChangeAspect="1"/>
          </p:cNvPicPr>
          <p:nvPr/>
        </p:nvPicPr>
        <p:blipFill>
          <a:blip r:embed="rId2"/>
          <a:stretch>
            <a:fillRect/>
          </a:stretch>
        </p:blipFill>
        <p:spPr>
          <a:xfrm>
            <a:off x="738068" y="5438509"/>
            <a:ext cx="4232517" cy="577572"/>
          </a:xfrm>
          <a:prstGeom prst="rect">
            <a:avLst/>
          </a:prstGeom>
        </p:spPr>
      </p:pic>
      <p:sp>
        <p:nvSpPr>
          <p:cNvPr id="5" name="Rectangle 4">
            <a:extLst>
              <a:ext uri="{FF2B5EF4-FFF2-40B4-BE49-F238E27FC236}">
                <a16:creationId xmlns:a16="http://schemas.microsoft.com/office/drawing/2014/main" id="{35B05182-8801-AB39-05BA-A9570CA431A0}"/>
              </a:ext>
            </a:extLst>
          </p:cNvPr>
          <p:cNvSpPr/>
          <p:nvPr/>
        </p:nvSpPr>
        <p:spPr>
          <a:xfrm>
            <a:off x="7315200" y="0"/>
            <a:ext cx="4876800" cy="6858000"/>
          </a:xfrm>
          <a:custGeom>
            <a:avLst/>
            <a:gdLst>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6800" h="6858000">
                <a:moveTo>
                  <a:pt x="0" y="0"/>
                </a:moveTo>
                <a:lnTo>
                  <a:pt x="4876800" y="0"/>
                </a:lnTo>
                <a:lnTo>
                  <a:pt x="4876800" y="6858000"/>
                </a:lnTo>
                <a:lnTo>
                  <a:pt x="0" y="6858000"/>
                </a:lnTo>
                <a:cubicBezTo>
                  <a:pt x="246543" y="4869293"/>
                  <a:pt x="243164" y="2107550"/>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ack and white logo&#10;&#10;Description automatically generated">
            <a:extLst>
              <a:ext uri="{FF2B5EF4-FFF2-40B4-BE49-F238E27FC236}">
                <a16:creationId xmlns:a16="http://schemas.microsoft.com/office/drawing/2014/main" id="{EDA35DE8-69A7-6312-D5E8-614298BEB92E}"/>
              </a:ext>
            </a:extLst>
          </p:cNvPr>
          <p:cNvPicPr>
            <a:picLocks noChangeAspect="1"/>
          </p:cNvPicPr>
          <p:nvPr/>
        </p:nvPicPr>
        <p:blipFill>
          <a:blip r:embed="rId3"/>
          <a:stretch>
            <a:fillRect/>
          </a:stretch>
        </p:blipFill>
        <p:spPr>
          <a:xfrm>
            <a:off x="9939528" y="709934"/>
            <a:ext cx="1473736" cy="1677649"/>
          </a:xfrm>
          <a:prstGeom prst="rect">
            <a:avLst/>
          </a:prstGeom>
          <a:noFill/>
        </p:spPr>
      </p:pic>
      <p:sp>
        <p:nvSpPr>
          <p:cNvPr id="7" name="TextBox 6">
            <a:extLst>
              <a:ext uri="{FF2B5EF4-FFF2-40B4-BE49-F238E27FC236}">
                <a16:creationId xmlns:a16="http://schemas.microsoft.com/office/drawing/2014/main" id="{03F42646-344E-AE1B-6B83-A6D57ED16837}"/>
              </a:ext>
            </a:extLst>
          </p:cNvPr>
          <p:cNvSpPr txBox="1"/>
          <p:nvPr/>
        </p:nvSpPr>
        <p:spPr>
          <a:xfrm>
            <a:off x="11620175" y="6508750"/>
            <a:ext cx="571826" cy="276999"/>
          </a:xfrm>
          <a:prstGeom prst="rect">
            <a:avLst/>
          </a:prstGeom>
          <a:noFill/>
        </p:spPr>
        <p:txBody>
          <a:bodyPr wrap="square" rtlCol="0">
            <a:spAutoFit/>
          </a:bodyPr>
          <a:lstStyle/>
          <a:p>
            <a:pPr algn="ctr"/>
            <a:fld id="{10F103F9-FBFB-4741-B3A3-3F2FAF542BF5}" type="slidenum">
              <a:rPr lang="en-US" sz="1200" smtClean="0">
                <a:solidFill>
                  <a:schemeClr val="bg1"/>
                </a:solidFill>
              </a:rPr>
              <a:pPr algn="ctr"/>
              <a:t>‹#›</a:t>
            </a:fld>
            <a:endParaRPr lang="en-US" sz="1200" dirty="0">
              <a:solidFill>
                <a:schemeClr val="bg1"/>
              </a:solidFill>
            </a:endParaRPr>
          </a:p>
        </p:txBody>
      </p:sp>
      <p:pic>
        <p:nvPicPr>
          <p:cNvPr id="8" name="Picture 7" descr="A white letter on a black background&#10;&#10;Description automatically generated">
            <a:extLst>
              <a:ext uri="{FF2B5EF4-FFF2-40B4-BE49-F238E27FC236}">
                <a16:creationId xmlns:a16="http://schemas.microsoft.com/office/drawing/2014/main" id="{768CB08B-085F-0C52-8E54-694A7A31FED9}"/>
              </a:ext>
            </a:extLst>
          </p:cNvPr>
          <p:cNvPicPr>
            <a:picLocks noChangeAspect="1"/>
          </p:cNvPicPr>
          <p:nvPr userDrawn="1"/>
        </p:nvPicPr>
        <p:blipFill>
          <a:blip r:embed="rId2"/>
          <a:stretch>
            <a:fillRect/>
          </a:stretch>
        </p:blipFill>
        <p:spPr>
          <a:xfrm>
            <a:off x="738068" y="5438509"/>
            <a:ext cx="4232517" cy="577572"/>
          </a:xfrm>
          <a:prstGeom prst="rect">
            <a:avLst/>
          </a:prstGeom>
        </p:spPr>
      </p:pic>
      <p:sp>
        <p:nvSpPr>
          <p:cNvPr id="9" name="Rectangle 4">
            <a:extLst>
              <a:ext uri="{FF2B5EF4-FFF2-40B4-BE49-F238E27FC236}">
                <a16:creationId xmlns:a16="http://schemas.microsoft.com/office/drawing/2014/main" id="{02377127-278F-D5B0-87FB-95DDE7FE41C9}"/>
              </a:ext>
            </a:extLst>
          </p:cNvPr>
          <p:cNvSpPr/>
          <p:nvPr userDrawn="1"/>
        </p:nvSpPr>
        <p:spPr>
          <a:xfrm>
            <a:off x="7315200" y="0"/>
            <a:ext cx="4876800" cy="6858000"/>
          </a:xfrm>
          <a:custGeom>
            <a:avLst/>
            <a:gdLst>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6800" h="6858000">
                <a:moveTo>
                  <a:pt x="0" y="0"/>
                </a:moveTo>
                <a:lnTo>
                  <a:pt x="4876800" y="0"/>
                </a:lnTo>
                <a:lnTo>
                  <a:pt x="4876800" y="6858000"/>
                </a:lnTo>
                <a:lnTo>
                  <a:pt x="0" y="6858000"/>
                </a:lnTo>
                <a:cubicBezTo>
                  <a:pt x="246543" y="4869293"/>
                  <a:pt x="243164" y="2107550"/>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ack and white logo&#10;&#10;Description automatically generated">
            <a:extLst>
              <a:ext uri="{FF2B5EF4-FFF2-40B4-BE49-F238E27FC236}">
                <a16:creationId xmlns:a16="http://schemas.microsoft.com/office/drawing/2014/main" id="{621B42AA-8B25-23AC-256F-0790E110E4EB}"/>
              </a:ext>
            </a:extLst>
          </p:cNvPr>
          <p:cNvPicPr>
            <a:picLocks noChangeAspect="1"/>
          </p:cNvPicPr>
          <p:nvPr userDrawn="1"/>
        </p:nvPicPr>
        <p:blipFill>
          <a:blip r:embed="rId3"/>
          <a:stretch>
            <a:fillRect/>
          </a:stretch>
        </p:blipFill>
        <p:spPr>
          <a:xfrm>
            <a:off x="9939528" y="709934"/>
            <a:ext cx="1473736" cy="1677649"/>
          </a:xfrm>
          <a:prstGeom prst="rect">
            <a:avLst/>
          </a:prstGeom>
          <a:noFill/>
        </p:spPr>
      </p:pic>
    </p:spTree>
    <p:extLst>
      <p:ext uri="{BB962C8B-B14F-4D97-AF65-F5344CB8AC3E}">
        <p14:creationId xmlns:p14="http://schemas.microsoft.com/office/powerpoint/2010/main" val="2385985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Photo + Re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9823857-01C7-227F-5812-EFC41541971E}"/>
              </a:ext>
            </a:extLst>
          </p:cNvPr>
          <p:cNvSpPr>
            <a:spLocks noGrp="1"/>
          </p:cNvSpPr>
          <p:nvPr>
            <p:ph type="pic" sz="quarter" idx="10" hasCustomPrompt="1"/>
          </p:nvPr>
        </p:nvSpPr>
        <p:spPr>
          <a:xfrm>
            <a:off x="0" y="0"/>
            <a:ext cx="7498842" cy="6858000"/>
          </a:xfrm>
          <a:custGeom>
            <a:avLst/>
            <a:gdLst>
              <a:gd name="connsiteX0" fmla="*/ 0 w 7498842"/>
              <a:gd name="connsiteY0" fmla="*/ 0 h 6858000"/>
              <a:gd name="connsiteX1" fmla="*/ 7315200 w 7498842"/>
              <a:gd name="connsiteY1" fmla="*/ 0 h 6858000"/>
              <a:gd name="connsiteX2" fmla="*/ 7315200 w 7498842"/>
              <a:gd name="connsiteY2" fmla="*/ 6858000 h 6858000"/>
              <a:gd name="connsiteX3" fmla="*/ 0 w 74988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98842" h="6858000">
                <a:moveTo>
                  <a:pt x="0" y="0"/>
                </a:moveTo>
                <a:lnTo>
                  <a:pt x="7315200" y="0"/>
                </a:lnTo>
                <a:cubicBezTo>
                  <a:pt x="7558364" y="2107550"/>
                  <a:pt x="7561743" y="4869293"/>
                  <a:pt x="7315200" y="6858000"/>
                </a:cubicBezTo>
                <a:lnTo>
                  <a:pt x="0" y="6858000"/>
                </a:lnTo>
                <a:close/>
              </a:path>
            </a:pathLst>
          </a:custGeom>
        </p:spPr>
        <p:txBody>
          <a:bodyPr wrap="square" tIns="2011680">
            <a:noAutofit/>
          </a:bodyPr>
          <a:lstStyle>
            <a:lvl1pPr marL="0" indent="0" algn="ctr">
              <a:buNone/>
              <a:defRPr/>
            </a:lvl1pPr>
          </a:lstStyle>
          <a:p>
            <a:r>
              <a:rPr lang="en-US" dirty="0"/>
              <a:t>Click the icon</a:t>
            </a:r>
            <a:br>
              <a:rPr lang="en-US" dirty="0"/>
            </a:br>
            <a:r>
              <a:rPr lang="en-US" dirty="0"/>
              <a:t>to insert a photo</a:t>
            </a:r>
          </a:p>
        </p:txBody>
      </p:sp>
      <p:sp>
        <p:nvSpPr>
          <p:cNvPr id="10" name="Rectangle 4">
            <a:extLst>
              <a:ext uri="{FF2B5EF4-FFF2-40B4-BE49-F238E27FC236}">
                <a16:creationId xmlns:a16="http://schemas.microsoft.com/office/drawing/2014/main" id="{6DBFCBC7-E6CC-1BE8-34CF-BC704D60514A}"/>
              </a:ext>
            </a:extLst>
          </p:cNvPr>
          <p:cNvSpPr/>
          <p:nvPr/>
        </p:nvSpPr>
        <p:spPr>
          <a:xfrm>
            <a:off x="7315200" y="0"/>
            <a:ext cx="4876800" cy="6858000"/>
          </a:xfrm>
          <a:custGeom>
            <a:avLst/>
            <a:gdLst>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6800" h="6858000">
                <a:moveTo>
                  <a:pt x="0" y="0"/>
                </a:moveTo>
                <a:lnTo>
                  <a:pt x="4876800" y="0"/>
                </a:lnTo>
                <a:lnTo>
                  <a:pt x="4876800" y="6858000"/>
                </a:lnTo>
                <a:lnTo>
                  <a:pt x="0" y="6858000"/>
                </a:lnTo>
                <a:cubicBezTo>
                  <a:pt x="246543" y="4869293"/>
                  <a:pt x="243164" y="2107550"/>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271545" y="2792770"/>
            <a:ext cx="3338818" cy="1760941"/>
          </a:xfrm>
        </p:spPr>
        <p:txBody>
          <a:bodyPr lIns="0" tIns="0" rIns="0" bIns="0"/>
          <a:lstStyle>
            <a:lvl1pPr algn="l">
              <a:defRPr sz="38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8271543" y="4854870"/>
            <a:ext cx="3338819" cy="1465788"/>
          </a:xfrm>
        </p:spPr>
        <p:txBody>
          <a:bodyPr lIns="0" tIns="0" rIns="0" bIns="0"/>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6" name="Picture 5" descr="A white letter on a black background&#10;&#10;Description automatically generated">
            <a:extLst>
              <a:ext uri="{FF2B5EF4-FFF2-40B4-BE49-F238E27FC236}">
                <a16:creationId xmlns:a16="http://schemas.microsoft.com/office/drawing/2014/main" id="{CFAEF535-4812-6A5A-2E6A-6BAA02077A9C}"/>
              </a:ext>
            </a:extLst>
          </p:cNvPr>
          <p:cNvPicPr>
            <a:picLocks noChangeAspect="1"/>
          </p:cNvPicPr>
          <p:nvPr/>
        </p:nvPicPr>
        <p:blipFill>
          <a:blip r:embed="rId2"/>
          <a:stretch>
            <a:fillRect/>
          </a:stretch>
        </p:blipFill>
        <p:spPr>
          <a:xfrm>
            <a:off x="738068" y="5438509"/>
            <a:ext cx="4232517" cy="577572"/>
          </a:xfrm>
          <a:prstGeom prst="rect">
            <a:avLst/>
          </a:prstGeom>
        </p:spPr>
      </p:pic>
      <p:pic>
        <p:nvPicPr>
          <p:cNvPr id="4" name="Picture 3" descr="A black and white logo&#10;&#10;Description automatically generated">
            <a:extLst>
              <a:ext uri="{FF2B5EF4-FFF2-40B4-BE49-F238E27FC236}">
                <a16:creationId xmlns:a16="http://schemas.microsoft.com/office/drawing/2014/main" id="{EDA35DE8-69A7-6312-D5E8-614298BEB92E}"/>
              </a:ext>
            </a:extLst>
          </p:cNvPr>
          <p:cNvPicPr>
            <a:picLocks noChangeAspect="1"/>
          </p:cNvPicPr>
          <p:nvPr/>
        </p:nvPicPr>
        <p:blipFill>
          <a:blip r:embed="rId3"/>
          <a:stretch>
            <a:fillRect/>
          </a:stretch>
        </p:blipFill>
        <p:spPr>
          <a:xfrm>
            <a:off x="9939528" y="709934"/>
            <a:ext cx="1473736" cy="1677649"/>
          </a:xfrm>
          <a:prstGeom prst="rect">
            <a:avLst/>
          </a:prstGeom>
          <a:noFill/>
        </p:spPr>
      </p:pic>
      <p:sp>
        <p:nvSpPr>
          <p:cNvPr id="5" name="TextBox 4">
            <a:extLst>
              <a:ext uri="{FF2B5EF4-FFF2-40B4-BE49-F238E27FC236}">
                <a16:creationId xmlns:a16="http://schemas.microsoft.com/office/drawing/2014/main" id="{8F05DAAE-A336-63F6-EA2C-CF3CBFF0C85D}"/>
              </a:ext>
            </a:extLst>
          </p:cNvPr>
          <p:cNvSpPr txBox="1"/>
          <p:nvPr/>
        </p:nvSpPr>
        <p:spPr>
          <a:xfrm>
            <a:off x="11620175" y="6508750"/>
            <a:ext cx="571826" cy="276999"/>
          </a:xfrm>
          <a:prstGeom prst="rect">
            <a:avLst/>
          </a:prstGeom>
          <a:noFill/>
        </p:spPr>
        <p:txBody>
          <a:bodyPr wrap="square" rtlCol="0">
            <a:spAutoFit/>
          </a:bodyPr>
          <a:lstStyle/>
          <a:p>
            <a:pPr algn="ctr"/>
            <a:fld id="{10F103F9-FBFB-4741-B3A3-3F2FAF542BF5}" type="slidenum">
              <a:rPr lang="en-US" sz="1200" smtClean="0">
                <a:solidFill>
                  <a:schemeClr val="bg1"/>
                </a:solidFill>
              </a:rPr>
              <a:pPr algn="ctr"/>
              <a:t>‹#›</a:t>
            </a:fld>
            <a:endParaRPr lang="en-US" sz="1200" dirty="0">
              <a:solidFill>
                <a:schemeClr val="bg1"/>
              </a:solidFill>
            </a:endParaRPr>
          </a:p>
        </p:txBody>
      </p:sp>
      <p:sp>
        <p:nvSpPr>
          <p:cNvPr id="7" name="Rectangle 4">
            <a:extLst>
              <a:ext uri="{FF2B5EF4-FFF2-40B4-BE49-F238E27FC236}">
                <a16:creationId xmlns:a16="http://schemas.microsoft.com/office/drawing/2014/main" id="{851ADAA0-DB30-0C9D-F177-98F0F9DCF7F0}"/>
              </a:ext>
            </a:extLst>
          </p:cNvPr>
          <p:cNvSpPr/>
          <p:nvPr userDrawn="1"/>
        </p:nvSpPr>
        <p:spPr>
          <a:xfrm>
            <a:off x="7315200" y="0"/>
            <a:ext cx="4876800" cy="6858000"/>
          </a:xfrm>
          <a:custGeom>
            <a:avLst/>
            <a:gdLst>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6800" h="6858000">
                <a:moveTo>
                  <a:pt x="0" y="0"/>
                </a:moveTo>
                <a:lnTo>
                  <a:pt x="4876800" y="0"/>
                </a:lnTo>
                <a:lnTo>
                  <a:pt x="4876800" y="6858000"/>
                </a:lnTo>
                <a:lnTo>
                  <a:pt x="0" y="6858000"/>
                </a:lnTo>
                <a:cubicBezTo>
                  <a:pt x="246543" y="4869293"/>
                  <a:pt x="243164" y="2107550"/>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white letter on a black background&#10;&#10;Description automatically generated">
            <a:extLst>
              <a:ext uri="{FF2B5EF4-FFF2-40B4-BE49-F238E27FC236}">
                <a16:creationId xmlns:a16="http://schemas.microsoft.com/office/drawing/2014/main" id="{757DA315-C983-98B8-051A-6BCD413623C1}"/>
              </a:ext>
            </a:extLst>
          </p:cNvPr>
          <p:cNvPicPr>
            <a:picLocks noChangeAspect="1"/>
          </p:cNvPicPr>
          <p:nvPr userDrawn="1"/>
        </p:nvPicPr>
        <p:blipFill>
          <a:blip r:embed="rId2"/>
          <a:stretch>
            <a:fillRect/>
          </a:stretch>
        </p:blipFill>
        <p:spPr>
          <a:xfrm>
            <a:off x="738068" y="5438509"/>
            <a:ext cx="4232517" cy="577572"/>
          </a:xfrm>
          <a:prstGeom prst="rect">
            <a:avLst/>
          </a:prstGeom>
        </p:spPr>
      </p:pic>
      <p:pic>
        <p:nvPicPr>
          <p:cNvPr id="11" name="Picture 10" descr="A black and white logo&#10;&#10;Description automatically generated">
            <a:extLst>
              <a:ext uri="{FF2B5EF4-FFF2-40B4-BE49-F238E27FC236}">
                <a16:creationId xmlns:a16="http://schemas.microsoft.com/office/drawing/2014/main" id="{F020A733-4FAF-DFB9-5428-E01E8A9F828E}"/>
              </a:ext>
            </a:extLst>
          </p:cNvPr>
          <p:cNvPicPr>
            <a:picLocks noChangeAspect="1"/>
          </p:cNvPicPr>
          <p:nvPr userDrawn="1"/>
        </p:nvPicPr>
        <p:blipFill>
          <a:blip r:embed="rId3"/>
          <a:stretch>
            <a:fillRect/>
          </a:stretch>
        </p:blipFill>
        <p:spPr>
          <a:xfrm>
            <a:off x="9939528" y="709934"/>
            <a:ext cx="1473736" cy="1677649"/>
          </a:xfrm>
          <a:prstGeom prst="rect">
            <a:avLst/>
          </a:prstGeom>
          <a:noFill/>
        </p:spPr>
      </p:pic>
      <p:pic>
        <p:nvPicPr>
          <p:cNvPr id="12" name="Picture 11" descr="A red circle with a white line on it and a red pill&#10;&#10;AI-generated content may be incorrect.">
            <a:extLst>
              <a:ext uri="{FF2B5EF4-FFF2-40B4-BE49-F238E27FC236}">
                <a16:creationId xmlns:a16="http://schemas.microsoft.com/office/drawing/2014/main" id="{B597789D-3E49-43E9-D10D-A35A6CF1BED8}"/>
              </a:ext>
            </a:extLst>
          </p:cNvPr>
          <p:cNvPicPr>
            <a:picLocks noChangeAspect="1"/>
          </p:cNvPicPr>
          <p:nvPr userDrawn="1"/>
        </p:nvPicPr>
        <p:blipFill>
          <a:blip r:embed="rId4"/>
          <a:stretch>
            <a:fillRect/>
          </a:stretch>
        </p:blipFill>
        <p:spPr>
          <a:xfrm>
            <a:off x="172795" y="212927"/>
            <a:ext cx="602750" cy="602750"/>
          </a:xfrm>
          <a:prstGeom prst="rect">
            <a:avLst/>
          </a:prstGeom>
        </p:spPr>
      </p:pic>
    </p:spTree>
    <p:extLst>
      <p:ext uri="{BB962C8B-B14F-4D97-AF65-F5344CB8AC3E}">
        <p14:creationId xmlns:p14="http://schemas.microsoft.com/office/powerpoint/2010/main" val="41174361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Heading + Arc">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B55666E3-6E3E-D8FC-A328-74E347BB3A7A}"/>
              </a:ext>
            </a:extLst>
          </p:cNvPr>
          <p:cNvSpPr/>
          <p:nvPr/>
        </p:nvSpPr>
        <p:spPr>
          <a:xfrm>
            <a:off x="-1262" y="4209939"/>
            <a:ext cx="12192000" cy="2671745"/>
          </a:xfrm>
          <a:custGeom>
            <a:avLst/>
            <a:gdLst>
              <a:gd name="connsiteX0" fmla="*/ 12192000 w 12192000"/>
              <a:gd name="connsiteY0" fmla="*/ 0 h 2671745"/>
              <a:gd name="connsiteX1" fmla="*/ 12192000 w 12192000"/>
              <a:gd name="connsiteY1" fmla="*/ 585787 h 2671745"/>
              <a:gd name="connsiteX2" fmla="*/ 12192000 w 12192000"/>
              <a:gd name="connsiteY2" fmla="*/ 2085958 h 2671745"/>
              <a:gd name="connsiteX3" fmla="*/ 12192000 w 12192000"/>
              <a:gd name="connsiteY3" fmla="*/ 2671745 h 2671745"/>
              <a:gd name="connsiteX4" fmla="*/ 0 w 12192000"/>
              <a:gd name="connsiteY4" fmla="*/ 2671745 h 2671745"/>
              <a:gd name="connsiteX5" fmla="*/ 0 w 12192000"/>
              <a:gd name="connsiteY5" fmla="*/ 2085958 h 2671745"/>
              <a:gd name="connsiteX6" fmla="*/ 0 w 12192000"/>
              <a:gd name="connsiteY6" fmla="*/ 587245 h 2671745"/>
              <a:gd name="connsiteX7" fmla="*/ 0 w 12192000"/>
              <a:gd name="connsiteY7" fmla="*/ 1458 h 2671745"/>
              <a:gd name="connsiteX8" fmla="*/ 438287 w 12192000"/>
              <a:gd name="connsiteY8" fmla="*/ 91514 h 2671745"/>
              <a:gd name="connsiteX9" fmla="*/ 11442301 w 12192000"/>
              <a:gd name="connsiteY9" fmla="*/ 142990 h 267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2671745">
                <a:moveTo>
                  <a:pt x="12192000" y="0"/>
                </a:moveTo>
                <a:lnTo>
                  <a:pt x="12192000" y="585787"/>
                </a:lnTo>
                <a:lnTo>
                  <a:pt x="12192000" y="2085958"/>
                </a:lnTo>
                <a:lnTo>
                  <a:pt x="12192000" y="2671745"/>
                </a:lnTo>
                <a:lnTo>
                  <a:pt x="0" y="2671745"/>
                </a:lnTo>
                <a:lnTo>
                  <a:pt x="0" y="2085958"/>
                </a:lnTo>
                <a:lnTo>
                  <a:pt x="0" y="587245"/>
                </a:lnTo>
                <a:lnTo>
                  <a:pt x="0" y="1458"/>
                </a:lnTo>
                <a:lnTo>
                  <a:pt x="438287" y="91514"/>
                </a:lnTo>
                <a:cubicBezTo>
                  <a:pt x="4704734" y="941799"/>
                  <a:pt x="7851668" y="799446"/>
                  <a:pt x="11442301" y="142990"/>
                </a:cubicBez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solidFill>
                <a:schemeClr val="bg2"/>
              </a:solidFill>
            </a:endParaRPr>
          </a:p>
        </p:txBody>
      </p:sp>
      <p:sp>
        <p:nvSpPr>
          <p:cNvPr id="2" name="Title 1">
            <a:extLst>
              <a:ext uri="{FF2B5EF4-FFF2-40B4-BE49-F238E27FC236}">
                <a16:creationId xmlns:a16="http://schemas.microsoft.com/office/drawing/2014/main" id="{657A1572-60B6-D549-9E95-52CA0994EE62}"/>
              </a:ext>
            </a:extLst>
          </p:cNvPr>
          <p:cNvSpPr txBox="1">
            <a:spLocks/>
          </p:cNvSpPr>
          <p:nvPr/>
        </p:nvSpPr>
        <p:spPr>
          <a:xfrm>
            <a:off x="838200" y="2648061"/>
            <a:ext cx="10515600" cy="667481"/>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1" kern="1200">
                <a:solidFill>
                  <a:schemeClr val="tx1"/>
                </a:solidFill>
                <a:latin typeface="Georgia" panose="02040502050405020303" pitchFamily="18" charset="0"/>
                <a:ea typeface="Georgia" panose="02040502050405020303" pitchFamily="18" charset="0"/>
                <a:cs typeface="Times New Roman" charset="0"/>
              </a:defRPr>
            </a:lvl1pPr>
          </a:lstStyle>
          <a:p>
            <a:pPr algn="ctr"/>
            <a:endParaRPr lang="en-US" dirty="0"/>
          </a:p>
        </p:txBody>
      </p:sp>
      <p:sp>
        <p:nvSpPr>
          <p:cNvPr id="10" name="Title 1">
            <a:extLst>
              <a:ext uri="{FF2B5EF4-FFF2-40B4-BE49-F238E27FC236}">
                <a16:creationId xmlns:a16="http://schemas.microsoft.com/office/drawing/2014/main" id="{9CB16783-5851-963A-2CCA-2506FCB0466F}"/>
              </a:ext>
            </a:extLst>
          </p:cNvPr>
          <p:cNvSpPr>
            <a:spLocks noGrp="1"/>
          </p:cNvSpPr>
          <p:nvPr>
            <p:ph type="ctrTitle" hasCustomPrompt="1"/>
          </p:nvPr>
        </p:nvSpPr>
        <p:spPr>
          <a:xfrm>
            <a:off x="0" y="2796321"/>
            <a:ext cx="12192000" cy="667481"/>
          </a:xfrm>
          <a:prstGeom prst="rect">
            <a:avLst/>
          </a:prstGeom>
        </p:spPr>
        <p:txBody>
          <a:bodyPr anchor="b"/>
          <a:lstStyle>
            <a:lvl1pPr algn="ctr">
              <a:defRPr sz="4000" b="1">
                <a:solidFill>
                  <a:schemeClr val="tx2"/>
                </a:solidFill>
                <a:latin typeface="Georgia" panose="02040502050405020303" pitchFamily="18" charset="0"/>
              </a:defRPr>
            </a:lvl1pPr>
          </a:lstStyle>
          <a:p>
            <a:r>
              <a:rPr lang="en-US" dirty="0"/>
              <a:t>Click to edit Section title style</a:t>
            </a:r>
          </a:p>
        </p:txBody>
      </p:sp>
      <p:sp>
        <p:nvSpPr>
          <p:cNvPr id="11" name="Subtitle 2">
            <a:extLst>
              <a:ext uri="{FF2B5EF4-FFF2-40B4-BE49-F238E27FC236}">
                <a16:creationId xmlns:a16="http://schemas.microsoft.com/office/drawing/2014/main" id="{ACEDD667-6D50-436E-E4FC-3D2CFD5882D8}"/>
              </a:ext>
            </a:extLst>
          </p:cNvPr>
          <p:cNvSpPr>
            <a:spLocks noGrp="1"/>
          </p:cNvSpPr>
          <p:nvPr>
            <p:ph type="subTitle" idx="1" hasCustomPrompt="1"/>
          </p:nvPr>
        </p:nvSpPr>
        <p:spPr>
          <a:xfrm>
            <a:off x="7127" y="3724764"/>
            <a:ext cx="12192000" cy="336915"/>
          </a:xfrm>
          <a:prstGeom prst="rect">
            <a:avLst/>
          </a:prstGeom>
        </p:spPr>
        <p:txBody>
          <a:bodyPr>
            <a:noAutofit/>
          </a:bodyPr>
          <a:lstStyle>
            <a:lvl1pPr marL="0" indent="0" algn="ctr">
              <a:buNone/>
              <a:defRPr sz="2400">
                <a:solidFill>
                  <a:schemeClr val="tx1"/>
                </a:solidFill>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Section subtitle style</a:t>
            </a:r>
          </a:p>
        </p:txBody>
      </p:sp>
      <p:pic>
        <p:nvPicPr>
          <p:cNvPr id="5" name="Picture 4" descr="A black and white logo&#10;&#10;Description automatically generated">
            <a:extLst>
              <a:ext uri="{FF2B5EF4-FFF2-40B4-BE49-F238E27FC236}">
                <a16:creationId xmlns:a16="http://schemas.microsoft.com/office/drawing/2014/main" id="{A933EAA2-E186-D4F1-34B4-600EE73D0562}"/>
              </a:ext>
            </a:extLst>
          </p:cNvPr>
          <p:cNvPicPr>
            <a:picLocks noChangeAspect="1"/>
          </p:cNvPicPr>
          <p:nvPr/>
        </p:nvPicPr>
        <p:blipFill>
          <a:blip r:embed="rId2"/>
          <a:stretch>
            <a:fillRect/>
          </a:stretch>
        </p:blipFill>
        <p:spPr>
          <a:xfrm>
            <a:off x="5378134" y="671226"/>
            <a:ext cx="1463593" cy="1666103"/>
          </a:xfrm>
          <a:prstGeom prst="rect">
            <a:avLst/>
          </a:prstGeom>
        </p:spPr>
      </p:pic>
      <p:sp>
        <p:nvSpPr>
          <p:cNvPr id="3" name="TextBox 2">
            <a:extLst>
              <a:ext uri="{FF2B5EF4-FFF2-40B4-BE49-F238E27FC236}">
                <a16:creationId xmlns:a16="http://schemas.microsoft.com/office/drawing/2014/main" id="{2E82DB2D-F811-9D80-CE42-F637580D902F}"/>
              </a:ext>
            </a:extLst>
          </p:cNvPr>
          <p:cNvSpPr txBox="1"/>
          <p:nvPr/>
        </p:nvSpPr>
        <p:spPr>
          <a:xfrm>
            <a:off x="11620175" y="6508750"/>
            <a:ext cx="571826" cy="276999"/>
          </a:xfrm>
          <a:prstGeom prst="rect">
            <a:avLst/>
          </a:prstGeom>
          <a:noFill/>
        </p:spPr>
        <p:txBody>
          <a:bodyPr wrap="square" rtlCol="0">
            <a:spAutoFit/>
          </a:bodyPr>
          <a:lstStyle/>
          <a:p>
            <a:pPr algn="ctr"/>
            <a:fld id="{10F103F9-FBFB-4741-B3A3-3F2FAF542BF5}" type="slidenum">
              <a:rPr lang="en-US" sz="1200" smtClean="0">
                <a:solidFill>
                  <a:schemeClr val="bg1"/>
                </a:solidFill>
              </a:rPr>
              <a:pPr algn="ctr"/>
              <a:t>‹#›</a:t>
            </a:fld>
            <a:endParaRPr lang="en-US" sz="1200" dirty="0">
              <a:solidFill>
                <a:schemeClr val="bg1"/>
              </a:solidFill>
            </a:endParaRPr>
          </a:p>
        </p:txBody>
      </p:sp>
      <p:sp>
        <p:nvSpPr>
          <p:cNvPr id="4" name="Freeform 7">
            <a:extLst>
              <a:ext uri="{FF2B5EF4-FFF2-40B4-BE49-F238E27FC236}">
                <a16:creationId xmlns:a16="http://schemas.microsoft.com/office/drawing/2014/main" id="{C91FC22D-0DC6-E46B-7018-93F2F0DD6F40}"/>
              </a:ext>
            </a:extLst>
          </p:cNvPr>
          <p:cNvSpPr/>
          <p:nvPr userDrawn="1"/>
        </p:nvSpPr>
        <p:spPr>
          <a:xfrm>
            <a:off x="-1262" y="4209939"/>
            <a:ext cx="12192000" cy="2671745"/>
          </a:xfrm>
          <a:custGeom>
            <a:avLst/>
            <a:gdLst>
              <a:gd name="connsiteX0" fmla="*/ 12192000 w 12192000"/>
              <a:gd name="connsiteY0" fmla="*/ 0 h 2671745"/>
              <a:gd name="connsiteX1" fmla="*/ 12192000 w 12192000"/>
              <a:gd name="connsiteY1" fmla="*/ 585787 h 2671745"/>
              <a:gd name="connsiteX2" fmla="*/ 12192000 w 12192000"/>
              <a:gd name="connsiteY2" fmla="*/ 2085958 h 2671745"/>
              <a:gd name="connsiteX3" fmla="*/ 12192000 w 12192000"/>
              <a:gd name="connsiteY3" fmla="*/ 2671745 h 2671745"/>
              <a:gd name="connsiteX4" fmla="*/ 0 w 12192000"/>
              <a:gd name="connsiteY4" fmla="*/ 2671745 h 2671745"/>
              <a:gd name="connsiteX5" fmla="*/ 0 w 12192000"/>
              <a:gd name="connsiteY5" fmla="*/ 2085958 h 2671745"/>
              <a:gd name="connsiteX6" fmla="*/ 0 w 12192000"/>
              <a:gd name="connsiteY6" fmla="*/ 587245 h 2671745"/>
              <a:gd name="connsiteX7" fmla="*/ 0 w 12192000"/>
              <a:gd name="connsiteY7" fmla="*/ 1458 h 2671745"/>
              <a:gd name="connsiteX8" fmla="*/ 438287 w 12192000"/>
              <a:gd name="connsiteY8" fmla="*/ 91514 h 2671745"/>
              <a:gd name="connsiteX9" fmla="*/ 11442301 w 12192000"/>
              <a:gd name="connsiteY9" fmla="*/ 142990 h 267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2671745">
                <a:moveTo>
                  <a:pt x="12192000" y="0"/>
                </a:moveTo>
                <a:lnTo>
                  <a:pt x="12192000" y="585787"/>
                </a:lnTo>
                <a:lnTo>
                  <a:pt x="12192000" y="2085958"/>
                </a:lnTo>
                <a:lnTo>
                  <a:pt x="12192000" y="2671745"/>
                </a:lnTo>
                <a:lnTo>
                  <a:pt x="0" y="2671745"/>
                </a:lnTo>
                <a:lnTo>
                  <a:pt x="0" y="2085958"/>
                </a:lnTo>
                <a:lnTo>
                  <a:pt x="0" y="587245"/>
                </a:lnTo>
                <a:lnTo>
                  <a:pt x="0" y="1458"/>
                </a:lnTo>
                <a:lnTo>
                  <a:pt x="438287" y="91514"/>
                </a:lnTo>
                <a:cubicBezTo>
                  <a:pt x="4704734" y="941799"/>
                  <a:pt x="7851668" y="799446"/>
                  <a:pt x="11442301" y="142990"/>
                </a:cubicBez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solidFill>
                <a:schemeClr val="bg2"/>
              </a:solidFill>
            </a:endParaRPr>
          </a:p>
        </p:txBody>
      </p:sp>
      <p:sp>
        <p:nvSpPr>
          <p:cNvPr id="6" name="Title 1">
            <a:extLst>
              <a:ext uri="{FF2B5EF4-FFF2-40B4-BE49-F238E27FC236}">
                <a16:creationId xmlns:a16="http://schemas.microsoft.com/office/drawing/2014/main" id="{373670FB-7EF7-AEA5-F3EC-318721B405A5}"/>
              </a:ext>
            </a:extLst>
          </p:cNvPr>
          <p:cNvSpPr txBox="1">
            <a:spLocks/>
          </p:cNvSpPr>
          <p:nvPr userDrawn="1"/>
        </p:nvSpPr>
        <p:spPr>
          <a:xfrm>
            <a:off x="838200" y="2648061"/>
            <a:ext cx="10515600" cy="667481"/>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1" kern="1200">
                <a:solidFill>
                  <a:schemeClr val="tx1"/>
                </a:solidFill>
                <a:latin typeface="Georgia" panose="02040502050405020303" pitchFamily="18" charset="0"/>
                <a:ea typeface="Georgia" panose="02040502050405020303" pitchFamily="18" charset="0"/>
                <a:cs typeface="Times New Roman" charset="0"/>
              </a:defRPr>
            </a:lvl1pPr>
          </a:lstStyle>
          <a:p>
            <a:pPr algn="ctr"/>
            <a:endParaRPr lang="en-US" dirty="0"/>
          </a:p>
        </p:txBody>
      </p:sp>
      <p:pic>
        <p:nvPicPr>
          <p:cNvPr id="7" name="Picture 6" descr="A black and white logo&#10;&#10;Description automatically generated">
            <a:extLst>
              <a:ext uri="{FF2B5EF4-FFF2-40B4-BE49-F238E27FC236}">
                <a16:creationId xmlns:a16="http://schemas.microsoft.com/office/drawing/2014/main" id="{AE161F09-F752-F273-DD8D-7E45DF78DEF7}"/>
              </a:ext>
            </a:extLst>
          </p:cNvPr>
          <p:cNvPicPr>
            <a:picLocks noChangeAspect="1"/>
          </p:cNvPicPr>
          <p:nvPr userDrawn="1"/>
        </p:nvPicPr>
        <p:blipFill>
          <a:blip r:embed="rId2"/>
          <a:stretch>
            <a:fillRect/>
          </a:stretch>
        </p:blipFill>
        <p:spPr>
          <a:xfrm>
            <a:off x="5378134" y="671226"/>
            <a:ext cx="1463593" cy="1666103"/>
          </a:xfrm>
          <a:prstGeom prst="rect">
            <a:avLst/>
          </a:prstGeom>
        </p:spPr>
      </p:pic>
      <p:pic>
        <p:nvPicPr>
          <p:cNvPr id="9" name="Picture 8" descr="A red circle with a white line on it and a red pill&#10;&#10;AI-generated content may be incorrect.">
            <a:extLst>
              <a:ext uri="{FF2B5EF4-FFF2-40B4-BE49-F238E27FC236}">
                <a16:creationId xmlns:a16="http://schemas.microsoft.com/office/drawing/2014/main" id="{1807ECAF-B104-E4A1-A679-39F0359E3C0C}"/>
              </a:ext>
            </a:extLst>
          </p:cNvPr>
          <p:cNvPicPr>
            <a:picLocks noChangeAspect="1"/>
          </p:cNvPicPr>
          <p:nvPr userDrawn="1"/>
        </p:nvPicPr>
        <p:blipFill>
          <a:blip r:embed="rId3"/>
          <a:stretch>
            <a:fillRect/>
          </a:stretch>
        </p:blipFill>
        <p:spPr>
          <a:xfrm>
            <a:off x="172795" y="212927"/>
            <a:ext cx="602750" cy="602750"/>
          </a:xfrm>
          <a:prstGeom prst="rect">
            <a:avLst/>
          </a:prstGeom>
        </p:spPr>
      </p:pic>
    </p:spTree>
    <p:extLst>
      <p:ext uri="{BB962C8B-B14F-4D97-AF65-F5344CB8AC3E}">
        <p14:creationId xmlns:p14="http://schemas.microsoft.com/office/powerpoint/2010/main" val="8864431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Photo + Arc">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9C89CF58-0182-1B7A-A772-66BD06B6FFAD}"/>
              </a:ext>
            </a:extLst>
          </p:cNvPr>
          <p:cNvSpPr/>
          <p:nvPr/>
        </p:nvSpPr>
        <p:spPr>
          <a:xfrm>
            <a:off x="0" y="4209939"/>
            <a:ext cx="12198096" cy="2671745"/>
          </a:xfrm>
          <a:custGeom>
            <a:avLst/>
            <a:gdLst>
              <a:gd name="connsiteX0" fmla="*/ 12192000 w 12192000"/>
              <a:gd name="connsiteY0" fmla="*/ 0 h 2671745"/>
              <a:gd name="connsiteX1" fmla="*/ 12192000 w 12192000"/>
              <a:gd name="connsiteY1" fmla="*/ 585787 h 2671745"/>
              <a:gd name="connsiteX2" fmla="*/ 12192000 w 12192000"/>
              <a:gd name="connsiteY2" fmla="*/ 2085958 h 2671745"/>
              <a:gd name="connsiteX3" fmla="*/ 12192000 w 12192000"/>
              <a:gd name="connsiteY3" fmla="*/ 2671745 h 2671745"/>
              <a:gd name="connsiteX4" fmla="*/ 0 w 12192000"/>
              <a:gd name="connsiteY4" fmla="*/ 2671745 h 2671745"/>
              <a:gd name="connsiteX5" fmla="*/ 0 w 12192000"/>
              <a:gd name="connsiteY5" fmla="*/ 2085958 h 2671745"/>
              <a:gd name="connsiteX6" fmla="*/ 0 w 12192000"/>
              <a:gd name="connsiteY6" fmla="*/ 587245 h 2671745"/>
              <a:gd name="connsiteX7" fmla="*/ 0 w 12192000"/>
              <a:gd name="connsiteY7" fmla="*/ 1458 h 2671745"/>
              <a:gd name="connsiteX8" fmla="*/ 438287 w 12192000"/>
              <a:gd name="connsiteY8" fmla="*/ 91514 h 2671745"/>
              <a:gd name="connsiteX9" fmla="*/ 11442301 w 12192000"/>
              <a:gd name="connsiteY9" fmla="*/ 142990 h 267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2671745">
                <a:moveTo>
                  <a:pt x="12192000" y="0"/>
                </a:moveTo>
                <a:lnTo>
                  <a:pt x="12192000" y="585787"/>
                </a:lnTo>
                <a:lnTo>
                  <a:pt x="12192000" y="2085958"/>
                </a:lnTo>
                <a:lnTo>
                  <a:pt x="12192000" y="2671745"/>
                </a:lnTo>
                <a:lnTo>
                  <a:pt x="0" y="2671745"/>
                </a:lnTo>
                <a:lnTo>
                  <a:pt x="0" y="2085958"/>
                </a:lnTo>
                <a:lnTo>
                  <a:pt x="0" y="587245"/>
                </a:lnTo>
                <a:lnTo>
                  <a:pt x="0" y="1458"/>
                </a:lnTo>
                <a:lnTo>
                  <a:pt x="438287" y="91514"/>
                </a:lnTo>
                <a:cubicBezTo>
                  <a:pt x="4704734" y="941799"/>
                  <a:pt x="7851668" y="799446"/>
                  <a:pt x="11442301" y="142990"/>
                </a:cubicBez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11" name="Picture Placeholder 10">
            <a:extLst>
              <a:ext uri="{FF2B5EF4-FFF2-40B4-BE49-F238E27FC236}">
                <a16:creationId xmlns:a16="http://schemas.microsoft.com/office/drawing/2014/main" id="{B4658AFD-3F02-F6E2-BEF6-C80E8A2DB808}"/>
              </a:ext>
            </a:extLst>
          </p:cNvPr>
          <p:cNvSpPr>
            <a:spLocks noGrp="1"/>
          </p:cNvSpPr>
          <p:nvPr>
            <p:ph type="pic" sz="quarter" idx="10" hasCustomPrompt="1"/>
          </p:nvPr>
        </p:nvSpPr>
        <p:spPr>
          <a:xfrm>
            <a:off x="0" y="0"/>
            <a:ext cx="12192000" cy="4892731"/>
          </a:xfrm>
          <a:custGeom>
            <a:avLst/>
            <a:gdLst>
              <a:gd name="connsiteX0" fmla="*/ 0 w 12192000"/>
              <a:gd name="connsiteY0" fmla="*/ 0 h 4892731"/>
              <a:gd name="connsiteX1" fmla="*/ 12192000 w 12192000"/>
              <a:gd name="connsiteY1" fmla="*/ 0 h 4892731"/>
              <a:gd name="connsiteX2" fmla="*/ 12192000 w 12192000"/>
              <a:gd name="connsiteY2" fmla="*/ 4211101 h 4892731"/>
              <a:gd name="connsiteX3" fmla="*/ 11448022 w 12192000"/>
              <a:gd name="connsiteY3" fmla="*/ 4352929 h 4892731"/>
              <a:gd name="connsiteX4" fmla="*/ 438506 w 12192000"/>
              <a:gd name="connsiteY4" fmla="*/ 4301453 h 4892731"/>
              <a:gd name="connsiteX5" fmla="*/ 0 w 12192000"/>
              <a:gd name="connsiteY5" fmla="*/ 4211397 h 489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892731">
                <a:moveTo>
                  <a:pt x="0" y="0"/>
                </a:moveTo>
                <a:lnTo>
                  <a:pt x="12192000" y="0"/>
                </a:lnTo>
                <a:lnTo>
                  <a:pt x="12192000" y="4211101"/>
                </a:lnTo>
                <a:lnTo>
                  <a:pt x="11448022" y="4352929"/>
                </a:lnTo>
                <a:cubicBezTo>
                  <a:pt x="7855594" y="5009385"/>
                  <a:pt x="4707087" y="5151738"/>
                  <a:pt x="438506" y="4301453"/>
                </a:cubicBezTo>
                <a:lnTo>
                  <a:pt x="0" y="4211397"/>
                </a:lnTo>
                <a:close/>
              </a:path>
            </a:pathLst>
          </a:custGeom>
        </p:spPr>
        <p:txBody>
          <a:bodyPr wrap="square" tIns="1097280">
            <a:noAutofit/>
          </a:bodyPr>
          <a:lstStyle>
            <a:lvl1pPr marL="0" indent="0" algn="ctr">
              <a:buNone/>
              <a:defRPr/>
            </a:lvl1pPr>
          </a:lstStyle>
          <a:p>
            <a:r>
              <a:rPr lang="en-US" dirty="0"/>
              <a:t>Click the icon</a:t>
            </a:r>
            <a:br>
              <a:rPr lang="en-US" dirty="0"/>
            </a:br>
            <a:r>
              <a:rPr lang="en-US" dirty="0"/>
              <a:t>to insert a photo</a:t>
            </a:r>
          </a:p>
        </p:txBody>
      </p:sp>
      <p:sp>
        <p:nvSpPr>
          <p:cNvPr id="9" name="Title 1">
            <a:extLst>
              <a:ext uri="{FF2B5EF4-FFF2-40B4-BE49-F238E27FC236}">
                <a16:creationId xmlns:a16="http://schemas.microsoft.com/office/drawing/2014/main" id="{C8B47C0E-99AC-F609-752F-55B224D29C46}"/>
              </a:ext>
            </a:extLst>
          </p:cNvPr>
          <p:cNvSpPr>
            <a:spLocks noGrp="1"/>
          </p:cNvSpPr>
          <p:nvPr>
            <p:ph type="ctrTitle"/>
          </p:nvPr>
        </p:nvSpPr>
        <p:spPr>
          <a:xfrm>
            <a:off x="0" y="5136943"/>
            <a:ext cx="12199127" cy="1217083"/>
          </a:xfrm>
        </p:spPr>
        <p:txBody>
          <a:bodyPr lIns="0" tIns="0" rIns="0" bIns="0"/>
          <a:lstStyle>
            <a:lvl1pPr algn="ctr">
              <a:defRPr sz="3800">
                <a:solidFill>
                  <a:schemeClr val="bg1"/>
                </a:solidFill>
              </a:defRPr>
            </a:lvl1pPr>
          </a:lstStyle>
          <a:p>
            <a:r>
              <a:rPr lang="en-US"/>
              <a:t>Click to edit Master title style</a:t>
            </a:r>
            <a:endParaRPr lang="en-US" dirty="0"/>
          </a:p>
        </p:txBody>
      </p:sp>
      <p:sp>
        <p:nvSpPr>
          <p:cNvPr id="2" name="TextBox 1">
            <a:extLst>
              <a:ext uri="{FF2B5EF4-FFF2-40B4-BE49-F238E27FC236}">
                <a16:creationId xmlns:a16="http://schemas.microsoft.com/office/drawing/2014/main" id="{6F9C0A5B-6F69-7CF8-D41E-ACF40DA36FD6}"/>
              </a:ext>
            </a:extLst>
          </p:cNvPr>
          <p:cNvSpPr txBox="1"/>
          <p:nvPr/>
        </p:nvSpPr>
        <p:spPr>
          <a:xfrm>
            <a:off x="11620175" y="6508750"/>
            <a:ext cx="571826" cy="276999"/>
          </a:xfrm>
          <a:prstGeom prst="rect">
            <a:avLst/>
          </a:prstGeom>
          <a:noFill/>
        </p:spPr>
        <p:txBody>
          <a:bodyPr wrap="square" rtlCol="0">
            <a:spAutoFit/>
          </a:bodyPr>
          <a:lstStyle/>
          <a:p>
            <a:pPr algn="ctr"/>
            <a:fld id="{10F103F9-FBFB-4741-B3A3-3F2FAF542BF5}" type="slidenum">
              <a:rPr lang="en-US" sz="1200" smtClean="0">
                <a:solidFill>
                  <a:schemeClr val="bg1"/>
                </a:solidFill>
              </a:rPr>
              <a:pPr algn="ctr"/>
              <a:t>‹#›</a:t>
            </a:fld>
            <a:endParaRPr lang="en-US" sz="1200" dirty="0">
              <a:solidFill>
                <a:schemeClr val="bg1"/>
              </a:solidFill>
            </a:endParaRPr>
          </a:p>
        </p:txBody>
      </p:sp>
      <p:sp>
        <p:nvSpPr>
          <p:cNvPr id="3" name="Freeform 11">
            <a:extLst>
              <a:ext uri="{FF2B5EF4-FFF2-40B4-BE49-F238E27FC236}">
                <a16:creationId xmlns:a16="http://schemas.microsoft.com/office/drawing/2014/main" id="{804A4644-0439-C630-DCC3-A0090EC362A8}"/>
              </a:ext>
            </a:extLst>
          </p:cNvPr>
          <p:cNvSpPr/>
          <p:nvPr userDrawn="1"/>
        </p:nvSpPr>
        <p:spPr>
          <a:xfrm>
            <a:off x="0" y="4209939"/>
            <a:ext cx="12198096" cy="2671745"/>
          </a:xfrm>
          <a:custGeom>
            <a:avLst/>
            <a:gdLst>
              <a:gd name="connsiteX0" fmla="*/ 12192000 w 12192000"/>
              <a:gd name="connsiteY0" fmla="*/ 0 h 2671745"/>
              <a:gd name="connsiteX1" fmla="*/ 12192000 w 12192000"/>
              <a:gd name="connsiteY1" fmla="*/ 585787 h 2671745"/>
              <a:gd name="connsiteX2" fmla="*/ 12192000 w 12192000"/>
              <a:gd name="connsiteY2" fmla="*/ 2085958 h 2671745"/>
              <a:gd name="connsiteX3" fmla="*/ 12192000 w 12192000"/>
              <a:gd name="connsiteY3" fmla="*/ 2671745 h 2671745"/>
              <a:gd name="connsiteX4" fmla="*/ 0 w 12192000"/>
              <a:gd name="connsiteY4" fmla="*/ 2671745 h 2671745"/>
              <a:gd name="connsiteX5" fmla="*/ 0 w 12192000"/>
              <a:gd name="connsiteY5" fmla="*/ 2085958 h 2671745"/>
              <a:gd name="connsiteX6" fmla="*/ 0 w 12192000"/>
              <a:gd name="connsiteY6" fmla="*/ 587245 h 2671745"/>
              <a:gd name="connsiteX7" fmla="*/ 0 w 12192000"/>
              <a:gd name="connsiteY7" fmla="*/ 1458 h 2671745"/>
              <a:gd name="connsiteX8" fmla="*/ 438287 w 12192000"/>
              <a:gd name="connsiteY8" fmla="*/ 91514 h 2671745"/>
              <a:gd name="connsiteX9" fmla="*/ 11442301 w 12192000"/>
              <a:gd name="connsiteY9" fmla="*/ 142990 h 267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2671745">
                <a:moveTo>
                  <a:pt x="12192000" y="0"/>
                </a:moveTo>
                <a:lnTo>
                  <a:pt x="12192000" y="585787"/>
                </a:lnTo>
                <a:lnTo>
                  <a:pt x="12192000" y="2085958"/>
                </a:lnTo>
                <a:lnTo>
                  <a:pt x="12192000" y="2671745"/>
                </a:lnTo>
                <a:lnTo>
                  <a:pt x="0" y="2671745"/>
                </a:lnTo>
                <a:lnTo>
                  <a:pt x="0" y="2085958"/>
                </a:lnTo>
                <a:lnTo>
                  <a:pt x="0" y="587245"/>
                </a:lnTo>
                <a:lnTo>
                  <a:pt x="0" y="1458"/>
                </a:lnTo>
                <a:lnTo>
                  <a:pt x="438287" y="91514"/>
                </a:lnTo>
                <a:cubicBezTo>
                  <a:pt x="4704734" y="941799"/>
                  <a:pt x="7851668" y="799446"/>
                  <a:pt x="11442301" y="142990"/>
                </a:cubicBez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pic>
        <p:nvPicPr>
          <p:cNvPr id="4" name="Picture 3" descr="A red circle with a white line on it and a red pill&#10;&#10;AI-generated content may be incorrect.">
            <a:extLst>
              <a:ext uri="{FF2B5EF4-FFF2-40B4-BE49-F238E27FC236}">
                <a16:creationId xmlns:a16="http://schemas.microsoft.com/office/drawing/2014/main" id="{75D30980-7FEF-7C14-AF8D-28EAEDB70418}"/>
              </a:ext>
            </a:extLst>
          </p:cNvPr>
          <p:cNvPicPr>
            <a:picLocks noChangeAspect="1"/>
          </p:cNvPicPr>
          <p:nvPr userDrawn="1"/>
        </p:nvPicPr>
        <p:blipFill>
          <a:blip r:embed="rId2"/>
          <a:stretch>
            <a:fillRect/>
          </a:stretch>
        </p:blipFill>
        <p:spPr>
          <a:xfrm>
            <a:off x="172795" y="212927"/>
            <a:ext cx="602750" cy="602750"/>
          </a:xfrm>
          <a:prstGeom prst="rect">
            <a:avLst/>
          </a:prstGeom>
        </p:spPr>
      </p:pic>
    </p:spTree>
    <p:extLst>
      <p:ext uri="{BB962C8B-B14F-4D97-AF65-F5344CB8AC3E}">
        <p14:creationId xmlns:p14="http://schemas.microsoft.com/office/powerpoint/2010/main" val="10949080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ext on White">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B5B1455D-E3D7-D4E7-25D4-08FDFCDAD1A3}"/>
              </a:ext>
            </a:extLst>
          </p:cNvPr>
          <p:cNvPicPr>
            <a:picLocks noChangeAspect="1"/>
          </p:cNvPicPr>
          <p:nvPr/>
        </p:nvPicPr>
        <p:blipFill>
          <a:blip r:embed="rId2" cstate="print">
            <a:extLst>
              <a:ext uri="{28A0092B-C50C-407E-A947-70E740481C1C}">
                <a14:useLocalDpi xmlns:a14="http://schemas.microsoft.com/office/drawing/2010/main" val="0"/>
              </a:ext>
            </a:extLst>
          </a:blip>
          <a:srcRect l="13692" t="-1224" r="36401" b="76083"/>
          <a:stretch>
            <a:fillRect/>
          </a:stretch>
        </p:blipFill>
        <p:spPr bwMode="auto">
          <a:xfrm>
            <a:off x="7611533" y="3892524"/>
            <a:ext cx="4580467" cy="2345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p:txBody>
          <a:bodyPr/>
          <a:lstStyle>
            <a:lvl1pPr marL="231775" indent="-231775">
              <a:tabLst/>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5" name="Rectangle 4">
            <a:extLst>
              <a:ext uri="{FF2B5EF4-FFF2-40B4-BE49-F238E27FC236}">
                <a16:creationId xmlns:a16="http://schemas.microsoft.com/office/drawing/2014/main" id="{200F7063-F7AD-D981-9882-D6BDA5C33EF1}"/>
              </a:ext>
            </a:extLst>
          </p:cNvPr>
          <p:cNvSpPr/>
          <p:nvPr/>
        </p:nvSpPr>
        <p:spPr>
          <a:xfrm>
            <a:off x="0" y="6227064"/>
            <a:ext cx="12192000" cy="63093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descr="A white letter on a black background&#10;&#10;Description automatically generated">
            <a:extLst>
              <a:ext uri="{FF2B5EF4-FFF2-40B4-BE49-F238E27FC236}">
                <a16:creationId xmlns:a16="http://schemas.microsoft.com/office/drawing/2014/main" id="{A13915A3-C389-EA09-5FA0-E7A6FA725098}"/>
              </a:ext>
            </a:extLst>
          </p:cNvPr>
          <p:cNvPicPr>
            <a:picLocks noChangeAspect="1"/>
          </p:cNvPicPr>
          <p:nvPr/>
        </p:nvPicPr>
        <p:blipFill>
          <a:blip r:embed="rId3"/>
          <a:stretch>
            <a:fillRect/>
          </a:stretch>
        </p:blipFill>
        <p:spPr>
          <a:xfrm>
            <a:off x="228600" y="6343765"/>
            <a:ext cx="2680334" cy="365760"/>
          </a:xfrm>
          <a:prstGeom prst="rect">
            <a:avLst/>
          </a:prstGeom>
        </p:spPr>
      </p:pic>
      <p:sp>
        <p:nvSpPr>
          <p:cNvPr id="7" name="TextBox 6">
            <a:extLst>
              <a:ext uri="{FF2B5EF4-FFF2-40B4-BE49-F238E27FC236}">
                <a16:creationId xmlns:a16="http://schemas.microsoft.com/office/drawing/2014/main" id="{5095A93D-8B1E-CC24-3C86-A894717C71D3}"/>
              </a:ext>
            </a:extLst>
          </p:cNvPr>
          <p:cNvSpPr txBox="1"/>
          <p:nvPr/>
        </p:nvSpPr>
        <p:spPr>
          <a:xfrm>
            <a:off x="9244584" y="6334621"/>
            <a:ext cx="2680334" cy="400110"/>
          </a:xfrm>
          <a:prstGeom prst="rect">
            <a:avLst/>
          </a:prstGeom>
          <a:noFill/>
        </p:spPr>
        <p:txBody>
          <a:bodyPr wrap="square" rtlCol="0">
            <a:spAutoFit/>
          </a:bodyPr>
          <a:lstStyle/>
          <a:p>
            <a:pPr algn="r"/>
            <a:r>
              <a:rPr lang="en-US" sz="2000" b="0" dirty="0">
                <a:solidFill>
                  <a:srgbClr val="FFFFFF"/>
                </a:solidFill>
                <a:latin typeface="Georgia" panose="02040502050405020303" pitchFamily="18" charset="0"/>
              </a:rPr>
              <a:t>Gateway</a:t>
            </a:r>
            <a:r>
              <a:rPr lang="en-US" dirty="0"/>
              <a:t> </a:t>
            </a:r>
            <a:r>
              <a:rPr lang="en-US" b="1" dirty="0">
                <a:solidFill>
                  <a:srgbClr val="D9D9D9"/>
                </a:solidFill>
              </a:rPr>
              <a:t>CURRICULUM</a:t>
            </a:r>
          </a:p>
        </p:txBody>
      </p:sp>
      <p:pic>
        <p:nvPicPr>
          <p:cNvPr id="8" name="Picture 2">
            <a:extLst>
              <a:ext uri="{FF2B5EF4-FFF2-40B4-BE49-F238E27FC236}">
                <a16:creationId xmlns:a16="http://schemas.microsoft.com/office/drawing/2014/main" id="{F9D4E2DD-9241-8CB2-5E00-D35E6E6CEF5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3692" t="-1224" r="36401" b="76083"/>
          <a:stretch>
            <a:fillRect/>
          </a:stretch>
        </p:blipFill>
        <p:spPr bwMode="auto">
          <a:xfrm>
            <a:off x="7611533" y="3892524"/>
            <a:ext cx="4580467" cy="2345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7DA4B8CF-D32E-A031-2FA1-E57077C651C8}"/>
              </a:ext>
            </a:extLst>
          </p:cNvPr>
          <p:cNvSpPr/>
          <p:nvPr userDrawn="1"/>
        </p:nvSpPr>
        <p:spPr>
          <a:xfrm>
            <a:off x="0" y="6227064"/>
            <a:ext cx="12192000" cy="63093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descr="A white letter on a black background&#10;&#10;Description automatically generated">
            <a:extLst>
              <a:ext uri="{FF2B5EF4-FFF2-40B4-BE49-F238E27FC236}">
                <a16:creationId xmlns:a16="http://schemas.microsoft.com/office/drawing/2014/main" id="{EA5C153E-8906-23C8-9EDD-8768F9D6B90B}"/>
              </a:ext>
            </a:extLst>
          </p:cNvPr>
          <p:cNvPicPr>
            <a:picLocks noChangeAspect="1"/>
          </p:cNvPicPr>
          <p:nvPr userDrawn="1"/>
        </p:nvPicPr>
        <p:blipFill>
          <a:blip r:embed="rId3"/>
          <a:stretch>
            <a:fillRect/>
          </a:stretch>
        </p:blipFill>
        <p:spPr>
          <a:xfrm>
            <a:off x="228600" y="6343765"/>
            <a:ext cx="2680334" cy="365760"/>
          </a:xfrm>
          <a:prstGeom prst="rect">
            <a:avLst/>
          </a:prstGeom>
        </p:spPr>
      </p:pic>
      <p:sp>
        <p:nvSpPr>
          <p:cNvPr id="11" name="TextBox 10">
            <a:extLst>
              <a:ext uri="{FF2B5EF4-FFF2-40B4-BE49-F238E27FC236}">
                <a16:creationId xmlns:a16="http://schemas.microsoft.com/office/drawing/2014/main" id="{785B5B44-BCC2-AFBD-7F36-287536D95170}"/>
              </a:ext>
            </a:extLst>
          </p:cNvPr>
          <p:cNvSpPr txBox="1"/>
          <p:nvPr userDrawn="1"/>
        </p:nvSpPr>
        <p:spPr>
          <a:xfrm>
            <a:off x="9244584" y="6334621"/>
            <a:ext cx="2680334" cy="400110"/>
          </a:xfrm>
          <a:prstGeom prst="rect">
            <a:avLst/>
          </a:prstGeom>
          <a:noFill/>
        </p:spPr>
        <p:txBody>
          <a:bodyPr wrap="square" rtlCol="0">
            <a:spAutoFit/>
          </a:bodyPr>
          <a:lstStyle/>
          <a:p>
            <a:pPr algn="r"/>
            <a:r>
              <a:rPr lang="en-US" sz="2000" b="0" dirty="0">
                <a:solidFill>
                  <a:srgbClr val="FFFFFF"/>
                </a:solidFill>
                <a:latin typeface="Georgia" panose="02040502050405020303" pitchFamily="18" charset="0"/>
              </a:rPr>
              <a:t>Gateway</a:t>
            </a:r>
            <a:r>
              <a:rPr lang="en-US" dirty="0"/>
              <a:t> </a:t>
            </a:r>
            <a:r>
              <a:rPr lang="en-US" b="1" dirty="0">
                <a:solidFill>
                  <a:srgbClr val="D9D9D9"/>
                </a:solidFill>
              </a:rPr>
              <a:t>CURRICULUM</a:t>
            </a:r>
          </a:p>
        </p:txBody>
      </p:sp>
    </p:spTree>
    <p:extLst>
      <p:ext uri="{BB962C8B-B14F-4D97-AF65-F5344CB8AC3E}">
        <p14:creationId xmlns:p14="http://schemas.microsoft.com/office/powerpoint/2010/main" val="2608789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Placeholder Blocks">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55662F6C-26B3-2666-1317-64D951009E29}"/>
              </a:ext>
            </a:extLst>
          </p:cNvPr>
          <p:cNvPicPr>
            <a:picLocks noChangeAspect="1"/>
          </p:cNvPicPr>
          <p:nvPr/>
        </p:nvPicPr>
        <p:blipFill>
          <a:blip r:embed="rId2" cstate="print">
            <a:extLst>
              <a:ext uri="{28A0092B-C50C-407E-A947-70E740481C1C}">
                <a14:useLocalDpi xmlns:a14="http://schemas.microsoft.com/office/drawing/2010/main" val="0"/>
              </a:ext>
            </a:extLst>
          </a:blip>
          <a:srcRect l="13692" t="-1224" r="36401" b="76083"/>
          <a:stretch>
            <a:fillRect/>
          </a:stretch>
        </p:blipFill>
        <p:spPr bwMode="auto">
          <a:xfrm>
            <a:off x="7611533" y="3892524"/>
            <a:ext cx="4580467" cy="2345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9016" y="704087"/>
            <a:ext cx="557784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197599" y="704087"/>
            <a:ext cx="5613399" cy="5486400"/>
          </a:xfrm>
        </p:spPr>
        <p:txBody>
          <a:bodyPr/>
          <a:lstStyle>
            <a:lvl1pPr>
              <a:defRPr sz="2800"/>
            </a:lvl1pPr>
            <a:lvl2pPr>
              <a:defRPr sz="2400"/>
            </a:lvl2pPr>
            <a:lvl3pPr>
              <a:defRPr sz="2000"/>
            </a:lvl3pPr>
            <a:lvl4pPr>
              <a:defRPr sz="1800"/>
            </a:lvl4pPr>
            <a:lvl5pPr marL="1828800" indent="0">
              <a:buNone/>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Rectangle 5">
            <a:extLst>
              <a:ext uri="{FF2B5EF4-FFF2-40B4-BE49-F238E27FC236}">
                <a16:creationId xmlns:a16="http://schemas.microsoft.com/office/drawing/2014/main" id="{3F2A65F3-BA39-BE78-8565-940D41C3D588}"/>
              </a:ext>
            </a:extLst>
          </p:cNvPr>
          <p:cNvSpPr/>
          <p:nvPr/>
        </p:nvSpPr>
        <p:spPr>
          <a:xfrm>
            <a:off x="0" y="6227064"/>
            <a:ext cx="12192000" cy="63093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descr="A white letter on a black background&#10;&#10;Description automatically generated">
            <a:extLst>
              <a:ext uri="{FF2B5EF4-FFF2-40B4-BE49-F238E27FC236}">
                <a16:creationId xmlns:a16="http://schemas.microsoft.com/office/drawing/2014/main" id="{E7E6B70B-D23F-4B26-F901-D127DD9DDDD8}"/>
              </a:ext>
            </a:extLst>
          </p:cNvPr>
          <p:cNvPicPr>
            <a:picLocks noChangeAspect="1"/>
          </p:cNvPicPr>
          <p:nvPr/>
        </p:nvPicPr>
        <p:blipFill>
          <a:blip r:embed="rId3"/>
          <a:stretch>
            <a:fillRect/>
          </a:stretch>
        </p:blipFill>
        <p:spPr>
          <a:xfrm>
            <a:off x="228600" y="6343765"/>
            <a:ext cx="2680334" cy="365760"/>
          </a:xfrm>
          <a:prstGeom prst="rect">
            <a:avLst/>
          </a:prstGeom>
        </p:spPr>
      </p:pic>
      <p:sp>
        <p:nvSpPr>
          <p:cNvPr id="8" name="TextBox 7">
            <a:extLst>
              <a:ext uri="{FF2B5EF4-FFF2-40B4-BE49-F238E27FC236}">
                <a16:creationId xmlns:a16="http://schemas.microsoft.com/office/drawing/2014/main" id="{67AFC489-3419-119C-F89D-94583ACF1B0D}"/>
              </a:ext>
            </a:extLst>
          </p:cNvPr>
          <p:cNvSpPr txBox="1"/>
          <p:nvPr/>
        </p:nvSpPr>
        <p:spPr>
          <a:xfrm>
            <a:off x="9244584" y="6334621"/>
            <a:ext cx="2680334" cy="400110"/>
          </a:xfrm>
          <a:prstGeom prst="rect">
            <a:avLst/>
          </a:prstGeom>
          <a:noFill/>
        </p:spPr>
        <p:txBody>
          <a:bodyPr wrap="square" rtlCol="0">
            <a:spAutoFit/>
          </a:bodyPr>
          <a:lstStyle/>
          <a:p>
            <a:pPr algn="r"/>
            <a:r>
              <a:rPr lang="en-US" sz="2000" b="0" dirty="0">
                <a:solidFill>
                  <a:srgbClr val="FFFFFF"/>
                </a:solidFill>
                <a:latin typeface="Georgia" panose="02040502050405020303" pitchFamily="18" charset="0"/>
              </a:rPr>
              <a:t>Gateway</a:t>
            </a:r>
            <a:r>
              <a:rPr lang="en-US" dirty="0"/>
              <a:t> </a:t>
            </a:r>
            <a:r>
              <a:rPr lang="en-US" b="1" dirty="0">
                <a:solidFill>
                  <a:srgbClr val="D9D9D9"/>
                </a:solidFill>
              </a:rPr>
              <a:t>CURRICULUM</a:t>
            </a:r>
          </a:p>
        </p:txBody>
      </p:sp>
      <p:pic>
        <p:nvPicPr>
          <p:cNvPr id="5" name="Picture 2">
            <a:extLst>
              <a:ext uri="{FF2B5EF4-FFF2-40B4-BE49-F238E27FC236}">
                <a16:creationId xmlns:a16="http://schemas.microsoft.com/office/drawing/2014/main" id="{BA165560-693B-A014-0A5A-8CA5788DBED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3692" t="-1224" r="36401" b="76083"/>
          <a:stretch>
            <a:fillRect/>
          </a:stretch>
        </p:blipFill>
        <p:spPr bwMode="auto">
          <a:xfrm>
            <a:off x="7611533" y="3892524"/>
            <a:ext cx="4580467" cy="2345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a:extLst>
              <a:ext uri="{FF2B5EF4-FFF2-40B4-BE49-F238E27FC236}">
                <a16:creationId xmlns:a16="http://schemas.microsoft.com/office/drawing/2014/main" id="{7EF8E028-1BAC-A58C-F06B-477862B7D7EC}"/>
              </a:ext>
            </a:extLst>
          </p:cNvPr>
          <p:cNvSpPr/>
          <p:nvPr userDrawn="1"/>
        </p:nvSpPr>
        <p:spPr>
          <a:xfrm>
            <a:off x="0" y="6227064"/>
            <a:ext cx="12192000" cy="63093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Picture 10" descr="A white letter on a black background&#10;&#10;Description automatically generated">
            <a:extLst>
              <a:ext uri="{FF2B5EF4-FFF2-40B4-BE49-F238E27FC236}">
                <a16:creationId xmlns:a16="http://schemas.microsoft.com/office/drawing/2014/main" id="{80487A63-EC4D-A57A-3205-4682158B3292}"/>
              </a:ext>
            </a:extLst>
          </p:cNvPr>
          <p:cNvPicPr>
            <a:picLocks noChangeAspect="1"/>
          </p:cNvPicPr>
          <p:nvPr userDrawn="1"/>
        </p:nvPicPr>
        <p:blipFill>
          <a:blip r:embed="rId3"/>
          <a:stretch>
            <a:fillRect/>
          </a:stretch>
        </p:blipFill>
        <p:spPr>
          <a:xfrm>
            <a:off x="228600" y="6343765"/>
            <a:ext cx="2680334" cy="365760"/>
          </a:xfrm>
          <a:prstGeom prst="rect">
            <a:avLst/>
          </a:prstGeom>
        </p:spPr>
      </p:pic>
      <p:sp>
        <p:nvSpPr>
          <p:cNvPr id="12" name="TextBox 11">
            <a:extLst>
              <a:ext uri="{FF2B5EF4-FFF2-40B4-BE49-F238E27FC236}">
                <a16:creationId xmlns:a16="http://schemas.microsoft.com/office/drawing/2014/main" id="{1E0C9A83-1C21-4FEA-2938-4A255FF1101E}"/>
              </a:ext>
            </a:extLst>
          </p:cNvPr>
          <p:cNvSpPr txBox="1"/>
          <p:nvPr userDrawn="1"/>
        </p:nvSpPr>
        <p:spPr>
          <a:xfrm>
            <a:off x="9244584" y="6334621"/>
            <a:ext cx="2680334" cy="400110"/>
          </a:xfrm>
          <a:prstGeom prst="rect">
            <a:avLst/>
          </a:prstGeom>
          <a:noFill/>
        </p:spPr>
        <p:txBody>
          <a:bodyPr wrap="square" rtlCol="0">
            <a:spAutoFit/>
          </a:bodyPr>
          <a:lstStyle/>
          <a:p>
            <a:pPr algn="r"/>
            <a:r>
              <a:rPr lang="en-US" sz="2000" b="0" dirty="0">
                <a:solidFill>
                  <a:srgbClr val="FFFFFF"/>
                </a:solidFill>
                <a:latin typeface="Georgia" panose="02040502050405020303" pitchFamily="18" charset="0"/>
              </a:rPr>
              <a:t>Gateway</a:t>
            </a:r>
            <a:r>
              <a:rPr lang="en-US" dirty="0"/>
              <a:t> </a:t>
            </a:r>
            <a:r>
              <a:rPr lang="en-US" b="1" dirty="0">
                <a:solidFill>
                  <a:srgbClr val="D9D9D9"/>
                </a:solidFill>
              </a:rPr>
              <a:t>CURRICULUM</a:t>
            </a:r>
          </a:p>
        </p:txBody>
      </p:sp>
    </p:spTree>
    <p:extLst>
      <p:ext uri="{BB962C8B-B14F-4D97-AF65-F5344CB8AC3E}">
        <p14:creationId xmlns:p14="http://schemas.microsoft.com/office/powerpoint/2010/main" val="29398577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Blank Page + Headin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99C89A-E113-8FD1-80A4-C3CCC2575E28}"/>
              </a:ext>
            </a:extLst>
          </p:cNvPr>
          <p:cNvPicPr>
            <a:picLocks noChangeAspect="1"/>
          </p:cNvPicPr>
          <p:nvPr/>
        </p:nvPicPr>
        <p:blipFill>
          <a:blip r:embed="rId2" cstate="print">
            <a:extLst>
              <a:ext uri="{28A0092B-C50C-407E-A947-70E740481C1C}">
                <a14:useLocalDpi xmlns:a14="http://schemas.microsoft.com/office/drawing/2010/main" val="0"/>
              </a:ext>
            </a:extLst>
          </a:blip>
          <a:srcRect l="13692" t="-1224" r="36401" b="76083"/>
          <a:stretch>
            <a:fillRect/>
          </a:stretch>
        </p:blipFill>
        <p:spPr bwMode="auto">
          <a:xfrm>
            <a:off x="7611533" y="3892524"/>
            <a:ext cx="4580467" cy="2345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4" name="Rectangle 3">
            <a:extLst>
              <a:ext uri="{FF2B5EF4-FFF2-40B4-BE49-F238E27FC236}">
                <a16:creationId xmlns:a16="http://schemas.microsoft.com/office/drawing/2014/main" id="{FC034DB5-E4C8-3A73-CBB7-D59B5DCB8726}"/>
              </a:ext>
            </a:extLst>
          </p:cNvPr>
          <p:cNvSpPr/>
          <p:nvPr/>
        </p:nvSpPr>
        <p:spPr>
          <a:xfrm>
            <a:off x="0" y="6227064"/>
            <a:ext cx="12192000" cy="63093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descr="A white letter on a black background&#10;&#10;Description automatically generated">
            <a:extLst>
              <a:ext uri="{FF2B5EF4-FFF2-40B4-BE49-F238E27FC236}">
                <a16:creationId xmlns:a16="http://schemas.microsoft.com/office/drawing/2014/main" id="{29A91069-2A62-FB20-CCFB-3D782454A007}"/>
              </a:ext>
            </a:extLst>
          </p:cNvPr>
          <p:cNvPicPr>
            <a:picLocks noChangeAspect="1"/>
          </p:cNvPicPr>
          <p:nvPr/>
        </p:nvPicPr>
        <p:blipFill>
          <a:blip r:embed="rId3"/>
          <a:stretch>
            <a:fillRect/>
          </a:stretch>
        </p:blipFill>
        <p:spPr>
          <a:xfrm>
            <a:off x="228600" y="6343765"/>
            <a:ext cx="2680334" cy="365760"/>
          </a:xfrm>
          <a:prstGeom prst="rect">
            <a:avLst/>
          </a:prstGeom>
        </p:spPr>
      </p:pic>
      <p:sp>
        <p:nvSpPr>
          <p:cNvPr id="6" name="TextBox 5">
            <a:extLst>
              <a:ext uri="{FF2B5EF4-FFF2-40B4-BE49-F238E27FC236}">
                <a16:creationId xmlns:a16="http://schemas.microsoft.com/office/drawing/2014/main" id="{DE2D591D-9A67-42FA-DF63-1DE7E032B9AB}"/>
              </a:ext>
            </a:extLst>
          </p:cNvPr>
          <p:cNvSpPr txBox="1"/>
          <p:nvPr/>
        </p:nvSpPr>
        <p:spPr>
          <a:xfrm>
            <a:off x="9244584" y="6334621"/>
            <a:ext cx="2680334" cy="400110"/>
          </a:xfrm>
          <a:prstGeom prst="rect">
            <a:avLst/>
          </a:prstGeom>
          <a:noFill/>
        </p:spPr>
        <p:txBody>
          <a:bodyPr wrap="square" rtlCol="0">
            <a:spAutoFit/>
          </a:bodyPr>
          <a:lstStyle/>
          <a:p>
            <a:pPr algn="r"/>
            <a:r>
              <a:rPr lang="en-US" sz="2000" b="0" dirty="0">
                <a:solidFill>
                  <a:srgbClr val="FFFFFF"/>
                </a:solidFill>
                <a:latin typeface="Georgia" panose="02040502050405020303" pitchFamily="18" charset="0"/>
              </a:rPr>
              <a:t>Gateway</a:t>
            </a:r>
            <a:r>
              <a:rPr lang="en-US" dirty="0"/>
              <a:t> </a:t>
            </a:r>
            <a:r>
              <a:rPr lang="en-US" b="1" dirty="0">
                <a:solidFill>
                  <a:srgbClr val="D9D9D9"/>
                </a:solidFill>
              </a:rPr>
              <a:t>CURRICULUM</a:t>
            </a:r>
          </a:p>
        </p:txBody>
      </p:sp>
      <p:pic>
        <p:nvPicPr>
          <p:cNvPr id="7" name="Picture 6">
            <a:extLst>
              <a:ext uri="{FF2B5EF4-FFF2-40B4-BE49-F238E27FC236}">
                <a16:creationId xmlns:a16="http://schemas.microsoft.com/office/drawing/2014/main" id="{B5AC19D9-2441-5B08-0D60-278B6BC0A37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3692" t="-1224" r="36401" b="76083"/>
          <a:stretch>
            <a:fillRect/>
          </a:stretch>
        </p:blipFill>
        <p:spPr bwMode="auto">
          <a:xfrm>
            <a:off x="7611533" y="3892524"/>
            <a:ext cx="4580467" cy="2345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F8800A55-C268-A7C6-3394-F3CFBFBC3E6F}"/>
              </a:ext>
            </a:extLst>
          </p:cNvPr>
          <p:cNvSpPr/>
          <p:nvPr userDrawn="1"/>
        </p:nvSpPr>
        <p:spPr>
          <a:xfrm>
            <a:off x="0" y="6227064"/>
            <a:ext cx="12192000" cy="63093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A white letter on a black background&#10;&#10;Description automatically generated">
            <a:extLst>
              <a:ext uri="{FF2B5EF4-FFF2-40B4-BE49-F238E27FC236}">
                <a16:creationId xmlns:a16="http://schemas.microsoft.com/office/drawing/2014/main" id="{25FCC43C-7191-39D2-8D93-52E3CAA63DCC}"/>
              </a:ext>
            </a:extLst>
          </p:cNvPr>
          <p:cNvPicPr>
            <a:picLocks noChangeAspect="1"/>
          </p:cNvPicPr>
          <p:nvPr userDrawn="1"/>
        </p:nvPicPr>
        <p:blipFill>
          <a:blip r:embed="rId3"/>
          <a:stretch>
            <a:fillRect/>
          </a:stretch>
        </p:blipFill>
        <p:spPr>
          <a:xfrm>
            <a:off x="228600" y="6343765"/>
            <a:ext cx="2680334" cy="365760"/>
          </a:xfrm>
          <a:prstGeom prst="rect">
            <a:avLst/>
          </a:prstGeom>
        </p:spPr>
      </p:pic>
      <p:sp>
        <p:nvSpPr>
          <p:cNvPr id="10" name="TextBox 9">
            <a:extLst>
              <a:ext uri="{FF2B5EF4-FFF2-40B4-BE49-F238E27FC236}">
                <a16:creationId xmlns:a16="http://schemas.microsoft.com/office/drawing/2014/main" id="{29B9FED2-4FCA-BE55-FE77-E364D06DBC54}"/>
              </a:ext>
            </a:extLst>
          </p:cNvPr>
          <p:cNvSpPr txBox="1"/>
          <p:nvPr userDrawn="1"/>
        </p:nvSpPr>
        <p:spPr>
          <a:xfrm>
            <a:off x="9244584" y="6334621"/>
            <a:ext cx="2680334" cy="400110"/>
          </a:xfrm>
          <a:prstGeom prst="rect">
            <a:avLst/>
          </a:prstGeom>
          <a:noFill/>
        </p:spPr>
        <p:txBody>
          <a:bodyPr wrap="square" rtlCol="0">
            <a:spAutoFit/>
          </a:bodyPr>
          <a:lstStyle/>
          <a:p>
            <a:pPr algn="r"/>
            <a:r>
              <a:rPr lang="en-US" sz="2000" b="0" dirty="0">
                <a:solidFill>
                  <a:srgbClr val="FFFFFF"/>
                </a:solidFill>
                <a:latin typeface="Georgia" panose="02040502050405020303" pitchFamily="18" charset="0"/>
              </a:rPr>
              <a:t>Gateway</a:t>
            </a:r>
            <a:r>
              <a:rPr lang="en-US" dirty="0"/>
              <a:t> </a:t>
            </a:r>
            <a:r>
              <a:rPr lang="en-US" b="1" dirty="0">
                <a:solidFill>
                  <a:srgbClr val="D9D9D9"/>
                </a:solidFill>
              </a:rPr>
              <a:t>CURRICULUM</a:t>
            </a:r>
          </a:p>
        </p:txBody>
      </p:sp>
    </p:spTree>
    <p:extLst>
      <p:ext uri="{BB962C8B-B14F-4D97-AF65-F5344CB8AC3E}">
        <p14:creationId xmlns:p14="http://schemas.microsoft.com/office/powerpoint/2010/main" val="37234213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Slide">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7D129595-60A6-DB50-E7E9-D62A64BD127C}"/>
              </a:ext>
            </a:extLst>
          </p:cNvPr>
          <p:cNvPicPr>
            <a:picLocks noChangeAspect="1"/>
          </p:cNvPicPr>
          <p:nvPr/>
        </p:nvPicPr>
        <p:blipFill>
          <a:blip r:embed="rId2" cstate="print">
            <a:extLst>
              <a:ext uri="{28A0092B-C50C-407E-A947-70E740481C1C}">
                <a14:useLocalDpi xmlns:a14="http://schemas.microsoft.com/office/drawing/2010/main" val="0"/>
              </a:ext>
            </a:extLst>
          </a:blip>
          <a:srcRect l="13692" t="-1224" r="36401" b="76083"/>
          <a:stretch>
            <a:fillRect/>
          </a:stretch>
        </p:blipFill>
        <p:spPr bwMode="auto">
          <a:xfrm>
            <a:off x="7611533" y="3892524"/>
            <a:ext cx="4580467" cy="2345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A717417C-EA4E-5524-D7C3-55FA4E1772FA}"/>
              </a:ext>
            </a:extLst>
          </p:cNvPr>
          <p:cNvSpPr/>
          <p:nvPr/>
        </p:nvSpPr>
        <p:spPr>
          <a:xfrm>
            <a:off x="0" y="6227064"/>
            <a:ext cx="12192000" cy="63093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descr="A white letter on a black background&#10;&#10;Description automatically generated">
            <a:extLst>
              <a:ext uri="{FF2B5EF4-FFF2-40B4-BE49-F238E27FC236}">
                <a16:creationId xmlns:a16="http://schemas.microsoft.com/office/drawing/2014/main" id="{699859BB-B5FD-F533-8BA6-0BAF240E2653}"/>
              </a:ext>
            </a:extLst>
          </p:cNvPr>
          <p:cNvPicPr>
            <a:picLocks noChangeAspect="1"/>
          </p:cNvPicPr>
          <p:nvPr/>
        </p:nvPicPr>
        <p:blipFill>
          <a:blip r:embed="rId3"/>
          <a:stretch>
            <a:fillRect/>
          </a:stretch>
        </p:blipFill>
        <p:spPr>
          <a:xfrm>
            <a:off x="228600" y="6343765"/>
            <a:ext cx="2680334" cy="365760"/>
          </a:xfrm>
          <a:prstGeom prst="rect">
            <a:avLst/>
          </a:prstGeom>
        </p:spPr>
      </p:pic>
      <p:sp>
        <p:nvSpPr>
          <p:cNvPr id="4" name="TextBox 3">
            <a:extLst>
              <a:ext uri="{FF2B5EF4-FFF2-40B4-BE49-F238E27FC236}">
                <a16:creationId xmlns:a16="http://schemas.microsoft.com/office/drawing/2014/main" id="{4CC72FB5-277B-B49E-0BE3-C3D36D494839}"/>
              </a:ext>
            </a:extLst>
          </p:cNvPr>
          <p:cNvSpPr txBox="1"/>
          <p:nvPr/>
        </p:nvSpPr>
        <p:spPr>
          <a:xfrm>
            <a:off x="9244584" y="6325477"/>
            <a:ext cx="2680334" cy="400110"/>
          </a:xfrm>
          <a:prstGeom prst="rect">
            <a:avLst/>
          </a:prstGeom>
          <a:noFill/>
        </p:spPr>
        <p:txBody>
          <a:bodyPr wrap="square" rtlCol="0">
            <a:spAutoFit/>
          </a:bodyPr>
          <a:lstStyle/>
          <a:p>
            <a:pPr algn="r"/>
            <a:r>
              <a:rPr lang="en-US" sz="2000" b="0" dirty="0">
                <a:solidFill>
                  <a:srgbClr val="FFFFFF"/>
                </a:solidFill>
                <a:latin typeface="Georgia" panose="02040502050405020303" pitchFamily="18" charset="0"/>
              </a:rPr>
              <a:t>Gateway</a:t>
            </a:r>
            <a:r>
              <a:rPr lang="en-US" dirty="0"/>
              <a:t> </a:t>
            </a:r>
            <a:r>
              <a:rPr lang="en-US" b="1" dirty="0">
                <a:solidFill>
                  <a:srgbClr val="D9D9D9"/>
                </a:solidFill>
              </a:rPr>
              <a:t>CURRICULUM</a:t>
            </a:r>
          </a:p>
        </p:txBody>
      </p:sp>
      <p:pic>
        <p:nvPicPr>
          <p:cNvPr id="6" name="Picture 2">
            <a:extLst>
              <a:ext uri="{FF2B5EF4-FFF2-40B4-BE49-F238E27FC236}">
                <a16:creationId xmlns:a16="http://schemas.microsoft.com/office/drawing/2014/main" id="{722627D4-ADBB-5A45-3ECD-223FE7850AF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3692" t="-1224" r="36401" b="76083"/>
          <a:stretch>
            <a:fillRect/>
          </a:stretch>
        </p:blipFill>
        <p:spPr bwMode="auto">
          <a:xfrm>
            <a:off x="7611533" y="3892524"/>
            <a:ext cx="4580467" cy="2345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F6C528F4-C9D4-81ED-E7DA-D08AE25D7EAC}"/>
              </a:ext>
            </a:extLst>
          </p:cNvPr>
          <p:cNvSpPr/>
          <p:nvPr userDrawn="1"/>
        </p:nvSpPr>
        <p:spPr>
          <a:xfrm>
            <a:off x="0" y="6227064"/>
            <a:ext cx="12192000" cy="63093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descr="A white letter on a black background&#10;&#10;Description automatically generated">
            <a:extLst>
              <a:ext uri="{FF2B5EF4-FFF2-40B4-BE49-F238E27FC236}">
                <a16:creationId xmlns:a16="http://schemas.microsoft.com/office/drawing/2014/main" id="{A82E9455-BB99-DE55-F547-5BC5446C7296}"/>
              </a:ext>
            </a:extLst>
          </p:cNvPr>
          <p:cNvPicPr>
            <a:picLocks noChangeAspect="1"/>
          </p:cNvPicPr>
          <p:nvPr userDrawn="1"/>
        </p:nvPicPr>
        <p:blipFill>
          <a:blip r:embed="rId3"/>
          <a:stretch>
            <a:fillRect/>
          </a:stretch>
        </p:blipFill>
        <p:spPr>
          <a:xfrm>
            <a:off x="228600" y="6343765"/>
            <a:ext cx="2680334" cy="365760"/>
          </a:xfrm>
          <a:prstGeom prst="rect">
            <a:avLst/>
          </a:prstGeom>
        </p:spPr>
      </p:pic>
      <p:sp>
        <p:nvSpPr>
          <p:cNvPr id="9" name="TextBox 8">
            <a:extLst>
              <a:ext uri="{FF2B5EF4-FFF2-40B4-BE49-F238E27FC236}">
                <a16:creationId xmlns:a16="http://schemas.microsoft.com/office/drawing/2014/main" id="{2A3ED91D-BFE2-1742-B605-5C1EE43BC921}"/>
              </a:ext>
            </a:extLst>
          </p:cNvPr>
          <p:cNvSpPr txBox="1"/>
          <p:nvPr userDrawn="1"/>
        </p:nvSpPr>
        <p:spPr>
          <a:xfrm>
            <a:off x="9244584" y="6325477"/>
            <a:ext cx="2680334" cy="400110"/>
          </a:xfrm>
          <a:prstGeom prst="rect">
            <a:avLst/>
          </a:prstGeom>
          <a:noFill/>
        </p:spPr>
        <p:txBody>
          <a:bodyPr wrap="square" rtlCol="0">
            <a:spAutoFit/>
          </a:bodyPr>
          <a:lstStyle/>
          <a:p>
            <a:pPr algn="r"/>
            <a:r>
              <a:rPr lang="en-US" sz="2000" b="0" dirty="0">
                <a:solidFill>
                  <a:srgbClr val="FFFFFF"/>
                </a:solidFill>
                <a:latin typeface="Georgia" panose="02040502050405020303" pitchFamily="18" charset="0"/>
              </a:rPr>
              <a:t>Gateway</a:t>
            </a:r>
            <a:r>
              <a:rPr lang="en-US" dirty="0"/>
              <a:t> </a:t>
            </a:r>
            <a:r>
              <a:rPr lang="en-US" b="1" dirty="0">
                <a:solidFill>
                  <a:srgbClr val="D9D9D9"/>
                </a:solidFill>
              </a:rPr>
              <a:t>CURRICULUM</a:t>
            </a:r>
          </a:p>
        </p:txBody>
      </p:sp>
      <p:pic>
        <p:nvPicPr>
          <p:cNvPr id="10" name="Picture 9" descr="A red circle with a white line on it and a red pill&#10;&#10;AI-generated content may be incorrect.">
            <a:extLst>
              <a:ext uri="{FF2B5EF4-FFF2-40B4-BE49-F238E27FC236}">
                <a16:creationId xmlns:a16="http://schemas.microsoft.com/office/drawing/2014/main" id="{6CAF36E7-B6E8-76B1-6C09-062CD5B724EB}"/>
              </a:ext>
            </a:extLst>
          </p:cNvPr>
          <p:cNvPicPr>
            <a:picLocks noChangeAspect="1"/>
          </p:cNvPicPr>
          <p:nvPr userDrawn="1"/>
        </p:nvPicPr>
        <p:blipFill>
          <a:blip r:embed="rId4"/>
          <a:stretch>
            <a:fillRect/>
          </a:stretch>
        </p:blipFill>
        <p:spPr>
          <a:xfrm>
            <a:off x="172795" y="212927"/>
            <a:ext cx="602750" cy="602750"/>
          </a:xfrm>
          <a:prstGeom prst="rect">
            <a:avLst/>
          </a:prstGeom>
        </p:spPr>
      </p:pic>
    </p:spTree>
    <p:extLst>
      <p:ext uri="{BB962C8B-B14F-4D97-AF65-F5344CB8AC3E}">
        <p14:creationId xmlns:p14="http://schemas.microsoft.com/office/powerpoint/2010/main" val="30435492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End Shield on Re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F1C4CDF-2375-211A-3639-1AE0556212B5}"/>
              </a:ext>
            </a:extLst>
          </p:cNvPr>
          <p:cNvSpPr/>
          <p:nvPr/>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7" name="Picture 6" descr="A black and white logo&#10;&#10;Description automatically generated">
            <a:extLst>
              <a:ext uri="{FF2B5EF4-FFF2-40B4-BE49-F238E27FC236}">
                <a16:creationId xmlns:a16="http://schemas.microsoft.com/office/drawing/2014/main" id="{2D198818-6FED-6239-A0FA-34430A5D3234}"/>
              </a:ext>
            </a:extLst>
          </p:cNvPr>
          <p:cNvPicPr>
            <a:picLocks noChangeAspect="1"/>
          </p:cNvPicPr>
          <p:nvPr/>
        </p:nvPicPr>
        <p:blipFill>
          <a:blip r:embed="rId2"/>
          <a:stretch>
            <a:fillRect/>
          </a:stretch>
        </p:blipFill>
        <p:spPr>
          <a:xfrm>
            <a:off x="5086350" y="2200994"/>
            <a:ext cx="2019300" cy="2298700"/>
          </a:xfrm>
          <a:prstGeom prst="rect">
            <a:avLst/>
          </a:prstGeom>
        </p:spPr>
      </p:pic>
      <p:sp>
        <p:nvSpPr>
          <p:cNvPr id="2" name="Rectangle 1">
            <a:extLst>
              <a:ext uri="{FF2B5EF4-FFF2-40B4-BE49-F238E27FC236}">
                <a16:creationId xmlns:a16="http://schemas.microsoft.com/office/drawing/2014/main" id="{2B25DAEA-5AD0-9091-0A84-81263DB79D3D}"/>
              </a:ext>
            </a:extLst>
          </p:cNvPr>
          <p:cNvSpPr/>
          <p:nvPr userDrawn="1"/>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3" name="Picture 2" descr="A black and white logo&#10;&#10;Description automatically generated">
            <a:extLst>
              <a:ext uri="{FF2B5EF4-FFF2-40B4-BE49-F238E27FC236}">
                <a16:creationId xmlns:a16="http://schemas.microsoft.com/office/drawing/2014/main" id="{B7029198-80B9-D40F-4AD4-9D43C397ECB0}"/>
              </a:ext>
            </a:extLst>
          </p:cNvPr>
          <p:cNvPicPr>
            <a:picLocks noChangeAspect="1"/>
          </p:cNvPicPr>
          <p:nvPr userDrawn="1"/>
        </p:nvPicPr>
        <p:blipFill>
          <a:blip r:embed="rId2"/>
          <a:stretch>
            <a:fillRect/>
          </a:stretch>
        </p:blipFill>
        <p:spPr>
          <a:xfrm>
            <a:off x="5086350" y="2200994"/>
            <a:ext cx="2019300" cy="2298700"/>
          </a:xfrm>
          <a:prstGeom prst="rect">
            <a:avLst/>
          </a:prstGeom>
        </p:spPr>
      </p:pic>
    </p:spTree>
    <p:extLst>
      <p:ext uri="{BB962C8B-B14F-4D97-AF65-F5344CB8AC3E}">
        <p14:creationId xmlns:p14="http://schemas.microsoft.com/office/powerpoint/2010/main" val="2072207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End Shield + UR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F1C4CDF-2375-211A-3639-1AE0556212B5}"/>
              </a:ext>
            </a:extLst>
          </p:cNvPr>
          <p:cNvSpPr/>
          <p:nvPr/>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7" name="Picture 6" descr="A black and white logo&#10;&#10;Description automatically generated">
            <a:extLst>
              <a:ext uri="{FF2B5EF4-FFF2-40B4-BE49-F238E27FC236}">
                <a16:creationId xmlns:a16="http://schemas.microsoft.com/office/drawing/2014/main" id="{2D198818-6FED-6239-A0FA-34430A5D3234}"/>
              </a:ext>
            </a:extLst>
          </p:cNvPr>
          <p:cNvPicPr>
            <a:picLocks noChangeAspect="1"/>
          </p:cNvPicPr>
          <p:nvPr/>
        </p:nvPicPr>
        <p:blipFill>
          <a:blip r:embed="rId2"/>
          <a:stretch>
            <a:fillRect/>
          </a:stretch>
        </p:blipFill>
        <p:spPr>
          <a:xfrm>
            <a:off x="5086350" y="1470556"/>
            <a:ext cx="2019300" cy="2298700"/>
          </a:xfrm>
          <a:prstGeom prst="rect">
            <a:avLst/>
          </a:prstGeom>
        </p:spPr>
      </p:pic>
      <p:sp>
        <p:nvSpPr>
          <p:cNvPr id="3" name="Text Placeholder 2">
            <a:extLst>
              <a:ext uri="{FF2B5EF4-FFF2-40B4-BE49-F238E27FC236}">
                <a16:creationId xmlns:a16="http://schemas.microsoft.com/office/drawing/2014/main" id="{75315169-83D1-5C16-DD36-02A984D860F2}"/>
              </a:ext>
            </a:extLst>
          </p:cNvPr>
          <p:cNvSpPr>
            <a:spLocks noGrp="1"/>
          </p:cNvSpPr>
          <p:nvPr>
            <p:ph type="body" sz="quarter" idx="10" hasCustomPrompt="1"/>
          </p:nvPr>
        </p:nvSpPr>
        <p:spPr>
          <a:xfrm>
            <a:off x="0" y="4640121"/>
            <a:ext cx="12192000" cy="1122731"/>
          </a:xfrm>
        </p:spPr>
        <p:txBody>
          <a:bodyPr>
            <a:normAutofit/>
          </a:bodyPr>
          <a:lstStyle>
            <a:lvl1pPr marL="0" indent="0" algn="ctr">
              <a:buNone/>
              <a:defRPr sz="6000">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US" dirty="0" err="1"/>
              <a:t>medicine.washu.edu</a:t>
            </a:r>
            <a:endParaRPr lang="en-US" dirty="0"/>
          </a:p>
        </p:txBody>
      </p:sp>
      <p:sp>
        <p:nvSpPr>
          <p:cNvPr id="2" name="Rectangle 1">
            <a:extLst>
              <a:ext uri="{FF2B5EF4-FFF2-40B4-BE49-F238E27FC236}">
                <a16:creationId xmlns:a16="http://schemas.microsoft.com/office/drawing/2014/main" id="{A772E38D-7BE4-E0A0-5C29-9954976793B8}"/>
              </a:ext>
            </a:extLst>
          </p:cNvPr>
          <p:cNvSpPr/>
          <p:nvPr userDrawn="1"/>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5" name="Picture 4" descr="A black and white logo&#10;&#10;Description automatically generated">
            <a:extLst>
              <a:ext uri="{FF2B5EF4-FFF2-40B4-BE49-F238E27FC236}">
                <a16:creationId xmlns:a16="http://schemas.microsoft.com/office/drawing/2014/main" id="{CAE629EE-E493-F3B2-9134-AE61F8E6E903}"/>
              </a:ext>
            </a:extLst>
          </p:cNvPr>
          <p:cNvPicPr>
            <a:picLocks noChangeAspect="1"/>
          </p:cNvPicPr>
          <p:nvPr userDrawn="1"/>
        </p:nvPicPr>
        <p:blipFill>
          <a:blip r:embed="rId2"/>
          <a:stretch>
            <a:fillRect/>
          </a:stretch>
        </p:blipFill>
        <p:spPr>
          <a:xfrm>
            <a:off x="5086350" y="1470556"/>
            <a:ext cx="2019300" cy="2298700"/>
          </a:xfrm>
          <a:prstGeom prst="rect">
            <a:avLst/>
          </a:prstGeom>
        </p:spPr>
      </p:pic>
    </p:spTree>
    <p:extLst>
      <p:ext uri="{BB962C8B-B14F-4D97-AF65-F5344CB8AC3E}">
        <p14:creationId xmlns:p14="http://schemas.microsoft.com/office/powerpoint/2010/main" val="133300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End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F1C4CDF-2375-211A-3639-1AE0556212B5}"/>
              </a:ext>
            </a:extLst>
          </p:cNvPr>
          <p:cNvSpPr/>
          <p:nvPr/>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2" name="Picture 1" descr="A white letter on a black background&#10;&#10;Description automatically generated">
            <a:extLst>
              <a:ext uri="{FF2B5EF4-FFF2-40B4-BE49-F238E27FC236}">
                <a16:creationId xmlns:a16="http://schemas.microsoft.com/office/drawing/2014/main" id="{FCB21FA1-D150-6D2B-39E2-A520DCC6B458}"/>
              </a:ext>
            </a:extLst>
          </p:cNvPr>
          <p:cNvPicPr>
            <a:picLocks noChangeAspect="1"/>
          </p:cNvPicPr>
          <p:nvPr/>
        </p:nvPicPr>
        <p:blipFill>
          <a:blip r:embed="rId2"/>
          <a:stretch>
            <a:fillRect/>
          </a:stretch>
        </p:blipFill>
        <p:spPr>
          <a:xfrm>
            <a:off x="2583803" y="2831163"/>
            <a:ext cx="7024393" cy="958553"/>
          </a:xfrm>
          <a:prstGeom prst="rect">
            <a:avLst/>
          </a:prstGeom>
        </p:spPr>
      </p:pic>
      <p:sp>
        <p:nvSpPr>
          <p:cNvPr id="3" name="Rectangle 2">
            <a:extLst>
              <a:ext uri="{FF2B5EF4-FFF2-40B4-BE49-F238E27FC236}">
                <a16:creationId xmlns:a16="http://schemas.microsoft.com/office/drawing/2014/main" id="{58D9ACF1-5DAA-C19C-C3F7-FCDB1EC1A6D5}"/>
              </a:ext>
            </a:extLst>
          </p:cNvPr>
          <p:cNvSpPr/>
          <p:nvPr userDrawn="1"/>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5" name="Picture 4" descr="A white letter on a black background&#10;&#10;Description automatically generated">
            <a:extLst>
              <a:ext uri="{FF2B5EF4-FFF2-40B4-BE49-F238E27FC236}">
                <a16:creationId xmlns:a16="http://schemas.microsoft.com/office/drawing/2014/main" id="{C6B6CA43-8444-D917-B736-11156BABDBC2}"/>
              </a:ext>
            </a:extLst>
          </p:cNvPr>
          <p:cNvPicPr>
            <a:picLocks noChangeAspect="1"/>
          </p:cNvPicPr>
          <p:nvPr userDrawn="1"/>
        </p:nvPicPr>
        <p:blipFill>
          <a:blip r:embed="rId2"/>
          <a:stretch>
            <a:fillRect/>
          </a:stretch>
        </p:blipFill>
        <p:spPr>
          <a:xfrm>
            <a:off x="2583803" y="2831163"/>
            <a:ext cx="7024393" cy="958553"/>
          </a:xfrm>
          <a:prstGeom prst="rect">
            <a:avLst/>
          </a:prstGeom>
        </p:spPr>
      </p:pic>
    </p:spTree>
    <p:extLst>
      <p:ext uri="{BB962C8B-B14F-4D97-AF65-F5344CB8AC3E}">
        <p14:creationId xmlns:p14="http://schemas.microsoft.com/office/powerpoint/2010/main" val="3246435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 Contact Info">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56CD29E-D4B6-BDD7-8C35-5E5CE5AF3725}"/>
              </a:ext>
            </a:extLst>
          </p:cNvPr>
          <p:cNvSpPr/>
          <p:nvPr/>
        </p:nvSpPr>
        <p:spPr>
          <a:xfrm>
            <a:off x="0" y="0"/>
            <a:ext cx="12199161" cy="2716120"/>
          </a:xfrm>
          <a:custGeom>
            <a:avLst/>
            <a:gdLst>
              <a:gd name="connsiteX0" fmla="*/ 0 w 12199161"/>
              <a:gd name="connsiteY0" fmla="*/ 0 h 2716120"/>
              <a:gd name="connsiteX1" fmla="*/ 12192000 w 12199161"/>
              <a:gd name="connsiteY1" fmla="*/ 0 h 2716120"/>
              <a:gd name="connsiteX2" fmla="*/ 12192000 w 12199161"/>
              <a:gd name="connsiteY2" fmla="*/ 904598 h 2716120"/>
              <a:gd name="connsiteX3" fmla="*/ 12199161 w 12199161"/>
              <a:gd name="connsiteY3" fmla="*/ 904598 h 2716120"/>
              <a:gd name="connsiteX4" fmla="*/ 12199161 w 12199161"/>
              <a:gd name="connsiteY4" fmla="*/ 2033321 h 2716120"/>
              <a:gd name="connsiteX5" fmla="*/ 0 w 12199161"/>
              <a:gd name="connsiteY5" fmla="*/ 2033321 h 2716120"/>
              <a:gd name="connsiteX6" fmla="*/ 0 w 12199161"/>
              <a:gd name="connsiteY6" fmla="*/ 1575694 h 2716120"/>
              <a:gd name="connsiteX7" fmla="*/ 0 w 12199161"/>
              <a:gd name="connsiteY7" fmla="*/ 904597 h 271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9161" h="2716120">
                <a:moveTo>
                  <a:pt x="0" y="0"/>
                </a:moveTo>
                <a:lnTo>
                  <a:pt x="12192000" y="0"/>
                </a:lnTo>
                <a:lnTo>
                  <a:pt x="12192000" y="904598"/>
                </a:lnTo>
                <a:lnTo>
                  <a:pt x="12199161" y="904598"/>
                </a:lnTo>
                <a:lnTo>
                  <a:pt x="12199161" y="2033321"/>
                </a:lnTo>
                <a:cubicBezTo>
                  <a:pt x="8161348" y="2833421"/>
                  <a:pt x="4795049" y="3047734"/>
                  <a:pt x="0" y="2033321"/>
                </a:cubicBezTo>
                <a:lnTo>
                  <a:pt x="0" y="1575694"/>
                </a:lnTo>
                <a:lnTo>
                  <a:pt x="0" y="904597"/>
                </a:ln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pic>
        <p:nvPicPr>
          <p:cNvPr id="2" name="Picture 1" descr="A white letter on a black background&#10;&#10;Description automatically generated">
            <a:extLst>
              <a:ext uri="{FF2B5EF4-FFF2-40B4-BE49-F238E27FC236}">
                <a16:creationId xmlns:a16="http://schemas.microsoft.com/office/drawing/2014/main" id="{FCB21FA1-D150-6D2B-39E2-A520DCC6B458}"/>
              </a:ext>
            </a:extLst>
          </p:cNvPr>
          <p:cNvPicPr>
            <a:picLocks noChangeAspect="1"/>
          </p:cNvPicPr>
          <p:nvPr/>
        </p:nvPicPr>
        <p:blipFill>
          <a:blip r:embed="rId2"/>
          <a:stretch>
            <a:fillRect/>
          </a:stretch>
        </p:blipFill>
        <p:spPr>
          <a:xfrm>
            <a:off x="933908" y="799883"/>
            <a:ext cx="6037164" cy="823835"/>
          </a:xfrm>
          <a:prstGeom prst="rect">
            <a:avLst/>
          </a:prstGeom>
        </p:spPr>
      </p:pic>
      <p:sp>
        <p:nvSpPr>
          <p:cNvPr id="5" name="Text Placeholder 4">
            <a:extLst>
              <a:ext uri="{FF2B5EF4-FFF2-40B4-BE49-F238E27FC236}">
                <a16:creationId xmlns:a16="http://schemas.microsoft.com/office/drawing/2014/main" id="{A21C1655-D7D6-ECCF-79E4-CEB12032DF87}"/>
              </a:ext>
            </a:extLst>
          </p:cNvPr>
          <p:cNvSpPr>
            <a:spLocks noGrp="1"/>
          </p:cNvSpPr>
          <p:nvPr>
            <p:ph type="body" sz="quarter" idx="10" hasCustomPrompt="1"/>
          </p:nvPr>
        </p:nvSpPr>
        <p:spPr>
          <a:xfrm>
            <a:off x="4305794" y="3429000"/>
            <a:ext cx="5744817" cy="3020943"/>
          </a:xfrm>
          <a:solidFill>
            <a:schemeClr val="bg1"/>
          </a:solidFill>
        </p:spPr>
        <p:txBody>
          <a:bodyPr lIns="182880" tIns="182880" rIns="182880" bIns="182880"/>
          <a:lstStyle>
            <a:lvl1pPr marL="0" indent="0">
              <a:buNone/>
              <a:defRPr>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Placeholder for contact information</a:t>
            </a:r>
          </a:p>
          <a:p>
            <a:pPr lvl="0"/>
            <a:r>
              <a:rPr lang="en-US" dirty="0"/>
              <a:t>Business unit</a:t>
            </a:r>
          </a:p>
          <a:p>
            <a:pPr lvl="0"/>
            <a:r>
              <a:rPr lang="en-US" dirty="0"/>
              <a:t>Name, URL, contact info, etc.</a:t>
            </a:r>
          </a:p>
        </p:txBody>
      </p:sp>
      <p:sp>
        <p:nvSpPr>
          <p:cNvPr id="3" name="Freeform 5">
            <a:extLst>
              <a:ext uri="{FF2B5EF4-FFF2-40B4-BE49-F238E27FC236}">
                <a16:creationId xmlns:a16="http://schemas.microsoft.com/office/drawing/2014/main" id="{4E495481-08FA-1B79-91E8-CFA88638E09B}"/>
              </a:ext>
            </a:extLst>
          </p:cNvPr>
          <p:cNvSpPr/>
          <p:nvPr userDrawn="1"/>
        </p:nvSpPr>
        <p:spPr>
          <a:xfrm>
            <a:off x="0" y="0"/>
            <a:ext cx="12199161" cy="2716120"/>
          </a:xfrm>
          <a:custGeom>
            <a:avLst/>
            <a:gdLst>
              <a:gd name="connsiteX0" fmla="*/ 0 w 12199161"/>
              <a:gd name="connsiteY0" fmla="*/ 0 h 2716120"/>
              <a:gd name="connsiteX1" fmla="*/ 12192000 w 12199161"/>
              <a:gd name="connsiteY1" fmla="*/ 0 h 2716120"/>
              <a:gd name="connsiteX2" fmla="*/ 12192000 w 12199161"/>
              <a:gd name="connsiteY2" fmla="*/ 904598 h 2716120"/>
              <a:gd name="connsiteX3" fmla="*/ 12199161 w 12199161"/>
              <a:gd name="connsiteY3" fmla="*/ 904598 h 2716120"/>
              <a:gd name="connsiteX4" fmla="*/ 12199161 w 12199161"/>
              <a:gd name="connsiteY4" fmla="*/ 2033321 h 2716120"/>
              <a:gd name="connsiteX5" fmla="*/ 0 w 12199161"/>
              <a:gd name="connsiteY5" fmla="*/ 2033321 h 2716120"/>
              <a:gd name="connsiteX6" fmla="*/ 0 w 12199161"/>
              <a:gd name="connsiteY6" fmla="*/ 1575694 h 2716120"/>
              <a:gd name="connsiteX7" fmla="*/ 0 w 12199161"/>
              <a:gd name="connsiteY7" fmla="*/ 904597 h 271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9161" h="2716120">
                <a:moveTo>
                  <a:pt x="0" y="0"/>
                </a:moveTo>
                <a:lnTo>
                  <a:pt x="12192000" y="0"/>
                </a:lnTo>
                <a:lnTo>
                  <a:pt x="12192000" y="904598"/>
                </a:lnTo>
                <a:lnTo>
                  <a:pt x="12199161" y="904598"/>
                </a:lnTo>
                <a:lnTo>
                  <a:pt x="12199161" y="2033321"/>
                </a:lnTo>
                <a:cubicBezTo>
                  <a:pt x="8161348" y="2833421"/>
                  <a:pt x="4795049" y="3047734"/>
                  <a:pt x="0" y="2033321"/>
                </a:cubicBezTo>
                <a:lnTo>
                  <a:pt x="0" y="1575694"/>
                </a:lnTo>
                <a:lnTo>
                  <a:pt x="0" y="904597"/>
                </a:ln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pic>
        <p:nvPicPr>
          <p:cNvPr id="4" name="Picture 3" descr="A white letter on a black background&#10;&#10;Description automatically generated">
            <a:extLst>
              <a:ext uri="{FF2B5EF4-FFF2-40B4-BE49-F238E27FC236}">
                <a16:creationId xmlns:a16="http://schemas.microsoft.com/office/drawing/2014/main" id="{ED170504-B634-F72C-AD59-26DE41D5BB35}"/>
              </a:ext>
            </a:extLst>
          </p:cNvPr>
          <p:cNvPicPr>
            <a:picLocks noChangeAspect="1"/>
          </p:cNvPicPr>
          <p:nvPr userDrawn="1"/>
        </p:nvPicPr>
        <p:blipFill>
          <a:blip r:embed="rId2"/>
          <a:stretch>
            <a:fillRect/>
          </a:stretch>
        </p:blipFill>
        <p:spPr>
          <a:xfrm>
            <a:off x="933908" y="799883"/>
            <a:ext cx="6037164" cy="823835"/>
          </a:xfrm>
          <a:prstGeom prst="rect">
            <a:avLst/>
          </a:prstGeom>
        </p:spPr>
      </p:pic>
    </p:spTree>
    <p:extLst>
      <p:ext uri="{BB962C8B-B14F-4D97-AF65-F5344CB8AC3E}">
        <p14:creationId xmlns:p14="http://schemas.microsoft.com/office/powerpoint/2010/main" val="14109536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hoto + Large Shield">
    <p:spTree>
      <p:nvGrpSpPr>
        <p:cNvPr id="1" name=""/>
        <p:cNvGrpSpPr/>
        <p:nvPr/>
      </p:nvGrpSpPr>
      <p:grpSpPr>
        <a:xfrm>
          <a:off x="0" y="0"/>
          <a:ext cx="0" cy="0"/>
          <a:chOff x="0" y="0"/>
          <a:chExt cx="0" cy="0"/>
        </a:xfrm>
      </p:grpSpPr>
      <p:sp>
        <p:nvSpPr>
          <p:cNvPr id="11" name="Rectangle 10"/>
          <p:cNvSpPr/>
          <p:nvPr userDrawn="1"/>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7" name="Picture Placeholder 6">
            <a:extLst>
              <a:ext uri="{FF2B5EF4-FFF2-40B4-BE49-F238E27FC236}">
                <a16:creationId xmlns:a16="http://schemas.microsoft.com/office/drawing/2014/main" id="{0F679569-16F9-75AB-84F5-49646B6F0772}"/>
              </a:ext>
            </a:extLst>
          </p:cNvPr>
          <p:cNvSpPr>
            <a:spLocks noGrp="1"/>
          </p:cNvSpPr>
          <p:nvPr>
            <p:ph type="pic" sz="quarter" idx="10" hasCustomPrompt="1"/>
          </p:nvPr>
        </p:nvSpPr>
        <p:spPr>
          <a:xfrm>
            <a:off x="1" y="608867"/>
            <a:ext cx="7291754" cy="4455502"/>
          </a:xfrm>
          <a:solidFill>
            <a:schemeClr val="bg1"/>
          </a:solidFill>
        </p:spPr>
        <p:txBody>
          <a:bodyPr tIns="914400"/>
          <a:lstStyle>
            <a:lvl1pPr marL="0" indent="0" algn="ctr">
              <a:buNone/>
              <a:defRPr>
                <a:solidFill>
                  <a:schemeClr val="tx1"/>
                </a:solidFill>
              </a:defRPr>
            </a:lvl1pPr>
          </a:lstStyle>
          <a:p>
            <a:r>
              <a:rPr lang="en-US" dirty="0"/>
              <a:t>Click the icon </a:t>
            </a:r>
            <a:br>
              <a:rPr lang="en-US" dirty="0"/>
            </a:br>
            <a:r>
              <a:rPr lang="en-US" dirty="0"/>
              <a:t>to insert a photo</a:t>
            </a:r>
          </a:p>
        </p:txBody>
      </p:sp>
      <p:pic>
        <p:nvPicPr>
          <p:cNvPr id="3" name="Picture 2" descr="A black and white logo&#10;&#10;Description automatically generated">
            <a:extLst>
              <a:ext uri="{FF2B5EF4-FFF2-40B4-BE49-F238E27FC236}">
                <a16:creationId xmlns:a16="http://schemas.microsoft.com/office/drawing/2014/main" id="{D8C2AE61-3861-E970-4CC6-B7B1F2BFB133}"/>
              </a:ext>
            </a:extLst>
          </p:cNvPr>
          <p:cNvPicPr>
            <a:picLocks noChangeAspect="1"/>
          </p:cNvPicPr>
          <p:nvPr userDrawn="1"/>
        </p:nvPicPr>
        <p:blipFill rotWithShape="1">
          <a:blip r:embed="rId2"/>
          <a:srcRect r="28967"/>
          <a:stretch/>
        </p:blipFill>
        <p:spPr>
          <a:xfrm>
            <a:off x="8428891" y="413673"/>
            <a:ext cx="3763109" cy="6050852"/>
          </a:xfrm>
          <a:prstGeom prst="rect">
            <a:avLst/>
          </a:prstGeom>
        </p:spPr>
      </p:pic>
      <p:sp>
        <p:nvSpPr>
          <p:cNvPr id="2" name="Title 1">
            <a:extLst>
              <a:ext uri="{FF2B5EF4-FFF2-40B4-BE49-F238E27FC236}">
                <a16:creationId xmlns:a16="http://schemas.microsoft.com/office/drawing/2014/main" id="{D7224258-A6EE-0DE7-BFFF-04F6FEEA47AB}"/>
              </a:ext>
            </a:extLst>
          </p:cNvPr>
          <p:cNvSpPr>
            <a:spLocks noGrp="1"/>
          </p:cNvSpPr>
          <p:nvPr>
            <p:ph type="ctrTitle"/>
          </p:nvPr>
        </p:nvSpPr>
        <p:spPr>
          <a:xfrm>
            <a:off x="889194" y="5247442"/>
            <a:ext cx="6650503" cy="1217083"/>
          </a:xfrm>
        </p:spPr>
        <p:txBody>
          <a:bodyPr lIns="0" tIns="0" rIns="0" bIns="0"/>
          <a:lstStyle>
            <a:lvl1pPr algn="l">
              <a:defRPr sz="38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411813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Photo + Re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9823857-01C7-227F-5812-EFC41541971E}"/>
              </a:ext>
            </a:extLst>
          </p:cNvPr>
          <p:cNvSpPr>
            <a:spLocks noGrp="1"/>
          </p:cNvSpPr>
          <p:nvPr>
            <p:ph type="pic" sz="quarter" idx="10" hasCustomPrompt="1"/>
          </p:nvPr>
        </p:nvSpPr>
        <p:spPr>
          <a:xfrm>
            <a:off x="0" y="0"/>
            <a:ext cx="7498842" cy="6858000"/>
          </a:xfrm>
          <a:custGeom>
            <a:avLst/>
            <a:gdLst>
              <a:gd name="connsiteX0" fmla="*/ 0 w 7498842"/>
              <a:gd name="connsiteY0" fmla="*/ 0 h 6858000"/>
              <a:gd name="connsiteX1" fmla="*/ 7315200 w 7498842"/>
              <a:gd name="connsiteY1" fmla="*/ 0 h 6858000"/>
              <a:gd name="connsiteX2" fmla="*/ 7315200 w 7498842"/>
              <a:gd name="connsiteY2" fmla="*/ 6858000 h 6858000"/>
              <a:gd name="connsiteX3" fmla="*/ 0 w 74988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98842" h="6858000">
                <a:moveTo>
                  <a:pt x="0" y="0"/>
                </a:moveTo>
                <a:lnTo>
                  <a:pt x="7315200" y="0"/>
                </a:lnTo>
                <a:cubicBezTo>
                  <a:pt x="7558364" y="2107550"/>
                  <a:pt x="7561743" y="4869293"/>
                  <a:pt x="7315200" y="6858000"/>
                </a:cubicBezTo>
                <a:lnTo>
                  <a:pt x="0" y="6858000"/>
                </a:lnTo>
                <a:close/>
              </a:path>
            </a:pathLst>
          </a:custGeom>
        </p:spPr>
        <p:txBody>
          <a:bodyPr wrap="square" tIns="2011680">
            <a:noAutofit/>
          </a:bodyPr>
          <a:lstStyle>
            <a:lvl1pPr marL="0" indent="0" algn="ctr">
              <a:buNone/>
              <a:defRPr/>
            </a:lvl1pPr>
          </a:lstStyle>
          <a:p>
            <a:r>
              <a:rPr lang="en-US" dirty="0"/>
              <a:t>Click the icon</a:t>
            </a:r>
            <a:br>
              <a:rPr lang="en-US" dirty="0"/>
            </a:br>
            <a:r>
              <a:rPr lang="en-US" dirty="0"/>
              <a:t>to insert a photo</a:t>
            </a:r>
          </a:p>
        </p:txBody>
      </p:sp>
      <p:sp>
        <p:nvSpPr>
          <p:cNvPr id="10" name="Rectangle 4">
            <a:extLst>
              <a:ext uri="{FF2B5EF4-FFF2-40B4-BE49-F238E27FC236}">
                <a16:creationId xmlns:a16="http://schemas.microsoft.com/office/drawing/2014/main" id="{6DBFCBC7-E6CC-1BE8-34CF-BC704D60514A}"/>
              </a:ext>
            </a:extLst>
          </p:cNvPr>
          <p:cNvSpPr/>
          <p:nvPr userDrawn="1"/>
        </p:nvSpPr>
        <p:spPr>
          <a:xfrm>
            <a:off x="7315200" y="0"/>
            <a:ext cx="4876800" cy="6858000"/>
          </a:xfrm>
          <a:custGeom>
            <a:avLst/>
            <a:gdLst>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76800" h="6858000">
                <a:moveTo>
                  <a:pt x="0" y="0"/>
                </a:moveTo>
                <a:lnTo>
                  <a:pt x="4876800" y="0"/>
                </a:lnTo>
                <a:lnTo>
                  <a:pt x="4876800" y="6858000"/>
                </a:lnTo>
                <a:lnTo>
                  <a:pt x="0" y="6858000"/>
                </a:lnTo>
                <a:cubicBezTo>
                  <a:pt x="246543" y="4869293"/>
                  <a:pt x="243164" y="2107550"/>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271545" y="2792770"/>
            <a:ext cx="3338818" cy="1760941"/>
          </a:xfrm>
        </p:spPr>
        <p:txBody>
          <a:bodyPr lIns="0" tIns="0" rIns="0" bIns="0"/>
          <a:lstStyle>
            <a:lvl1pPr algn="l">
              <a:defRPr sz="38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8271543" y="4854870"/>
            <a:ext cx="3338819" cy="1465788"/>
          </a:xfrm>
        </p:spPr>
        <p:txBody>
          <a:bodyPr lIns="0" tIns="0" rIns="0" bIns="0"/>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6" name="Picture 5" descr="A white letter on a black background&#10;&#10;Description automatically generated">
            <a:extLst>
              <a:ext uri="{FF2B5EF4-FFF2-40B4-BE49-F238E27FC236}">
                <a16:creationId xmlns:a16="http://schemas.microsoft.com/office/drawing/2014/main" id="{CFAEF535-4812-6A5A-2E6A-6BAA02077A9C}"/>
              </a:ext>
            </a:extLst>
          </p:cNvPr>
          <p:cNvPicPr>
            <a:picLocks noChangeAspect="1"/>
          </p:cNvPicPr>
          <p:nvPr userDrawn="1"/>
        </p:nvPicPr>
        <p:blipFill>
          <a:blip r:embed="rId2"/>
          <a:stretch>
            <a:fillRect/>
          </a:stretch>
        </p:blipFill>
        <p:spPr>
          <a:xfrm>
            <a:off x="738068" y="5438509"/>
            <a:ext cx="4232517" cy="577572"/>
          </a:xfrm>
          <a:prstGeom prst="rect">
            <a:avLst/>
          </a:prstGeom>
        </p:spPr>
      </p:pic>
      <p:pic>
        <p:nvPicPr>
          <p:cNvPr id="4" name="Picture 3" descr="A black and white logo&#10;&#10;Description automatically generated">
            <a:extLst>
              <a:ext uri="{FF2B5EF4-FFF2-40B4-BE49-F238E27FC236}">
                <a16:creationId xmlns:a16="http://schemas.microsoft.com/office/drawing/2014/main" id="{EDA35DE8-69A7-6312-D5E8-614298BEB92E}"/>
              </a:ext>
            </a:extLst>
          </p:cNvPr>
          <p:cNvPicPr>
            <a:picLocks noChangeAspect="1"/>
          </p:cNvPicPr>
          <p:nvPr userDrawn="1"/>
        </p:nvPicPr>
        <p:blipFill>
          <a:blip r:embed="rId3"/>
          <a:stretch>
            <a:fillRect/>
          </a:stretch>
        </p:blipFill>
        <p:spPr>
          <a:xfrm>
            <a:off x="9939528" y="709934"/>
            <a:ext cx="1473736" cy="1677649"/>
          </a:xfrm>
          <a:prstGeom prst="rect">
            <a:avLst/>
          </a:prstGeom>
          <a:noFill/>
        </p:spPr>
      </p:pic>
      <p:pic>
        <p:nvPicPr>
          <p:cNvPr id="7" name="Picture 6" descr="A red circle with a white line on it and a red pill&#10;&#10;AI-generated content may be incorrect.">
            <a:extLst>
              <a:ext uri="{FF2B5EF4-FFF2-40B4-BE49-F238E27FC236}">
                <a16:creationId xmlns:a16="http://schemas.microsoft.com/office/drawing/2014/main" id="{D2CB2555-D63F-6D93-09C1-3E6AEB9D81C6}"/>
              </a:ext>
            </a:extLst>
          </p:cNvPr>
          <p:cNvPicPr>
            <a:picLocks noChangeAspect="1"/>
          </p:cNvPicPr>
          <p:nvPr userDrawn="1"/>
        </p:nvPicPr>
        <p:blipFill>
          <a:blip r:embed="rId4"/>
          <a:stretch>
            <a:fillRect/>
          </a:stretch>
        </p:blipFill>
        <p:spPr>
          <a:xfrm>
            <a:off x="172795" y="212927"/>
            <a:ext cx="602750" cy="602750"/>
          </a:xfrm>
          <a:prstGeom prst="rect">
            <a:avLst/>
          </a:prstGeom>
        </p:spPr>
      </p:pic>
    </p:spTree>
    <p:extLst>
      <p:ext uri="{BB962C8B-B14F-4D97-AF65-F5344CB8AC3E}">
        <p14:creationId xmlns:p14="http://schemas.microsoft.com/office/powerpoint/2010/main" val="18914763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Heading + Arc">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B55666E3-6E3E-D8FC-A328-74E347BB3A7A}"/>
              </a:ext>
            </a:extLst>
          </p:cNvPr>
          <p:cNvSpPr/>
          <p:nvPr userDrawn="1"/>
        </p:nvSpPr>
        <p:spPr>
          <a:xfrm>
            <a:off x="-1262" y="4209939"/>
            <a:ext cx="12192000" cy="2671745"/>
          </a:xfrm>
          <a:custGeom>
            <a:avLst/>
            <a:gdLst>
              <a:gd name="connsiteX0" fmla="*/ 12192000 w 12192000"/>
              <a:gd name="connsiteY0" fmla="*/ 0 h 2671745"/>
              <a:gd name="connsiteX1" fmla="*/ 12192000 w 12192000"/>
              <a:gd name="connsiteY1" fmla="*/ 585787 h 2671745"/>
              <a:gd name="connsiteX2" fmla="*/ 12192000 w 12192000"/>
              <a:gd name="connsiteY2" fmla="*/ 2085958 h 2671745"/>
              <a:gd name="connsiteX3" fmla="*/ 12192000 w 12192000"/>
              <a:gd name="connsiteY3" fmla="*/ 2671745 h 2671745"/>
              <a:gd name="connsiteX4" fmla="*/ 0 w 12192000"/>
              <a:gd name="connsiteY4" fmla="*/ 2671745 h 2671745"/>
              <a:gd name="connsiteX5" fmla="*/ 0 w 12192000"/>
              <a:gd name="connsiteY5" fmla="*/ 2085958 h 2671745"/>
              <a:gd name="connsiteX6" fmla="*/ 0 w 12192000"/>
              <a:gd name="connsiteY6" fmla="*/ 587245 h 2671745"/>
              <a:gd name="connsiteX7" fmla="*/ 0 w 12192000"/>
              <a:gd name="connsiteY7" fmla="*/ 1458 h 2671745"/>
              <a:gd name="connsiteX8" fmla="*/ 438287 w 12192000"/>
              <a:gd name="connsiteY8" fmla="*/ 91514 h 2671745"/>
              <a:gd name="connsiteX9" fmla="*/ 11442301 w 12192000"/>
              <a:gd name="connsiteY9" fmla="*/ 142990 h 267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2671745">
                <a:moveTo>
                  <a:pt x="12192000" y="0"/>
                </a:moveTo>
                <a:lnTo>
                  <a:pt x="12192000" y="585787"/>
                </a:lnTo>
                <a:lnTo>
                  <a:pt x="12192000" y="2085958"/>
                </a:lnTo>
                <a:lnTo>
                  <a:pt x="12192000" y="2671745"/>
                </a:lnTo>
                <a:lnTo>
                  <a:pt x="0" y="2671745"/>
                </a:lnTo>
                <a:lnTo>
                  <a:pt x="0" y="2085958"/>
                </a:lnTo>
                <a:lnTo>
                  <a:pt x="0" y="587245"/>
                </a:lnTo>
                <a:lnTo>
                  <a:pt x="0" y="1458"/>
                </a:lnTo>
                <a:lnTo>
                  <a:pt x="438287" y="91514"/>
                </a:lnTo>
                <a:cubicBezTo>
                  <a:pt x="4704734" y="941799"/>
                  <a:pt x="7851668" y="799446"/>
                  <a:pt x="11442301" y="142990"/>
                </a:cubicBez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solidFill>
                <a:schemeClr val="bg2"/>
              </a:solidFill>
            </a:endParaRPr>
          </a:p>
        </p:txBody>
      </p:sp>
      <p:sp>
        <p:nvSpPr>
          <p:cNvPr id="2" name="Title 1">
            <a:extLst>
              <a:ext uri="{FF2B5EF4-FFF2-40B4-BE49-F238E27FC236}">
                <a16:creationId xmlns:a16="http://schemas.microsoft.com/office/drawing/2014/main" id="{657A1572-60B6-D549-9E95-52CA0994EE62}"/>
              </a:ext>
            </a:extLst>
          </p:cNvPr>
          <p:cNvSpPr txBox="1">
            <a:spLocks/>
          </p:cNvSpPr>
          <p:nvPr userDrawn="1"/>
        </p:nvSpPr>
        <p:spPr>
          <a:xfrm>
            <a:off x="838200" y="2648061"/>
            <a:ext cx="10515600" cy="667481"/>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1" kern="1200">
                <a:solidFill>
                  <a:schemeClr val="tx1"/>
                </a:solidFill>
                <a:latin typeface="Georgia" panose="02040502050405020303" pitchFamily="18" charset="0"/>
                <a:ea typeface="Georgia" panose="02040502050405020303" pitchFamily="18" charset="0"/>
                <a:cs typeface="Times New Roman" charset="0"/>
              </a:defRPr>
            </a:lvl1pPr>
          </a:lstStyle>
          <a:p>
            <a:pPr algn="ctr"/>
            <a:endParaRPr lang="en-US" dirty="0"/>
          </a:p>
        </p:txBody>
      </p:sp>
      <p:sp>
        <p:nvSpPr>
          <p:cNvPr id="10" name="Title 1">
            <a:extLst>
              <a:ext uri="{FF2B5EF4-FFF2-40B4-BE49-F238E27FC236}">
                <a16:creationId xmlns:a16="http://schemas.microsoft.com/office/drawing/2014/main" id="{9CB16783-5851-963A-2CCA-2506FCB0466F}"/>
              </a:ext>
            </a:extLst>
          </p:cNvPr>
          <p:cNvSpPr>
            <a:spLocks noGrp="1"/>
          </p:cNvSpPr>
          <p:nvPr>
            <p:ph type="ctrTitle" hasCustomPrompt="1"/>
          </p:nvPr>
        </p:nvSpPr>
        <p:spPr>
          <a:xfrm>
            <a:off x="0" y="2796321"/>
            <a:ext cx="12192000" cy="667481"/>
          </a:xfrm>
          <a:prstGeom prst="rect">
            <a:avLst/>
          </a:prstGeom>
        </p:spPr>
        <p:txBody>
          <a:bodyPr anchor="b"/>
          <a:lstStyle>
            <a:lvl1pPr algn="ctr">
              <a:defRPr sz="4000" b="1">
                <a:solidFill>
                  <a:schemeClr val="tx2"/>
                </a:solidFill>
                <a:latin typeface="Georgia" panose="02040502050405020303" pitchFamily="18" charset="0"/>
              </a:defRPr>
            </a:lvl1pPr>
          </a:lstStyle>
          <a:p>
            <a:r>
              <a:rPr lang="en-US" dirty="0"/>
              <a:t>Click to edit Section title style</a:t>
            </a:r>
          </a:p>
        </p:txBody>
      </p:sp>
      <p:sp>
        <p:nvSpPr>
          <p:cNvPr id="11" name="Subtitle 2">
            <a:extLst>
              <a:ext uri="{FF2B5EF4-FFF2-40B4-BE49-F238E27FC236}">
                <a16:creationId xmlns:a16="http://schemas.microsoft.com/office/drawing/2014/main" id="{ACEDD667-6D50-436E-E4FC-3D2CFD5882D8}"/>
              </a:ext>
            </a:extLst>
          </p:cNvPr>
          <p:cNvSpPr>
            <a:spLocks noGrp="1"/>
          </p:cNvSpPr>
          <p:nvPr>
            <p:ph type="subTitle" idx="1" hasCustomPrompt="1"/>
          </p:nvPr>
        </p:nvSpPr>
        <p:spPr>
          <a:xfrm>
            <a:off x="7127" y="3724764"/>
            <a:ext cx="12192000" cy="336915"/>
          </a:xfrm>
          <a:prstGeom prst="rect">
            <a:avLst/>
          </a:prstGeom>
        </p:spPr>
        <p:txBody>
          <a:bodyPr>
            <a:noAutofit/>
          </a:bodyPr>
          <a:lstStyle>
            <a:lvl1pPr marL="0" indent="0" algn="ctr">
              <a:buNone/>
              <a:defRPr sz="2400">
                <a:solidFill>
                  <a:schemeClr val="tx1"/>
                </a:solidFill>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Section subtitle style</a:t>
            </a:r>
          </a:p>
        </p:txBody>
      </p:sp>
      <p:pic>
        <p:nvPicPr>
          <p:cNvPr id="5" name="Picture 4" descr="A black and white logo&#10;&#10;Description automatically generated">
            <a:extLst>
              <a:ext uri="{FF2B5EF4-FFF2-40B4-BE49-F238E27FC236}">
                <a16:creationId xmlns:a16="http://schemas.microsoft.com/office/drawing/2014/main" id="{A933EAA2-E186-D4F1-34B4-600EE73D0562}"/>
              </a:ext>
            </a:extLst>
          </p:cNvPr>
          <p:cNvPicPr>
            <a:picLocks noChangeAspect="1"/>
          </p:cNvPicPr>
          <p:nvPr userDrawn="1"/>
        </p:nvPicPr>
        <p:blipFill>
          <a:blip r:embed="rId2"/>
          <a:stretch>
            <a:fillRect/>
          </a:stretch>
        </p:blipFill>
        <p:spPr>
          <a:xfrm>
            <a:off x="5378134" y="671226"/>
            <a:ext cx="1463593" cy="1666103"/>
          </a:xfrm>
          <a:prstGeom prst="rect">
            <a:avLst/>
          </a:prstGeom>
        </p:spPr>
      </p:pic>
      <p:pic>
        <p:nvPicPr>
          <p:cNvPr id="4" name="Picture 3" descr="A red circle with a white line on it and a red pill&#10;&#10;AI-generated content may be incorrect.">
            <a:extLst>
              <a:ext uri="{FF2B5EF4-FFF2-40B4-BE49-F238E27FC236}">
                <a16:creationId xmlns:a16="http://schemas.microsoft.com/office/drawing/2014/main" id="{0A2DEC51-267D-8487-E58A-775CD4035857}"/>
              </a:ext>
            </a:extLst>
          </p:cNvPr>
          <p:cNvPicPr>
            <a:picLocks noChangeAspect="1"/>
          </p:cNvPicPr>
          <p:nvPr userDrawn="1"/>
        </p:nvPicPr>
        <p:blipFill>
          <a:blip r:embed="rId3"/>
          <a:stretch>
            <a:fillRect/>
          </a:stretch>
        </p:blipFill>
        <p:spPr>
          <a:xfrm>
            <a:off x="172795" y="212927"/>
            <a:ext cx="602750" cy="602750"/>
          </a:xfrm>
          <a:prstGeom prst="rect">
            <a:avLst/>
          </a:prstGeom>
        </p:spPr>
      </p:pic>
    </p:spTree>
    <p:extLst>
      <p:ext uri="{BB962C8B-B14F-4D97-AF65-F5344CB8AC3E}">
        <p14:creationId xmlns:p14="http://schemas.microsoft.com/office/powerpoint/2010/main" val="2103690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Photo + Arc">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9C89CF58-0182-1B7A-A772-66BD06B6FFAD}"/>
              </a:ext>
            </a:extLst>
          </p:cNvPr>
          <p:cNvSpPr/>
          <p:nvPr userDrawn="1"/>
        </p:nvSpPr>
        <p:spPr>
          <a:xfrm>
            <a:off x="0" y="4209939"/>
            <a:ext cx="12198096" cy="2671745"/>
          </a:xfrm>
          <a:custGeom>
            <a:avLst/>
            <a:gdLst>
              <a:gd name="connsiteX0" fmla="*/ 12192000 w 12192000"/>
              <a:gd name="connsiteY0" fmla="*/ 0 h 2671745"/>
              <a:gd name="connsiteX1" fmla="*/ 12192000 w 12192000"/>
              <a:gd name="connsiteY1" fmla="*/ 585787 h 2671745"/>
              <a:gd name="connsiteX2" fmla="*/ 12192000 w 12192000"/>
              <a:gd name="connsiteY2" fmla="*/ 2085958 h 2671745"/>
              <a:gd name="connsiteX3" fmla="*/ 12192000 w 12192000"/>
              <a:gd name="connsiteY3" fmla="*/ 2671745 h 2671745"/>
              <a:gd name="connsiteX4" fmla="*/ 0 w 12192000"/>
              <a:gd name="connsiteY4" fmla="*/ 2671745 h 2671745"/>
              <a:gd name="connsiteX5" fmla="*/ 0 w 12192000"/>
              <a:gd name="connsiteY5" fmla="*/ 2085958 h 2671745"/>
              <a:gd name="connsiteX6" fmla="*/ 0 w 12192000"/>
              <a:gd name="connsiteY6" fmla="*/ 587245 h 2671745"/>
              <a:gd name="connsiteX7" fmla="*/ 0 w 12192000"/>
              <a:gd name="connsiteY7" fmla="*/ 1458 h 2671745"/>
              <a:gd name="connsiteX8" fmla="*/ 438287 w 12192000"/>
              <a:gd name="connsiteY8" fmla="*/ 91514 h 2671745"/>
              <a:gd name="connsiteX9" fmla="*/ 11442301 w 12192000"/>
              <a:gd name="connsiteY9" fmla="*/ 142990 h 267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2671745">
                <a:moveTo>
                  <a:pt x="12192000" y="0"/>
                </a:moveTo>
                <a:lnTo>
                  <a:pt x="12192000" y="585787"/>
                </a:lnTo>
                <a:lnTo>
                  <a:pt x="12192000" y="2085958"/>
                </a:lnTo>
                <a:lnTo>
                  <a:pt x="12192000" y="2671745"/>
                </a:lnTo>
                <a:lnTo>
                  <a:pt x="0" y="2671745"/>
                </a:lnTo>
                <a:lnTo>
                  <a:pt x="0" y="2085958"/>
                </a:lnTo>
                <a:lnTo>
                  <a:pt x="0" y="587245"/>
                </a:lnTo>
                <a:lnTo>
                  <a:pt x="0" y="1458"/>
                </a:lnTo>
                <a:lnTo>
                  <a:pt x="438287" y="91514"/>
                </a:lnTo>
                <a:cubicBezTo>
                  <a:pt x="4704734" y="941799"/>
                  <a:pt x="7851668" y="799446"/>
                  <a:pt x="11442301" y="142990"/>
                </a:cubicBez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sp>
        <p:nvSpPr>
          <p:cNvPr id="11" name="Picture Placeholder 10">
            <a:extLst>
              <a:ext uri="{FF2B5EF4-FFF2-40B4-BE49-F238E27FC236}">
                <a16:creationId xmlns:a16="http://schemas.microsoft.com/office/drawing/2014/main" id="{B4658AFD-3F02-F6E2-BEF6-C80E8A2DB808}"/>
              </a:ext>
            </a:extLst>
          </p:cNvPr>
          <p:cNvSpPr>
            <a:spLocks noGrp="1"/>
          </p:cNvSpPr>
          <p:nvPr>
            <p:ph type="pic" sz="quarter" idx="10" hasCustomPrompt="1"/>
          </p:nvPr>
        </p:nvSpPr>
        <p:spPr>
          <a:xfrm>
            <a:off x="0" y="0"/>
            <a:ext cx="12192000" cy="4892731"/>
          </a:xfrm>
          <a:custGeom>
            <a:avLst/>
            <a:gdLst>
              <a:gd name="connsiteX0" fmla="*/ 0 w 12192000"/>
              <a:gd name="connsiteY0" fmla="*/ 0 h 4892731"/>
              <a:gd name="connsiteX1" fmla="*/ 12192000 w 12192000"/>
              <a:gd name="connsiteY1" fmla="*/ 0 h 4892731"/>
              <a:gd name="connsiteX2" fmla="*/ 12192000 w 12192000"/>
              <a:gd name="connsiteY2" fmla="*/ 4211101 h 4892731"/>
              <a:gd name="connsiteX3" fmla="*/ 11448022 w 12192000"/>
              <a:gd name="connsiteY3" fmla="*/ 4352929 h 4892731"/>
              <a:gd name="connsiteX4" fmla="*/ 438506 w 12192000"/>
              <a:gd name="connsiteY4" fmla="*/ 4301453 h 4892731"/>
              <a:gd name="connsiteX5" fmla="*/ 0 w 12192000"/>
              <a:gd name="connsiteY5" fmla="*/ 4211397 h 489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892731">
                <a:moveTo>
                  <a:pt x="0" y="0"/>
                </a:moveTo>
                <a:lnTo>
                  <a:pt x="12192000" y="0"/>
                </a:lnTo>
                <a:lnTo>
                  <a:pt x="12192000" y="4211101"/>
                </a:lnTo>
                <a:lnTo>
                  <a:pt x="11448022" y="4352929"/>
                </a:lnTo>
                <a:cubicBezTo>
                  <a:pt x="7855594" y="5009385"/>
                  <a:pt x="4707087" y="5151738"/>
                  <a:pt x="438506" y="4301453"/>
                </a:cubicBezTo>
                <a:lnTo>
                  <a:pt x="0" y="4211397"/>
                </a:lnTo>
                <a:close/>
              </a:path>
            </a:pathLst>
          </a:custGeom>
        </p:spPr>
        <p:txBody>
          <a:bodyPr wrap="square" tIns="1097280">
            <a:noAutofit/>
          </a:bodyPr>
          <a:lstStyle>
            <a:lvl1pPr marL="0" indent="0" algn="ctr">
              <a:buNone/>
              <a:defRPr/>
            </a:lvl1pPr>
          </a:lstStyle>
          <a:p>
            <a:r>
              <a:rPr lang="en-US" dirty="0"/>
              <a:t>Click the icon</a:t>
            </a:r>
            <a:br>
              <a:rPr lang="en-US" dirty="0"/>
            </a:br>
            <a:r>
              <a:rPr lang="en-US" dirty="0"/>
              <a:t>to insert a photo</a:t>
            </a:r>
          </a:p>
        </p:txBody>
      </p:sp>
      <p:sp>
        <p:nvSpPr>
          <p:cNvPr id="9" name="Title 1">
            <a:extLst>
              <a:ext uri="{FF2B5EF4-FFF2-40B4-BE49-F238E27FC236}">
                <a16:creationId xmlns:a16="http://schemas.microsoft.com/office/drawing/2014/main" id="{C8B47C0E-99AC-F609-752F-55B224D29C46}"/>
              </a:ext>
            </a:extLst>
          </p:cNvPr>
          <p:cNvSpPr>
            <a:spLocks noGrp="1"/>
          </p:cNvSpPr>
          <p:nvPr>
            <p:ph type="ctrTitle"/>
          </p:nvPr>
        </p:nvSpPr>
        <p:spPr>
          <a:xfrm>
            <a:off x="0" y="5136943"/>
            <a:ext cx="12199127" cy="1217083"/>
          </a:xfrm>
        </p:spPr>
        <p:txBody>
          <a:bodyPr lIns="0" tIns="0" rIns="0" bIns="0"/>
          <a:lstStyle>
            <a:lvl1pPr algn="ctr">
              <a:defRPr sz="3800">
                <a:solidFill>
                  <a:schemeClr val="bg1"/>
                </a:solidFill>
              </a:defRPr>
            </a:lvl1pPr>
          </a:lstStyle>
          <a:p>
            <a:r>
              <a:rPr lang="en-US" dirty="0"/>
              <a:t>Click to edit Master title style</a:t>
            </a:r>
          </a:p>
        </p:txBody>
      </p:sp>
      <p:pic>
        <p:nvPicPr>
          <p:cNvPr id="3" name="Picture 2" descr="A red circle with a white line on it and a red pill&#10;&#10;AI-generated content may be incorrect.">
            <a:extLst>
              <a:ext uri="{FF2B5EF4-FFF2-40B4-BE49-F238E27FC236}">
                <a16:creationId xmlns:a16="http://schemas.microsoft.com/office/drawing/2014/main" id="{419A060E-414F-543C-81C9-2161277F3956}"/>
              </a:ext>
            </a:extLst>
          </p:cNvPr>
          <p:cNvPicPr>
            <a:picLocks noChangeAspect="1"/>
          </p:cNvPicPr>
          <p:nvPr userDrawn="1"/>
        </p:nvPicPr>
        <p:blipFill>
          <a:blip r:embed="rId2"/>
          <a:stretch>
            <a:fillRect/>
          </a:stretch>
        </p:blipFill>
        <p:spPr>
          <a:xfrm>
            <a:off x="172795" y="212927"/>
            <a:ext cx="602750" cy="602750"/>
          </a:xfrm>
          <a:prstGeom prst="rect">
            <a:avLst/>
          </a:prstGeom>
        </p:spPr>
      </p:pic>
    </p:spTree>
    <p:extLst>
      <p:ext uri="{BB962C8B-B14F-4D97-AF65-F5344CB8AC3E}">
        <p14:creationId xmlns:p14="http://schemas.microsoft.com/office/powerpoint/2010/main" val="4162167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End Shield + UR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F1C4CDF-2375-211A-3639-1AE0556212B5}"/>
              </a:ext>
            </a:extLst>
          </p:cNvPr>
          <p:cNvSpPr/>
          <p:nvPr userDrawn="1"/>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7" name="Picture 6" descr="A black and white logo&#10;&#10;Description automatically generated">
            <a:extLst>
              <a:ext uri="{FF2B5EF4-FFF2-40B4-BE49-F238E27FC236}">
                <a16:creationId xmlns:a16="http://schemas.microsoft.com/office/drawing/2014/main" id="{2D198818-6FED-6239-A0FA-34430A5D3234}"/>
              </a:ext>
            </a:extLst>
          </p:cNvPr>
          <p:cNvPicPr>
            <a:picLocks noChangeAspect="1"/>
          </p:cNvPicPr>
          <p:nvPr userDrawn="1"/>
        </p:nvPicPr>
        <p:blipFill>
          <a:blip r:embed="rId2"/>
          <a:stretch>
            <a:fillRect/>
          </a:stretch>
        </p:blipFill>
        <p:spPr>
          <a:xfrm>
            <a:off x="5086350" y="1470556"/>
            <a:ext cx="2019300" cy="2298700"/>
          </a:xfrm>
          <a:prstGeom prst="rect">
            <a:avLst/>
          </a:prstGeom>
        </p:spPr>
      </p:pic>
      <p:sp>
        <p:nvSpPr>
          <p:cNvPr id="3" name="Text Placeholder 2">
            <a:extLst>
              <a:ext uri="{FF2B5EF4-FFF2-40B4-BE49-F238E27FC236}">
                <a16:creationId xmlns:a16="http://schemas.microsoft.com/office/drawing/2014/main" id="{75315169-83D1-5C16-DD36-02A984D860F2}"/>
              </a:ext>
            </a:extLst>
          </p:cNvPr>
          <p:cNvSpPr>
            <a:spLocks noGrp="1"/>
          </p:cNvSpPr>
          <p:nvPr>
            <p:ph type="body" sz="quarter" idx="10" hasCustomPrompt="1"/>
          </p:nvPr>
        </p:nvSpPr>
        <p:spPr>
          <a:xfrm>
            <a:off x="0" y="4640121"/>
            <a:ext cx="12192000" cy="1122731"/>
          </a:xfrm>
        </p:spPr>
        <p:txBody>
          <a:bodyPr>
            <a:normAutofit/>
          </a:bodyPr>
          <a:lstStyle>
            <a:lvl1pPr marL="0" indent="0" algn="ctr">
              <a:buNone/>
              <a:defRPr sz="6000">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US" dirty="0" err="1"/>
              <a:t>medicine.washu.edu</a:t>
            </a:r>
            <a:endParaRPr lang="en-US" dirty="0"/>
          </a:p>
        </p:txBody>
      </p:sp>
    </p:spTree>
    <p:extLst>
      <p:ext uri="{BB962C8B-B14F-4D97-AF65-F5344CB8AC3E}">
        <p14:creationId xmlns:p14="http://schemas.microsoft.com/office/powerpoint/2010/main" val="6301012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End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F1C4CDF-2375-211A-3639-1AE0556212B5}"/>
              </a:ext>
            </a:extLst>
          </p:cNvPr>
          <p:cNvSpPr/>
          <p:nvPr userDrawn="1"/>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2" name="Picture 1" descr="A white letter on a black background&#10;&#10;Description automatically generated">
            <a:extLst>
              <a:ext uri="{FF2B5EF4-FFF2-40B4-BE49-F238E27FC236}">
                <a16:creationId xmlns:a16="http://schemas.microsoft.com/office/drawing/2014/main" id="{FCB21FA1-D150-6D2B-39E2-A520DCC6B458}"/>
              </a:ext>
            </a:extLst>
          </p:cNvPr>
          <p:cNvPicPr>
            <a:picLocks noChangeAspect="1"/>
          </p:cNvPicPr>
          <p:nvPr userDrawn="1"/>
        </p:nvPicPr>
        <p:blipFill>
          <a:blip r:embed="rId2"/>
          <a:stretch>
            <a:fillRect/>
          </a:stretch>
        </p:blipFill>
        <p:spPr>
          <a:xfrm>
            <a:off x="2583803" y="2831163"/>
            <a:ext cx="7024393" cy="958553"/>
          </a:xfrm>
          <a:prstGeom prst="rect">
            <a:avLst/>
          </a:prstGeom>
        </p:spPr>
      </p:pic>
    </p:spTree>
    <p:extLst>
      <p:ext uri="{BB962C8B-B14F-4D97-AF65-F5344CB8AC3E}">
        <p14:creationId xmlns:p14="http://schemas.microsoft.com/office/powerpoint/2010/main" val="2998904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End Logo + Contact Info">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56CD29E-D4B6-BDD7-8C35-5E5CE5AF3725}"/>
              </a:ext>
            </a:extLst>
          </p:cNvPr>
          <p:cNvSpPr/>
          <p:nvPr userDrawn="1"/>
        </p:nvSpPr>
        <p:spPr>
          <a:xfrm>
            <a:off x="0" y="0"/>
            <a:ext cx="12199161" cy="2716120"/>
          </a:xfrm>
          <a:custGeom>
            <a:avLst/>
            <a:gdLst>
              <a:gd name="connsiteX0" fmla="*/ 0 w 12199161"/>
              <a:gd name="connsiteY0" fmla="*/ 0 h 2716120"/>
              <a:gd name="connsiteX1" fmla="*/ 12192000 w 12199161"/>
              <a:gd name="connsiteY1" fmla="*/ 0 h 2716120"/>
              <a:gd name="connsiteX2" fmla="*/ 12192000 w 12199161"/>
              <a:gd name="connsiteY2" fmla="*/ 904598 h 2716120"/>
              <a:gd name="connsiteX3" fmla="*/ 12199161 w 12199161"/>
              <a:gd name="connsiteY3" fmla="*/ 904598 h 2716120"/>
              <a:gd name="connsiteX4" fmla="*/ 12199161 w 12199161"/>
              <a:gd name="connsiteY4" fmla="*/ 2033321 h 2716120"/>
              <a:gd name="connsiteX5" fmla="*/ 0 w 12199161"/>
              <a:gd name="connsiteY5" fmla="*/ 2033321 h 2716120"/>
              <a:gd name="connsiteX6" fmla="*/ 0 w 12199161"/>
              <a:gd name="connsiteY6" fmla="*/ 1575694 h 2716120"/>
              <a:gd name="connsiteX7" fmla="*/ 0 w 12199161"/>
              <a:gd name="connsiteY7" fmla="*/ 904597 h 271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9161" h="2716120">
                <a:moveTo>
                  <a:pt x="0" y="0"/>
                </a:moveTo>
                <a:lnTo>
                  <a:pt x="12192000" y="0"/>
                </a:lnTo>
                <a:lnTo>
                  <a:pt x="12192000" y="904598"/>
                </a:lnTo>
                <a:lnTo>
                  <a:pt x="12199161" y="904598"/>
                </a:lnTo>
                <a:lnTo>
                  <a:pt x="12199161" y="2033321"/>
                </a:lnTo>
                <a:cubicBezTo>
                  <a:pt x="8161348" y="2833421"/>
                  <a:pt x="4795049" y="3047734"/>
                  <a:pt x="0" y="2033321"/>
                </a:cubicBezTo>
                <a:lnTo>
                  <a:pt x="0" y="1575694"/>
                </a:lnTo>
                <a:lnTo>
                  <a:pt x="0" y="904597"/>
                </a:ln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1800"/>
          </a:p>
        </p:txBody>
      </p:sp>
      <p:pic>
        <p:nvPicPr>
          <p:cNvPr id="2" name="Picture 1" descr="A white letter on a black background&#10;&#10;Description automatically generated">
            <a:extLst>
              <a:ext uri="{FF2B5EF4-FFF2-40B4-BE49-F238E27FC236}">
                <a16:creationId xmlns:a16="http://schemas.microsoft.com/office/drawing/2014/main" id="{FCB21FA1-D150-6D2B-39E2-A520DCC6B458}"/>
              </a:ext>
            </a:extLst>
          </p:cNvPr>
          <p:cNvPicPr>
            <a:picLocks noChangeAspect="1"/>
          </p:cNvPicPr>
          <p:nvPr userDrawn="1"/>
        </p:nvPicPr>
        <p:blipFill>
          <a:blip r:embed="rId2"/>
          <a:stretch>
            <a:fillRect/>
          </a:stretch>
        </p:blipFill>
        <p:spPr>
          <a:xfrm>
            <a:off x="933908" y="799883"/>
            <a:ext cx="6037164" cy="823835"/>
          </a:xfrm>
          <a:prstGeom prst="rect">
            <a:avLst/>
          </a:prstGeom>
        </p:spPr>
      </p:pic>
      <p:sp>
        <p:nvSpPr>
          <p:cNvPr id="5" name="Text Placeholder 4">
            <a:extLst>
              <a:ext uri="{FF2B5EF4-FFF2-40B4-BE49-F238E27FC236}">
                <a16:creationId xmlns:a16="http://schemas.microsoft.com/office/drawing/2014/main" id="{A21C1655-D7D6-ECCF-79E4-CEB12032DF87}"/>
              </a:ext>
            </a:extLst>
          </p:cNvPr>
          <p:cNvSpPr>
            <a:spLocks noGrp="1"/>
          </p:cNvSpPr>
          <p:nvPr>
            <p:ph type="body" sz="quarter" idx="10" hasCustomPrompt="1"/>
          </p:nvPr>
        </p:nvSpPr>
        <p:spPr>
          <a:xfrm>
            <a:off x="4305794" y="3429000"/>
            <a:ext cx="5744817" cy="3020943"/>
          </a:xfrm>
          <a:solidFill>
            <a:schemeClr val="bg1"/>
          </a:solidFill>
        </p:spPr>
        <p:txBody>
          <a:bodyPr lIns="182880" tIns="182880" rIns="182880" bIns="182880"/>
          <a:lstStyle>
            <a:lvl1pPr marL="0" indent="0">
              <a:buNone/>
              <a:defRPr>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Placeholder for contact information</a:t>
            </a:r>
          </a:p>
          <a:p>
            <a:pPr lvl="0"/>
            <a:r>
              <a:rPr lang="en-US" dirty="0"/>
              <a:t>Business unit</a:t>
            </a:r>
          </a:p>
          <a:p>
            <a:pPr lvl="0"/>
            <a:r>
              <a:rPr lang="en-US" dirty="0"/>
              <a:t>Name, URL, contact info, etc.</a:t>
            </a:r>
          </a:p>
        </p:txBody>
      </p:sp>
    </p:spTree>
    <p:extLst>
      <p:ext uri="{BB962C8B-B14F-4D97-AF65-F5344CB8AC3E}">
        <p14:creationId xmlns:p14="http://schemas.microsoft.com/office/powerpoint/2010/main" val="26776818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CB9241B-1521-3864-213A-FB3335DAF98E}"/>
              </a:ext>
            </a:extLst>
          </p:cNvPr>
          <p:cNvGrpSpPr/>
          <p:nvPr userDrawn="1"/>
        </p:nvGrpSpPr>
        <p:grpSpPr>
          <a:xfrm>
            <a:off x="0" y="4242470"/>
            <a:ext cx="12192000" cy="1242856"/>
            <a:chOff x="0" y="2870426"/>
            <a:chExt cx="12192000" cy="1242856"/>
          </a:xfrm>
        </p:grpSpPr>
        <p:sp>
          <p:nvSpPr>
            <p:cNvPr id="11" name="TextBox 10">
              <a:extLst>
                <a:ext uri="{FF2B5EF4-FFF2-40B4-BE49-F238E27FC236}">
                  <a16:creationId xmlns:a16="http://schemas.microsoft.com/office/drawing/2014/main" id="{A91CC1D4-EA38-5120-623A-7DE3D524042E}"/>
                </a:ext>
              </a:extLst>
            </p:cNvPr>
            <p:cNvSpPr txBox="1"/>
            <p:nvPr userDrawn="1"/>
          </p:nvSpPr>
          <p:spPr>
            <a:xfrm>
              <a:off x="0" y="3249228"/>
              <a:ext cx="12192000" cy="864054"/>
            </a:xfrm>
            <a:prstGeom prst="rect">
              <a:avLst/>
            </a:prstGeom>
            <a:noFill/>
          </p:spPr>
          <p:txBody>
            <a:bodyPr wrap="square" lIns="0" tIns="0" rIns="0" bIns="0" rtlCol="0">
              <a:noAutofit/>
            </a:bodyPr>
            <a:lstStyle/>
            <a:p>
              <a:pPr algn="ctr">
                <a:lnSpc>
                  <a:spcPct val="150000"/>
                </a:lnSpc>
              </a:pPr>
              <a:r>
                <a:rPr lang="en-US" sz="3000" spc="-50" dirty="0">
                  <a:solidFill>
                    <a:srgbClr val="BA0C2F"/>
                  </a:solidFill>
                  <a:latin typeface="Calibri" panose="020F0502020204030204"/>
                </a:rPr>
                <a:t>WashU School of Medicine Instructional Design Studio</a:t>
              </a:r>
            </a:p>
          </p:txBody>
        </p:sp>
        <p:sp>
          <p:nvSpPr>
            <p:cNvPr id="12" name="TextBox 11">
              <a:extLst>
                <a:ext uri="{FF2B5EF4-FFF2-40B4-BE49-F238E27FC236}">
                  <a16:creationId xmlns:a16="http://schemas.microsoft.com/office/drawing/2014/main" id="{284293C5-635A-9295-117E-95770ACEA0E0}"/>
                </a:ext>
              </a:extLst>
            </p:cNvPr>
            <p:cNvSpPr txBox="1"/>
            <p:nvPr userDrawn="1"/>
          </p:nvSpPr>
          <p:spPr>
            <a:xfrm>
              <a:off x="0" y="2870426"/>
              <a:ext cx="12192000" cy="495300"/>
            </a:xfrm>
            <a:prstGeom prst="rect">
              <a:avLst/>
            </a:prstGeom>
            <a:noFill/>
          </p:spPr>
          <p:txBody>
            <a:bodyPr wrap="square" lIns="0" tIns="0" rIns="0" bIns="0" rtlCol="0" anchor="ctr" anchorCtr="0">
              <a:noAutofit/>
            </a:bodyPr>
            <a:lstStyle/>
            <a:p>
              <a:pPr algn="ctr">
                <a:lnSpc>
                  <a:spcPct val="150000"/>
                </a:lnSpc>
                <a:tabLst>
                  <a:tab pos="7715250" algn="l"/>
                </a:tabLst>
              </a:pPr>
              <a:r>
                <a:rPr lang="en-US" sz="2600" spc="-50" dirty="0">
                  <a:solidFill>
                    <a:srgbClr val="000000"/>
                  </a:solidFill>
                  <a:latin typeface="Calibri" panose="020F0502020204030204"/>
                </a:rPr>
                <a:t>Made in collaboration and partnership with the</a:t>
              </a:r>
              <a:endParaRPr lang="en-US" sz="2600" b="1" spc="-50" dirty="0">
                <a:solidFill>
                  <a:srgbClr val="000000"/>
                </a:solidFill>
                <a:latin typeface="Calibri" panose="020F0502020204030204"/>
              </a:endParaRPr>
            </a:p>
          </p:txBody>
        </p:sp>
      </p:grpSp>
      <p:pic>
        <p:nvPicPr>
          <p:cNvPr id="13" name="Picture 12" descr="A black and white logo&#10;&#10;AI-generated content may be incorrect.">
            <a:extLst>
              <a:ext uri="{FF2B5EF4-FFF2-40B4-BE49-F238E27FC236}">
                <a16:creationId xmlns:a16="http://schemas.microsoft.com/office/drawing/2014/main" id="{914D4CF4-AD7F-A601-C961-80A7425EF362}"/>
              </a:ext>
            </a:extLst>
          </p:cNvPr>
          <p:cNvPicPr>
            <a:picLocks noChangeAspect="1"/>
          </p:cNvPicPr>
          <p:nvPr userDrawn="1"/>
        </p:nvPicPr>
        <p:blipFill>
          <a:blip r:embed="rId2"/>
          <a:stretch>
            <a:fillRect/>
          </a:stretch>
        </p:blipFill>
        <p:spPr>
          <a:xfrm>
            <a:off x="5249564" y="1700655"/>
            <a:ext cx="1692872" cy="1933986"/>
          </a:xfrm>
          <a:prstGeom prst="rect">
            <a:avLst/>
          </a:prstGeom>
        </p:spPr>
      </p:pic>
    </p:spTree>
    <p:extLst>
      <p:ext uri="{BB962C8B-B14F-4D97-AF65-F5344CB8AC3E}">
        <p14:creationId xmlns:p14="http://schemas.microsoft.com/office/powerpoint/2010/main" val="2088063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black background with a black square&#10;&#10;AI-generated content may be incorrect.">
            <a:extLst>
              <a:ext uri="{FF2B5EF4-FFF2-40B4-BE49-F238E27FC236}">
                <a16:creationId xmlns:a16="http://schemas.microsoft.com/office/drawing/2014/main" id="{1CA4F0AA-049F-EB4B-C67D-0B398383533E}"/>
              </a:ext>
            </a:extLst>
          </p:cNvPr>
          <p:cNvPicPr>
            <a:picLocks noChangeAspect="1"/>
          </p:cNvPicPr>
          <p:nvPr userDrawn="1"/>
        </p:nvPicPr>
        <p:blipFill>
          <a:blip r:embed="rId2"/>
          <a:stretch>
            <a:fillRect/>
          </a:stretch>
        </p:blipFill>
        <p:spPr>
          <a:xfrm>
            <a:off x="2583802" y="2831163"/>
            <a:ext cx="7022205" cy="958553"/>
          </a:xfrm>
          <a:prstGeom prst="rect">
            <a:avLst/>
          </a:prstGeom>
        </p:spPr>
      </p:pic>
    </p:spTree>
    <p:extLst>
      <p:ext uri="{BB962C8B-B14F-4D97-AF65-F5344CB8AC3E}">
        <p14:creationId xmlns:p14="http://schemas.microsoft.com/office/powerpoint/2010/main" val="2375831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23824" y="64327"/>
            <a:ext cx="11297790" cy="768414"/>
          </a:xfrm>
          <a:prstGeom prst="rect">
            <a:avLst/>
          </a:prstGeom>
        </p:spPr>
        <p:txBody>
          <a:bodyPr vert="horz" lIns="91440" tIns="45720" rIns="91440" bIns="45720" rtlCol="0" anchor="b" anchorCtr="0">
            <a:noAutofit/>
          </a:bodyPr>
          <a:lstStyle/>
          <a:p>
            <a:r>
              <a:rPr lang="en-US" dirty="0"/>
              <a:t>Click to edit Master title style</a:t>
            </a:r>
          </a:p>
        </p:txBody>
      </p:sp>
      <p:sp>
        <p:nvSpPr>
          <p:cNvPr id="3" name="Text Placeholder 2"/>
          <p:cNvSpPr>
            <a:spLocks noGrp="1"/>
          </p:cNvSpPr>
          <p:nvPr>
            <p:ph type="body" idx="1"/>
          </p:nvPr>
        </p:nvSpPr>
        <p:spPr>
          <a:xfrm>
            <a:off x="922829" y="1085914"/>
            <a:ext cx="11298785" cy="54864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9" name="Picture 8" descr="A red circle with a white line on it and a red pill&#10;&#10;AI-generated content may be incorrect.">
            <a:extLst>
              <a:ext uri="{FF2B5EF4-FFF2-40B4-BE49-F238E27FC236}">
                <a16:creationId xmlns:a16="http://schemas.microsoft.com/office/drawing/2014/main" id="{2ACF8AE0-38C3-4DA5-034D-2EC22BFC5E91}"/>
              </a:ext>
            </a:extLst>
          </p:cNvPr>
          <p:cNvPicPr>
            <a:picLocks noChangeAspect="1"/>
          </p:cNvPicPr>
          <p:nvPr userDrawn="1"/>
        </p:nvPicPr>
        <p:blipFill>
          <a:blip r:embed="rId23"/>
          <a:stretch>
            <a:fillRect/>
          </a:stretch>
        </p:blipFill>
        <p:spPr>
          <a:xfrm>
            <a:off x="172795" y="212927"/>
            <a:ext cx="602750" cy="602750"/>
          </a:xfrm>
          <a:prstGeom prst="rect">
            <a:avLst/>
          </a:prstGeom>
        </p:spPr>
      </p:pic>
    </p:spTree>
    <p:extLst>
      <p:ext uri="{BB962C8B-B14F-4D97-AF65-F5344CB8AC3E}">
        <p14:creationId xmlns:p14="http://schemas.microsoft.com/office/powerpoint/2010/main" val="75362738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678" r:id="rId15"/>
    <p:sldLayoutId id="2147483695" r:id="rId16"/>
    <p:sldLayoutId id="2147483694" r:id="rId17"/>
    <p:sldLayoutId id="2147483686" r:id="rId18"/>
    <p:sldLayoutId id="2147483696" r:id="rId19"/>
    <p:sldLayoutId id="2147483697" r:id="rId20"/>
    <p:sldLayoutId id="2147483698"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457200" rtl="0" eaLnBrk="1" latinLnBrk="0" hangingPunct="1">
        <a:spcBef>
          <a:spcPct val="0"/>
        </a:spcBef>
        <a:buNone/>
        <a:defRPr sz="3600" b="1" kern="1200">
          <a:solidFill>
            <a:schemeClr val="tx2"/>
          </a:solidFill>
          <a:latin typeface="Georgia" panose="02040502050405020303" pitchFamily="18" charset="0"/>
          <a:ea typeface="Georgia" panose="02040502050405020303" pitchFamily="18" charset="0"/>
          <a:cs typeface="Times New Roman" charset="0"/>
        </a:defRPr>
      </a:lvl1pPr>
    </p:titleStyle>
    <p:bodyStyle>
      <a:lvl1pPr marL="233363" indent="-233363" algn="l" defTabSz="457200" rtl="0" eaLnBrk="1" latinLnBrk="0" hangingPunct="1">
        <a:spcBef>
          <a:spcPct val="20000"/>
        </a:spcBef>
        <a:buClr>
          <a:srgbClr val="BA0C2F"/>
        </a:buClr>
        <a:buFont typeface="Arial"/>
        <a:buChar char="•"/>
        <a:tabLst/>
        <a:defRPr sz="30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690563" indent="-233363" algn="l" defTabSz="457200" rtl="0" eaLnBrk="1" latinLnBrk="0" hangingPunct="1">
        <a:spcBef>
          <a:spcPct val="20000"/>
        </a:spcBef>
        <a:buClr>
          <a:srgbClr val="BA0C2F"/>
        </a:buClr>
        <a:buFont typeface="Wingdings" panose="05000000000000000000" pitchFamily="2" charset="2"/>
        <a:buChar char="§"/>
        <a:tabLst/>
        <a:defRPr sz="28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1143000" indent="-228600" algn="l" defTabSz="457200" rtl="0" eaLnBrk="1" latinLnBrk="0" hangingPunct="1">
        <a:spcBef>
          <a:spcPct val="20000"/>
        </a:spcBef>
        <a:buClr>
          <a:srgbClr val="A51417"/>
        </a:buClr>
        <a:buFont typeface="Calibri" panose="020F0502020204030204" pitchFamily="34" charset="0"/>
        <a:buChar char="○"/>
        <a:tabLst/>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1600200" indent="-228600" algn="l" defTabSz="457200" rtl="0" eaLnBrk="1" latinLnBrk="0" hangingPunct="1">
        <a:spcBef>
          <a:spcPct val="20000"/>
        </a:spcBef>
        <a:buClr>
          <a:srgbClr val="A51417"/>
        </a:buClr>
        <a:buSzPct val="75000"/>
        <a:buFont typeface="Wingdings" panose="05000000000000000000" pitchFamily="2" charset="2"/>
        <a:buChar char=""/>
        <a:tabLst/>
        <a:defRPr sz="22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2000250" indent="-171450" algn="l" defTabSz="457200" rtl="0" eaLnBrk="1" latinLnBrk="0" hangingPunct="1">
        <a:spcBef>
          <a:spcPct val="20000"/>
        </a:spcBef>
        <a:buFont typeface="Arial"/>
        <a:buChar char="»"/>
        <a:tabLst/>
        <a:defRPr sz="20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8" orient="horz" pos="2160" userDrawn="1">
          <p15:clr>
            <a:srgbClr val="F26B43"/>
          </p15:clr>
        </p15:guide>
        <p15:guide id="9" pos="3840" userDrawn="1">
          <p15:clr>
            <a:srgbClr val="F26B43"/>
          </p15:clr>
        </p15:guide>
        <p15:guide id="10" pos="645" userDrawn="1">
          <p15:clr>
            <a:srgbClr val="F26B43"/>
          </p15:clr>
        </p15:guide>
        <p15:guide id="11" orient="horz" pos="3923" userDrawn="1">
          <p15:clr>
            <a:srgbClr val="F26B43"/>
          </p15:clr>
        </p15:guide>
        <p15:guide id="12" orient="horz" pos="528" userDrawn="1">
          <p15:clr>
            <a:srgbClr val="F26B43"/>
          </p15:clr>
        </p15:guide>
        <p15:guide id="13" pos="7440" userDrawn="1">
          <p15:clr>
            <a:srgbClr val="F26B43"/>
          </p15:clr>
        </p15:guide>
        <p15:guide id="14" orient="horz" pos="432" userDrawn="1">
          <p15:clr>
            <a:srgbClr val="F26B43"/>
          </p15:clr>
        </p15:guide>
        <p15:guide id="15" pos="5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7516682"/>
      </p:ext>
    </p:extLst>
  </p:cSld>
  <p:clrMap bg1="lt1" tx1="dk1" bg2="lt2" tx2="dk2" accent1="accent1" accent2="accent2" accent3="accent3" accent4="accent4" accent5="accent5" accent6="accent6" hlink="hlink" folHlink="folHlink"/>
  <p:sldLayoutIdLst>
    <p:sldLayoutId id="2147483741" r:id="rId1"/>
    <p:sldLayoutId id="214748373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penningtonb@wustl.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hyperlink" Target="https://keystone.wustl.edu/community/phase1threads_288:thread_pages/pharmacology" TargetMode="Externa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tags" Target="../tags/tag1.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tags" Target="../tags/tag3.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tags" Target="../tags/tag4.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5.xml"/><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0.xml"/><Relationship Id="rId1" Type="http://schemas.openxmlformats.org/officeDocument/2006/relationships/tags" Target="../tags/tag6.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tags" Target="../tags/tag7.xml"/><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tags" Target="../tags/tag8.xml"/><Relationship Id="rId4" Type="http://schemas.openxmlformats.org/officeDocument/2006/relationships/image" Target="../media/image37.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0.xml"/><Relationship Id="rId1" Type="http://schemas.openxmlformats.org/officeDocument/2006/relationships/tags" Target="../tags/tag9.xml"/><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0.xml"/><Relationship Id="rId1" Type="http://schemas.openxmlformats.org/officeDocument/2006/relationships/tags" Target="../tags/tag10.xml"/><Relationship Id="rId4" Type="http://schemas.openxmlformats.org/officeDocument/2006/relationships/image" Target="../media/image39.png"/></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BFE52-EDA1-DE8C-1725-8550E2B6DED5}"/>
              </a:ext>
            </a:extLst>
          </p:cNvPr>
          <p:cNvSpPr>
            <a:spLocks noGrp="1"/>
          </p:cNvSpPr>
          <p:nvPr>
            <p:ph type="ctrTitle"/>
          </p:nvPr>
        </p:nvSpPr>
        <p:spPr>
          <a:xfrm>
            <a:off x="734311" y="872620"/>
            <a:ext cx="7304789" cy="1754440"/>
          </a:xfrm>
        </p:spPr>
        <p:txBody>
          <a:bodyPr/>
          <a:lstStyle/>
          <a:p>
            <a:r>
              <a:rPr lang="en-US" sz="3400" dirty="0"/>
              <a:t>Antithrombotic Pharmacology:</a:t>
            </a:r>
            <a:br>
              <a:rPr lang="en-US" sz="3400" dirty="0"/>
            </a:br>
            <a:r>
              <a:rPr lang="en-US" sz="3400" dirty="0"/>
              <a:t>Anticoagulants, Thrombolytics </a:t>
            </a:r>
            <a:br>
              <a:rPr lang="en-US" sz="3400" dirty="0"/>
            </a:br>
            <a:r>
              <a:rPr lang="en-US" sz="3400" dirty="0"/>
              <a:t>&amp; Antiplatelets</a:t>
            </a:r>
          </a:p>
        </p:txBody>
      </p:sp>
      <p:sp>
        <p:nvSpPr>
          <p:cNvPr id="7" name="Subtitle 2">
            <a:extLst>
              <a:ext uri="{FF2B5EF4-FFF2-40B4-BE49-F238E27FC236}">
                <a16:creationId xmlns:a16="http://schemas.microsoft.com/office/drawing/2014/main" id="{CC3F9525-7D9B-A8FC-F339-6512956037E7}"/>
              </a:ext>
            </a:extLst>
          </p:cNvPr>
          <p:cNvSpPr>
            <a:spLocks noGrp="1"/>
          </p:cNvSpPr>
          <p:nvPr>
            <p:ph type="subTitle" idx="1"/>
          </p:nvPr>
        </p:nvSpPr>
        <p:spPr>
          <a:xfrm>
            <a:off x="743478" y="3162300"/>
            <a:ext cx="6914521" cy="1895475"/>
          </a:xfrm>
        </p:spPr>
        <p:txBody>
          <a:bodyPr>
            <a:noAutofit/>
          </a:bodyPr>
          <a:lstStyle/>
          <a:p>
            <a:pPr>
              <a:lnSpc>
                <a:spcPct val="90000"/>
              </a:lnSpc>
              <a:spcBef>
                <a:spcPts val="0"/>
              </a:spcBef>
            </a:pPr>
            <a:r>
              <a:rPr lang="en-US" sz="2600" b="1" dirty="0"/>
              <a:t>Bethany Pennington, PharmD, BCPS</a:t>
            </a:r>
          </a:p>
          <a:p>
            <a:pPr>
              <a:lnSpc>
                <a:spcPct val="90000"/>
              </a:lnSpc>
              <a:spcBef>
                <a:spcPts val="0"/>
              </a:spcBef>
            </a:pPr>
            <a:r>
              <a:rPr lang="en-US" sz="2600" dirty="0"/>
              <a:t>Associate Professor of Anesthesiology</a:t>
            </a:r>
            <a:br>
              <a:rPr lang="en-US" sz="2600" dirty="0"/>
            </a:br>
            <a:r>
              <a:rPr lang="en-US" sz="2600" dirty="0">
                <a:hlinkClick r:id="rId3">
                  <a:extLst>
                    <a:ext uri="{A12FA001-AC4F-418D-AE19-62706E023703}">
                      <ahyp:hlinkClr xmlns:ahyp="http://schemas.microsoft.com/office/drawing/2018/hyperlinkcolor" val="tx"/>
                    </a:ext>
                  </a:extLst>
                </a:hlinkClick>
              </a:rPr>
              <a:t>penningtonb@wustl.edu</a:t>
            </a:r>
            <a:endParaRPr lang="en-US" sz="2600" dirty="0"/>
          </a:p>
          <a:p>
            <a:pPr>
              <a:spcBef>
                <a:spcPts val="1200"/>
              </a:spcBef>
            </a:pPr>
            <a:r>
              <a:rPr lang="en-US" sz="2600" dirty="0" err="1"/>
              <a:t>PollEv</a:t>
            </a:r>
            <a:r>
              <a:rPr lang="en-US" sz="2600" dirty="0"/>
              <a:t>: </a:t>
            </a:r>
            <a:r>
              <a:rPr lang="en-US" sz="2600" dirty="0" err="1"/>
              <a:t>fmolly</a:t>
            </a:r>
            <a:endParaRPr lang="en-US" sz="2600" dirty="0"/>
          </a:p>
          <a:p>
            <a:pPr>
              <a:spcBef>
                <a:spcPts val="0"/>
              </a:spcBef>
            </a:pPr>
            <a:endParaRPr lang="en-US" sz="2600" b="1" dirty="0"/>
          </a:p>
        </p:txBody>
      </p:sp>
    </p:spTree>
    <p:extLst>
      <p:ext uri="{BB962C8B-B14F-4D97-AF65-F5344CB8AC3E}">
        <p14:creationId xmlns:p14="http://schemas.microsoft.com/office/powerpoint/2010/main" val="41199289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2915" y="120267"/>
            <a:ext cx="10475976" cy="727458"/>
          </a:xfrm>
        </p:spPr>
        <p:txBody>
          <a:bodyPr/>
          <a:lstStyle/>
          <a:p>
            <a:r>
              <a:rPr lang="en-US" dirty="0"/>
              <a:t>Pharmacology Drug Tables</a:t>
            </a:r>
          </a:p>
        </p:txBody>
      </p:sp>
      <p:sp>
        <p:nvSpPr>
          <p:cNvPr id="3" name="Content Placeholder 2"/>
          <p:cNvSpPr>
            <a:spLocks noGrp="1"/>
          </p:cNvSpPr>
          <p:nvPr>
            <p:ph idx="1"/>
          </p:nvPr>
        </p:nvSpPr>
        <p:spPr>
          <a:xfrm>
            <a:off x="922916" y="1000125"/>
            <a:ext cx="10888084" cy="4752975"/>
          </a:xfrm>
        </p:spPr>
        <p:txBody>
          <a:bodyPr numCol="3" spcCol="365760">
            <a:noAutofit/>
          </a:bodyPr>
          <a:lstStyle/>
          <a:p>
            <a:pPr marL="0" indent="0">
              <a:buNone/>
            </a:pPr>
            <a:r>
              <a:rPr lang="en-US" sz="2400" b="1" dirty="0"/>
              <a:t>What</a:t>
            </a:r>
          </a:p>
          <a:p>
            <a:pPr marL="171450" lvl="1" indent="-171450">
              <a:spcAft>
                <a:spcPts val="1200"/>
              </a:spcAft>
              <a:buFont typeface="Arial" panose="020B0604020202020204" pitchFamily="34" charset="0"/>
              <a:buChar char="•"/>
            </a:pPr>
            <a:r>
              <a:rPr lang="en-US" sz="1800" dirty="0"/>
              <a:t>Table of important drug categories/classes and </a:t>
            </a:r>
            <a:br>
              <a:rPr lang="en-US" sz="1800" dirty="0"/>
            </a:br>
            <a:r>
              <a:rPr lang="en-US" sz="1800" dirty="0"/>
              <a:t>relevant details</a:t>
            </a:r>
          </a:p>
          <a:p>
            <a:pPr marL="342900" lvl="2" indent="-171450">
              <a:spcAft>
                <a:spcPts val="600"/>
              </a:spcAft>
              <a:buSzPct val="80000"/>
              <a:buFont typeface="Wingdings" panose="05000000000000000000" pitchFamily="2" charset="2"/>
              <a:buChar char="§"/>
            </a:pPr>
            <a:r>
              <a:rPr lang="en-US" sz="1800" dirty="0"/>
              <a:t>Organized by therapeutic category and selected </a:t>
            </a:r>
            <a:br>
              <a:rPr lang="en-US" sz="1800" dirty="0"/>
            </a:br>
            <a:r>
              <a:rPr lang="en-US" sz="1800" dirty="0"/>
              <a:t>generic drug names </a:t>
            </a:r>
          </a:p>
          <a:p>
            <a:pPr marL="342900" lvl="2" indent="-171450">
              <a:buSzPct val="80000"/>
              <a:buFont typeface="Wingdings" panose="05000000000000000000" pitchFamily="2" charset="2"/>
              <a:buChar char="§"/>
            </a:pPr>
            <a:r>
              <a:rPr lang="en-US" sz="1800" dirty="0"/>
              <a:t>Standardized columns </a:t>
            </a:r>
            <a:br>
              <a:rPr lang="en-US" sz="1800" dirty="0"/>
            </a:br>
            <a:r>
              <a:rPr lang="en-US" sz="1800" dirty="0"/>
              <a:t>for details</a:t>
            </a:r>
          </a:p>
          <a:p>
            <a:pPr marL="514350" lvl="3" indent="-171450">
              <a:buSzPct val="90000"/>
              <a:buFont typeface="Calibri" panose="020F0502020204030204" pitchFamily="34" charset="0"/>
              <a:buChar char="‒"/>
            </a:pPr>
            <a:r>
              <a:rPr lang="en-US" sz="1800" dirty="0"/>
              <a:t>Focus on class, mechanism </a:t>
            </a:r>
            <a:br>
              <a:rPr lang="en-US" sz="1800" dirty="0"/>
            </a:br>
            <a:r>
              <a:rPr lang="en-US" sz="1800" dirty="0"/>
              <a:t>of action, common </a:t>
            </a:r>
            <a:br>
              <a:rPr lang="en-US" sz="1800" dirty="0"/>
            </a:br>
            <a:r>
              <a:rPr lang="en-US" sz="1800" dirty="0"/>
              <a:t>adverse effects</a:t>
            </a:r>
          </a:p>
          <a:p>
            <a:pPr marL="0" indent="0">
              <a:buNone/>
            </a:pPr>
            <a:endParaRPr lang="en-US" sz="1800" dirty="0"/>
          </a:p>
          <a:p>
            <a:pPr marL="0" indent="0">
              <a:buNone/>
            </a:pPr>
            <a:endParaRPr lang="en-US" sz="1800" b="1" dirty="0"/>
          </a:p>
          <a:p>
            <a:pPr marL="0" indent="0">
              <a:buNone/>
            </a:pPr>
            <a:r>
              <a:rPr lang="en-US" sz="2400" b="1" dirty="0"/>
              <a:t>Why</a:t>
            </a:r>
          </a:p>
          <a:p>
            <a:pPr marL="171450" lvl="1" indent="-171450">
              <a:spcAft>
                <a:spcPts val="1200"/>
              </a:spcAft>
              <a:buFont typeface="Arial" panose="020B0604020202020204" pitchFamily="34" charset="0"/>
              <a:buChar char="•"/>
            </a:pPr>
            <a:r>
              <a:rPr lang="en-US" sz="1800" dirty="0"/>
              <a:t>Create framework for Pharmacology integration</a:t>
            </a:r>
          </a:p>
          <a:p>
            <a:pPr marL="171450" lvl="1" indent="-171450">
              <a:spcAft>
                <a:spcPts val="1200"/>
              </a:spcAft>
              <a:buFont typeface="Arial" panose="020B0604020202020204" pitchFamily="34" charset="0"/>
              <a:buChar char="•"/>
            </a:pPr>
            <a:r>
              <a:rPr lang="en-US" sz="1800" dirty="0"/>
              <a:t>Understand relationships</a:t>
            </a:r>
          </a:p>
          <a:p>
            <a:pPr marL="171450" lvl="1" indent="-171450">
              <a:spcAft>
                <a:spcPts val="1200"/>
              </a:spcAft>
              <a:buFont typeface="Arial" panose="020B0604020202020204" pitchFamily="34" charset="0"/>
              <a:buChar char="•"/>
            </a:pPr>
            <a:r>
              <a:rPr lang="en-US" sz="1800" dirty="0"/>
              <a:t>Consolidate</a:t>
            </a:r>
          </a:p>
          <a:p>
            <a:pPr lvl="1"/>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2400" b="1" dirty="0"/>
          </a:p>
          <a:p>
            <a:pPr marL="0" indent="0">
              <a:buNone/>
            </a:pPr>
            <a:r>
              <a:rPr lang="en-US" sz="2400" b="1" dirty="0"/>
              <a:t>Who/How/When</a:t>
            </a:r>
          </a:p>
          <a:p>
            <a:pPr marL="171450" lvl="1" indent="-171450">
              <a:spcAft>
                <a:spcPts val="1200"/>
              </a:spcAft>
              <a:buFont typeface="Arial" panose="020B0604020202020204" pitchFamily="34" charset="0"/>
              <a:buChar char="•"/>
              <a:tabLst>
                <a:tab pos="171450" algn="l"/>
              </a:tabLst>
            </a:pPr>
            <a:r>
              <a:rPr lang="en-US" sz="1800" dirty="0"/>
              <a:t>Each module will have an associated drug table</a:t>
            </a:r>
          </a:p>
          <a:p>
            <a:pPr marL="171450" lvl="1" indent="-171450">
              <a:spcAft>
                <a:spcPts val="1200"/>
              </a:spcAft>
              <a:buFont typeface="Arial" panose="020B0604020202020204" pitchFamily="34" charset="0"/>
              <a:buChar char="•"/>
              <a:tabLst>
                <a:tab pos="171450" algn="l"/>
              </a:tabLst>
            </a:pPr>
            <a:r>
              <a:rPr lang="en-US" sz="1800" dirty="0"/>
              <a:t>Students fill in details throughout the Modules (not intended to be filled fully by the end of one module)</a:t>
            </a:r>
          </a:p>
          <a:p>
            <a:pPr marL="171450" lvl="1" indent="-171450">
              <a:spcAft>
                <a:spcPts val="1200"/>
              </a:spcAft>
              <a:buFont typeface="Arial" panose="020B0604020202020204" pitchFamily="34" charset="0"/>
              <a:buChar char="•"/>
              <a:tabLst>
                <a:tab pos="171450" algn="l"/>
              </a:tabLst>
            </a:pPr>
            <a:r>
              <a:rPr lang="en-US" sz="1800" dirty="0"/>
              <a:t>Tables will often be revisited in upcoming modules</a:t>
            </a:r>
          </a:p>
          <a:p>
            <a:pPr marL="171450" lvl="1" indent="-171450">
              <a:spcAft>
                <a:spcPts val="1200"/>
              </a:spcAft>
              <a:buFont typeface="Arial" panose="020B0604020202020204" pitchFamily="34" charset="0"/>
              <a:buChar char="•"/>
              <a:tabLst>
                <a:tab pos="171450" algn="l"/>
              </a:tabLst>
            </a:pPr>
            <a:r>
              <a:rPr lang="en-US" sz="1800" dirty="0"/>
              <a:t>Thread lead releases the tables on Pharmacology thread page</a:t>
            </a:r>
          </a:p>
        </p:txBody>
      </p:sp>
    </p:spTree>
    <p:extLst>
      <p:ext uri="{BB962C8B-B14F-4D97-AF65-F5344CB8AC3E}">
        <p14:creationId xmlns:p14="http://schemas.microsoft.com/office/powerpoint/2010/main" val="37184524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399" y="419099"/>
            <a:ext cx="10389241" cy="976589"/>
          </a:xfrm>
        </p:spPr>
        <p:txBody>
          <a:bodyPr/>
          <a:lstStyle/>
          <a:p>
            <a:r>
              <a:rPr lang="en-US" dirty="0"/>
              <a:t>Pharmacology Drug Table Contents</a:t>
            </a:r>
            <a:br>
              <a:rPr lang="en-US" dirty="0"/>
            </a:br>
            <a:endParaRPr lang="en-US" dirty="0"/>
          </a:p>
        </p:txBody>
      </p:sp>
      <p:sp>
        <p:nvSpPr>
          <p:cNvPr id="3" name="Content Placeholder 2"/>
          <p:cNvSpPr>
            <a:spLocks noGrp="1"/>
          </p:cNvSpPr>
          <p:nvPr>
            <p:ph idx="1"/>
          </p:nvPr>
        </p:nvSpPr>
        <p:spPr>
          <a:xfrm>
            <a:off x="914400" y="1066800"/>
            <a:ext cx="7096126" cy="4657725"/>
          </a:xfrm>
        </p:spPr>
        <p:txBody>
          <a:bodyPr>
            <a:normAutofit/>
          </a:bodyPr>
          <a:lstStyle/>
          <a:p>
            <a:pPr>
              <a:spcBef>
                <a:spcPts val="1800"/>
              </a:spcBef>
            </a:pPr>
            <a:r>
              <a:rPr lang="en-US" sz="2600" b="0" dirty="0"/>
              <a:t>Therapeutic Category</a:t>
            </a:r>
          </a:p>
          <a:p>
            <a:pPr>
              <a:spcBef>
                <a:spcPts val="1800"/>
              </a:spcBef>
            </a:pPr>
            <a:r>
              <a:rPr lang="en-US" sz="2600" b="1" dirty="0"/>
              <a:t>Class</a:t>
            </a:r>
          </a:p>
          <a:p>
            <a:pPr>
              <a:spcBef>
                <a:spcPts val="1800"/>
              </a:spcBef>
            </a:pPr>
            <a:r>
              <a:rPr lang="en-US" sz="2600" b="0" dirty="0"/>
              <a:t>Generic drug name examples</a:t>
            </a:r>
          </a:p>
          <a:p>
            <a:pPr>
              <a:spcBef>
                <a:spcPts val="1800"/>
              </a:spcBef>
            </a:pPr>
            <a:r>
              <a:rPr lang="en-US" sz="2600" b="1" dirty="0"/>
              <a:t>Mechanism of Action</a:t>
            </a:r>
          </a:p>
          <a:p>
            <a:pPr>
              <a:spcBef>
                <a:spcPts val="1800"/>
              </a:spcBef>
            </a:pPr>
            <a:r>
              <a:rPr lang="en-US" sz="2600" b="1" dirty="0"/>
              <a:t>Common Adverse Effects</a:t>
            </a:r>
          </a:p>
          <a:p>
            <a:pPr>
              <a:spcBef>
                <a:spcPts val="1800"/>
              </a:spcBef>
            </a:pPr>
            <a:r>
              <a:rPr lang="en-US" sz="2600" b="0" dirty="0"/>
              <a:t>Notable Drug Interactions, Contraindications</a:t>
            </a:r>
          </a:p>
          <a:p>
            <a:pPr>
              <a:spcBef>
                <a:spcPts val="1800"/>
              </a:spcBef>
            </a:pPr>
            <a:r>
              <a:rPr lang="en-US" sz="2600" b="0" dirty="0"/>
              <a:t>Clinical Pearls/Notes</a:t>
            </a:r>
          </a:p>
          <a:p>
            <a:pPr marL="0" indent="0">
              <a:buNone/>
            </a:pPr>
            <a:endParaRPr lang="en-US" dirty="0"/>
          </a:p>
        </p:txBody>
      </p:sp>
    </p:spTree>
    <p:extLst>
      <p:ext uri="{BB962C8B-B14F-4D97-AF65-F5344CB8AC3E}">
        <p14:creationId xmlns:p14="http://schemas.microsoft.com/office/powerpoint/2010/main" val="42253007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C3A5F-11B3-1EA6-457D-FB5032D958A4}"/>
              </a:ext>
            </a:extLst>
          </p:cNvPr>
          <p:cNvSpPr>
            <a:spLocks noGrp="1"/>
          </p:cNvSpPr>
          <p:nvPr>
            <p:ph type="title"/>
          </p:nvPr>
        </p:nvSpPr>
        <p:spPr>
          <a:xfrm>
            <a:off x="923824" y="83377"/>
            <a:ext cx="11297790" cy="768414"/>
          </a:xfrm>
        </p:spPr>
        <p:txBody>
          <a:bodyPr/>
          <a:lstStyle/>
          <a:p>
            <a:r>
              <a:rPr lang="en-US" dirty="0"/>
              <a:t>Medications Introduced in Module 2</a:t>
            </a:r>
          </a:p>
        </p:txBody>
      </p:sp>
      <p:pic>
        <p:nvPicPr>
          <p:cNvPr id="5" name="Picture 4">
            <a:extLst>
              <a:ext uri="{FF2B5EF4-FFF2-40B4-BE49-F238E27FC236}">
                <a16:creationId xmlns:a16="http://schemas.microsoft.com/office/drawing/2014/main" id="{97FA5EE9-6494-FBAE-73FC-991E04E37241}"/>
              </a:ext>
            </a:extLst>
          </p:cNvPr>
          <p:cNvPicPr>
            <a:picLocks noChangeAspect="1"/>
          </p:cNvPicPr>
          <p:nvPr/>
        </p:nvPicPr>
        <p:blipFill>
          <a:blip r:embed="rId3"/>
          <a:srcRect l="961" t="7615" r="458" b="2354"/>
          <a:stretch>
            <a:fillRect/>
          </a:stretch>
        </p:blipFill>
        <p:spPr>
          <a:xfrm>
            <a:off x="1023938" y="838200"/>
            <a:ext cx="9744076" cy="5278794"/>
          </a:xfrm>
          <a:prstGeom prst="rect">
            <a:avLst/>
          </a:prstGeom>
          <a:ln w="12700">
            <a:solidFill>
              <a:schemeClr val="tx1"/>
            </a:solidFill>
          </a:ln>
        </p:spPr>
      </p:pic>
    </p:spTree>
    <p:extLst>
      <p:ext uri="{BB962C8B-B14F-4D97-AF65-F5344CB8AC3E}">
        <p14:creationId xmlns:p14="http://schemas.microsoft.com/office/powerpoint/2010/main" val="40412779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6A88B-73DE-69C0-BA20-E8B8D3DC5B6D}"/>
              </a:ext>
            </a:extLst>
          </p:cNvPr>
          <p:cNvSpPr>
            <a:spLocks noGrp="1"/>
          </p:cNvSpPr>
          <p:nvPr>
            <p:ph type="title"/>
          </p:nvPr>
        </p:nvSpPr>
        <p:spPr>
          <a:xfrm>
            <a:off x="923824" y="83377"/>
            <a:ext cx="11297790" cy="768414"/>
          </a:xfrm>
        </p:spPr>
        <p:txBody>
          <a:bodyPr/>
          <a:lstStyle/>
          <a:p>
            <a:r>
              <a:rPr lang="en-US" dirty="0"/>
              <a:t>Pharmacology Thread Page</a:t>
            </a:r>
          </a:p>
        </p:txBody>
      </p:sp>
      <p:pic>
        <p:nvPicPr>
          <p:cNvPr id="10" name="Picture 9">
            <a:extLst>
              <a:ext uri="{FF2B5EF4-FFF2-40B4-BE49-F238E27FC236}">
                <a16:creationId xmlns:a16="http://schemas.microsoft.com/office/drawing/2014/main" id="{BD92C6CD-D77D-46CF-F9C6-8723FC98E7F9}"/>
              </a:ext>
            </a:extLst>
          </p:cNvPr>
          <p:cNvPicPr>
            <a:picLocks noChangeAspect="1"/>
          </p:cNvPicPr>
          <p:nvPr/>
        </p:nvPicPr>
        <p:blipFill>
          <a:blip r:embed="rId3"/>
          <a:stretch>
            <a:fillRect/>
          </a:stretch>
        </p:blipFill>
        <p:spPr>
          <a:xfrm>
            <a:off x="11083151" y="160479"/>
            <a:ext cx="1038225" cy="771525"/>
          </a:xfrm>
          <a:prstGeom prst="rect">
            <a:avLst/>
          </a:prstGeom>
        </p:spPr>
      </p:pic>
      <p:pic>
        <p:nvPicPr>
          <p:cNvPr id="8" name="Picture 7">
            <a:extLst>
              <a:ext uri="{FF2B5EF4-FFF2-40B4-BE49-F238E27FC236}">
                <a16:creationId xmlns:a16="http://schemas.microsoft.com/office/drawing/2014/main" id="{9BF62516-4F6D-C9F6-30A1-81AF942E9370}"/>
              </a:ext>
            </a:extLst>
          </p:cNvPr>
          <p:cNvPicPr>
            <a:picLocks noChangeAspect="1"/>
          </p:cNvPicPr>
          <p:nvPr/>
        </p:nvPicPr>
        <p:blipFill>
          <a:blip r:embed="rId4"/>
          <a:srcRect b="67354"/>
          <a:stretch>
            <a:fillRect/>
          </a:stretch>
        </p:blipFill>
        <p:spPr>
          <a:xfrm>
            <a:off x="1904899" y="2470617"/>
            <a:ext cx="6007716" cy="3034781"/>
          </a:xfrm>
          <a:prstGeom prst="rect">
            <a:avLst/>
          </a:prstGeom>
        </p:spPr>
      </p:pic>
      <p:pic>
        <p:nvPicPr>
          <p:cNvPr id="9" name="Picture 8">
            <a:extLst>
              <a:ext uri="{FF2B5EF4-FFF2-40B4-BE49-F238E27FC236}">
                <a16:creationId xmlns:a16="http://schemas.microsoft.com/office/drawing/2014/main" id="{FC7B1E84-D563-5ADC-E799-D06EE1736550}"/>
              </a:ext>
            </a:extLst>
          </p:cNvPr>
          <p:cNvPicPr>
            <a:picLocks noChangeAspect="1"/>
          </p:cNvPicPr>
          <p:nvPr/>
        </p:nvPicPr>
        <p:blipFill>
          <a:blip r:embed="rId4"/>
          <a:srcRect t="32215"/>
          <a:stretch>
            <a:fillRect/>
          </a:stretch>
        </p:blipFill>
        <p:spPr>
          <a:xfrm>
            <a:off x="5595074" y="1085914"/>
            <a:ext cx="4806327" cy="5041283"/>
          </a:xfrm>
          <a:prstGeom prst="rect">
            <a:avLst/>
          </a:prstGeom>
        </p:spPr>
      </p:pic>
      <p:sp>
        <p:nvSpPr>
          <p:cNvPr id="12" name="TextBox 11">
            <a:extLst>
              <a:ext uri="{FF2B5EF4-FFF2-40B4-BE49-F238E27FC236}">
                <a16:creationId xmlns:a16="http://schemas.microsoft.com/office/drawing/2014/main" id="{19F625FF-4681-62F1-8E7B-149D8A513091}"/>
              </a:ext>
            </a:extLst>
          </p:cNvPr>
          <p:cNvSpPr txBox="1"/>
          <p:nvPr/>
        </p:nvSpPr>
        <p:spPr>
          <a:xfrm>
            <a:off x="922829" y="1393377"/>
            <a:ext cx="4617244" cy="923330"/>
          </a:xfrm>
          <a:prstGeom prst="rect">
            <a:avLst/>
          </a:prstGeom>
          <a:noFill/>
        </p:spPr>
        <p:txBody>
          <a:bodyPr wrap="square">
            <a:spAutoFit/>
          </a:bodyPr>
          <a:lstStyle/>
          <a:p>
            <a:r>
              <a:rPr lang="en-US" dirty="0">
                <a:hlinkClick r:id="rId5"/>
              </a:rPr>
              <a:t>https://keystone.wustl.edu/community/phase1threads_288:thread_pages/pharmacology</a:t>
            </a:r>
            <a:endParaRPr lang="en-US" dirty="0"/>
          </a:p>
          <a:p>
            <a:endParaRPr lang="en-US" dirty="0"/>
          </a:p>
        </p:txBody>
      </p:sp>
    </p:spTree>
    <p:extLst>
      <p:ext uri="{BB962C8B-B14F-4D97-AF65-F5344CB8AC3E}">
        <p14:creationId xmlns:p14="http://schemas.microsoft.com/office/powerpoint/2010/main" val="19407458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2915" y="371475"/>
            <a:ext cx="10475976" cy="1024214"/>
          </a:xfrm>
        </p:spPr>
        <p:txBody>
          <a:bodyPr/>
          <a:lstStyle/>
          <a:p>
            <a:r>
              <a:rPr lang="en-US" dirty="0"/>
              <a:t>Objectives</a:t>
            </a:r>
            <a:br>
              <a:rPr lang="en-US" dirty="0"/>
            </a:br>
            <a:endParaRPr lang="en-US" dirty="0"/>
          </a:p>
        </p:txBody>
      </p:sp>
      <p:sp>
        <p:nvSpPr>
          <p:cNvPr id="3" name="Content Placeholder 2"/>
          <p:cNvSpPr>
            <a:spLocks noGrp="1"/>
          </p:cNvSpPr>
          <p:nvPr>
            <p:ph idx="1"/>
          </p:nvPr>
        </p:nvSpPr>
        <p:spPr>
          <a:xfrm>
            <a:off x="922915" y="1290914"/>
            <a:ext cx="8087735" cy="4114799"/>
          </a:xfrm>
        </p:spPr>
        <p:txBody>
          <a:bodyPr>
            <a:normAutofit/>
          </a:bodyPr>
          <a:lstStyle/>
          <a:p>
            <a:pPr marL="514350" indent="-514350">
              <a:lnSpc>
                <a:spcPts val="2900"/>
              </a:lnSpc>
              <a:spcAft>
                <a:spcPts val="1200"/>
              </a:spcAft>
              <a:buFont typeface="+mj-lt"/>
              <a:buAutoNum type="arabicPeriod"/>
            </a:pPr>
            <a:r>
              <a:rPr lang="en-US" sz="2600" b="0" dirty="0"/>
              <a:t>Describe the mechanisms of action </a:t>
            </a:r>
            <a:br>
              <a:rPr lang="en-US" sz="2600" b="0" dirty="0"/>
            </a:br>
            <a:r>
              <a:rPr lang="en-US" sz="2600" b="0" dirty="0"/>
              <a:t>of common antithrombotic medications</a:t>
            </a:r>
          </a:p>
          <a:p>
            <a:pPr marL="514350" indent="-514350">
              <a:lnSpc>
                <a:spcPts val="2900"/>
              </a:lnSpc>
              <a:spcAft>
                <a:spcPts val="1200"/>
              </a:spcAft>
              <a:buFont typeface="+mj-lt"/>
              <a:buAutoNum type="arabicPeriod"/>
            </a:pPr>
            <a:r>
              <a:rPr lang="en-US" sz="2600" b="0" dirty="0"/>
              <a:t>Compare and contrast pharmacokinetic </a:t>
            </a:r>
            <a:br>
              <a:rPr lang="en-US" sz="2600" b="0" dirty="0"/>
            </a:br>
            <a:r>
              <a:rPr lang="en-US" sz="2600" b="0" dirty="0"/>
              <a:t>and pharmacodynamic differences among </a:t>
            </a:r>
            <a:br>
              <a:rPr lang="en-US" sz="2600" b="0" dirty="0"/>
            </a:br>
            <a:r>
              <a:rPr lang="en-US" sz="2600" b="0" dirty="0"/>
              <a:t>common antithrombotic medications</a:t>
            </a:r>
          </a:p>
          <a:p>
            <a:pPr marL="514350" indent="-514350">
              <a:lnSpc>
                <a:spcPts val="2900"/>
              </a:lnSpc>
              <a:spcAft>
                <a:spcPts val="1200"/>
              </a:spcAft>
              <a:buFont typeface="+mj-lt"/>
              <a:buAutoNum type="arabicPeriod"/>
            </a:pPr>
            <a:r>
              <a:rPr lang="en-US" sz="2600" b="0" dirty="0"/>
              <a:t>Identify common adverse effects </a:t>
            </a:r>
            <a:br>
              <a:rPr lang="en-US" sz="2600" b="0" dirty="0"/>
            </a:br>
            <a:r>
              <a:rPr lang="en-US" sz="2600" b="0" dirty="0"/>
              <a:t>of antithrombotic medications</a:t>
            </a:r>
          </a:p>
        </p:txBody>
      </p:sp>
    </p:spTree>
    <p:extLst>
      <p:ext uri="{BB962C8B-B14F-4D97-AF65-F5344CB8AC3E}">
        <p14:creationId xmlns:p14="http://schemas.microsoft.com/office/powerpoint/2010/main" val="25061284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2915" y="167892"/>
            <a:ext cx="10475976" cy="670308"/>
          </a:xfrm>
        </p:spPr>
        <p:txBody>
          <a:bodyPr/>
          <a:lstStyle/>
          <a:p>
            <a:r>
              <a:rPr lang="en-US" dirty="0"/>
              <a:t>Importance</a:t>
            </a:r>
          </a:p>
        </p:txBody>
      </p:sp>
      <p:sp>
        <p:nvSpPr>
          <p:cNvPr id="3" name="Content Placeholder 2"/>
          <p:cNvSpPr>
            <a:spLocks noGrp="1"/>
          </p:cNvSpPr>
          <p:nvPr>
            <p:ph idx="1"/>
          </p:nvPr>
        </p:nvSpPr>
        <p:spPr>
          <a:xfrm>
            <a:off x="922915" y="1285875"/>
            <a:ext cx="9262485" cy="3505200"/>
          </a:xfrm>
        </p:spPr>
        <p:txBody>
          <a:bodyPr>
            <a:normAutofit/>
          </a:bodyPr>
          <a:lstStyle/>
          <a:p>
            <a:pPr>
              <a:lnSpc>
                <a:spcPts val="2900"/>
              </a:lnSpc>
              <a:spcAft>
                <a:spcPts val="1800"/>
              </a:spcAft>
            </a:pPr>
            <a:r>
              <a:rPr lang="en-US" sz="2600" b="0" dirty="0"/>
              <a:t>Antithrombotic medications are </a:t>
            </a:r>
            <a:r>
              <a:rPr lang="en-US" sz="2600" b="1" dirty="0"/>
              <a:t>crucial components </a:t>
            </a:r>
            <a:r>
              <a:rPr lang="en-US" sz="2600" b="0" dirty="0"/>
              <a:t>in the management of thrombosis and thromboembolic disorders.</a:t>
            </a:r>
          </a:p>
          <a:p>
            <a:pPr>
              <a:lnSpc>
                <a:spcPts val="2900"/>
              </a:lnSpc>
              <a:spcBef>
                <a:spcPts val="600"/>
              </a:spcBef>
              <a:spcAft>
                <a:spcPts val="1200"/>
              </a:spcAft>
            </a:pPr>
            <a:r>
              <a:rPr lang="en-US" sz="2600" b="1" dirty="0"/>
              <a:t>High number of adverse events pertaining to </a:t>
            </a:r>
            <a:r>
              <a:rPr lang="en-US" sz="2600" b="1" dirty="0" err="1"/>
              <a:t>antithrombotics</a:t>
            </a:r>
            <a:r>
              <a:rPr lang="en-US" sz="2600" b="1" dirty="0"/>
              <a:t> </a:t>
            </a:r>
            <a:r>
              <a:rPr lang="en-US" sz="2600" b="1" dirty="0">
                <a:sym typeface="Wingdings" panose="05000000000000000000" pitchFamily="2" charset="2"/>
              </a:rPr>
              <a:t> </a:t>
            </a:r>
            <a:br>
              <a:rPr lang="en-US" sz="2600" b="1" dirty="0">
                <a:sym typeface="Wingdings" panose="05000000000000000000" pitchFamily="2" charset="2"/>
              </a:rPr>
            </a:br>
            <a:r>
              <a:rPr lang="en-US" sz="2600" b="1" dirty="0"/>
              <a:t>Joint Commission’s National Patient Safety Goals</a:t>
            </a:r>
            <a:r>
              <a:rPr lang="en-US" sz="2600" b="1" dirty="0">
                <a:sym typeface="Wingdings" panose="05000000000000000000" pitchFamily="2" charset="2"/>
              </a:rPr>
              <a:t> </a:t>
            </a:r>
            <a:br>
              <a:rPr lang="en-US" sz="2600" b="1" dirty="0">
                <a:sym typeface="Wingdings" panose="05000000000000000000" pitchFamily="2" charset="2"/>
              </a:rPr>
            </a:br>
            <a:r>
              <a:rPr lang="en-US" sz="2600" b="1" dirty="0">
                <a:solidFill>
                  <a:srgbClr val="BA0C2F"/>
                </a:solidFill>
              </a:rPr>
              <a:t>Improve anticoagulation management</a:t>
            </a:r>
          </a:p>
          <a:p>
            <a:pPr marL="514350" lvl="1">
              <a:lnSpc>
                <a:spcPts val="2900"/>
              </a:lnSpc>
              <a:spcAft>
                <a:spcPts val="1200"/>
              </a:spcAft>
              <a:buSzPct val="80000"/>
            </a:pPr>
            <a:r>
              <a:rPr lang="en-US" sz="2600" dirty="0"/>
              <a:t>Protocols, monitoring, reversal, perioperative management, written policies</a:t>
            </a:r>
          </a:p>
        </p:txBody>
      </p:sp>
    </p:spTree>
    <p:extLst>
      <p:ext uri="{BB962C8B-B14F-4D97-AF65-F5344CB8AC3E}">
        <p14:creationId xmlns:p14="http://schemas.microsoft.com/office/powerpoint/2010/main" val="5971986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E4AD3-4AC5-019E-7214-CEC61FC7DB43}"/>
              </a:ext>
            </a:extLst>
          </p:cNvPr>
          <p:cNvSpPr>
            <a:spLocks noGrp="1"/>
          </p:cNvSpPr>
          <p:nvPr>
            <p:ph type="ctrTitle"/>
          </p:nvPr>
        </p:nvSpPr>
        <p:spPr>
          <a:xfrm>
            <a:off x="0" y="5136944"/>
            <a:ext cx="12199127" cy="987632"/>
          </a:xfrm>
        </p:spPr>
        <p:txBody>
          <a:bodyPr/>
          <a:lstStyle/>
          <a:p>
            <a:r>
              <a:rPr lang="en-US" b="0" dirty="0"/>
              <a:t>*More in Module 3*</a:t>
            </a:r>
          </a:p>
        </p:txBody>
      </p:sp>
      <p:sp>
        <p:nvSpPr>
          <p:cNvPr id="6" name="Subtitle 5"/>
          <p:cNvSpPr>
            <a:spLocks noGrp="1"/>
          </p:cNvSpPr>
          <p:nvPr>
            <p:ph type="subTitle" idx="4294967295"/>
          </p:nvPr>
        </p:nvSpPr>
        <p:spPr>
          <a:xfrm>
            <a:off x="1" y="2166938"/>
            <a:ext cx="12192000" cy="1338262"/>
          </a:xfrm>
        </p:spPr>
        <p:txBody>
          <a:bodyPr>
            <a:normAutofit/>
          </a:bodyPr>
          <a:lstStyle/>
          <a:p>
            <a:pPr marL="0" indent="0" algn="ctr">
              <a:buNone/>
            </a:pPr>
            <a:r>
              <a:rPr lang="en-US" sz="6500" dirty="0">
                <a:solidFill>
                  <a:schemeClr val="tx2"/>
                </a:solidFill>
                <a:latin typeface="Georgia" panose="02040502050405020303" pitchFamily="18" charset="0"/>
              </a:rPr>
              <a:t>Anticoagulants</a:t>
            </a:r>
          </a:p>
        </p:txBody>
      </p:sp>
    </p:spTree>
    <p:extLst>
      <p:ext uri="{BB962C8B-B14F-4D97-AF65-F5344CB8AC3E}">
        <p14:creationId xmlns:p14="http://schemas.microsoft.com/office/powerpoint/2010/main" val="13688390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9A7F16F9-6FD4-8D3D-6C13-F286DAC11AFE}"/>
              </a:ext>
            </a:extLst>
          </p:cNvPr>
          <p:cNvGrpSpPr/>
          <p:nvPr/>
        </p:nvGrpSpPr>
        <p:grpSpPr>
          <a:xfrm>
            <a:off x="4283055" y="4020664"/>
            <a:ext cx="2095018" cy="1710038"/>
            <a:chOff x="4283055" y="4020664"/>
            <a:chExt cx="2095018" cy="1710038"/>
          </a:xfrm>
        </p:grpSpPr>
        <p:cxnSp>
          <p:nvCxnSpPr>
            <p:cNvPr id="112" name="Straight Arrow Connector 111">
              <a:extLst>
                <a:ext uri="{FF2B5EF4-FFF2-40B4-BE49-F238E27FC236}">
                  <a16:creationId xmlns:a16="http://schemas.microsoft.com/office/drawing/2014/main" id="{6BB9AD48-5FDE-BAD1-6559-75DD45E2EBB3}"/>
                </a:ext>
              </a:extLst>
            </p:cNvPr>
            <p:cNvCxnSpPr>
              <a:cxnSpLocks/>
            </p:cNvCxnSpPr>
            <p:nvPr/>
          </p:nvCxnSpPr>
          <p:spPr bwMode="auto">
            <a:xfrm>
              <a:off x="5330564" y="4020664"/>
              <a:ext cx="0" cy="79782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13" name="Rectangle 112">
              <a:extLst>
                <a:ext uri="{FF2B5EF4-FFF2-40B4-BE49-F238E27FC236}">
                  <a16:creationId xmlns:a16="http://schemas.microsoft.com/office/drawing/2014/main" id="{2D21435B-DFEF-135D-E135-6D0A6D546183}"/>
                </a:ext>
              </a:extLst>
            </p:cNvPr>
            <p:cNvSpPr/>
            <p:nvPr/>
          </p:nvSpPr>
          <p:spPr bwMode="auto">
            <a:xfrm>
              <a:off x="4283055" y="4890472"/>
              <a:ext cx="2095018" cy="84023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defTabSz="914400" eaLnBrk="0" fontAlgn="base" hangingPunct="0">
                <a:lnSpc>
                  <a:spcPct val="90000"/>
                </a:lnSpc>
                <a:spcBef>
                  <a:spcPct val="0"/>
                </a:spcBef>
                <a:spcAft>
                  <a:spcPct val="0"/>
                </a:spcAft>
              </a:pPr>
              <a:r>
                <a:rPr lang="en-US" b="1" dirty="0">
                  <a:ea typeface="Osaka" pitchFamily="-111" charset="-128"/>
                </a:rPr>
                <a:t>Vitamin K </a:t>
              </a:r>
              <a:br>
                <a:rPr lang="en-US" b="1" dirty="0">
                  <a:ea typeface="Osaka" pitchFamily="-111" charset="-128"/>
                </a:rPr>
              </a:br>
              <a:r>
                <a:rPr lang="en-US" b="1" dirty="0">
                  <a:ea typeface="Osaka" pitchFamily="-111" charset="-128"/>
                </a:rPr>
                <a:t>mechanism </a:t>
              </a:r>
              <a:br>
                <a:rPr lang="en-US" b="1" dirty="0">
                  <a:ea typeface="Osaka" pitchFamily="-111" charset="-128"/>
                </a:rPr>
              </a:br>
              <a:r>
                <a:rPr lang="en-US" b="1" dirty="0">
                  <a:ea typeface="Osaka" pitchFamily="-111" charset="-128"/>
                </a:rPr>
                <a:t>explained</a:t>
              </a:r>
            </a:p>
          </p:txBody>
        </p:sp>
      </p:grpSp>
      <p:sp>
        <p:nvSpPr>
          <p:cNvPr id="2" name="Title 1"/>
          <p:cNvSpPr>
            <a:spLocks noGrp="1"/>
          </p:cNvSpPr>
          <p:nvPr>
            <p:ph type="title"/>
          </p:nvPr>
        </p:nvSpPr>
        <p:spPr>
          <a:xfrm>
            <a:off x="922915" y="167892"/>
            <a:ext cx="10475976" cy="669813"/>
          </a:xfrm>
        </p:spPr>
        <p:txBody>
          <a:bodyPr/>
          <a:lstStyle/>
          <a:p>
            <a:r>
              <a:rPr lang="en-US" dirty="0"/>
              <a:t>Anticoagulant History</a:t>
            </a:r>
          </a:p>
        </p:txBody>
      </p:sp>
      <p:sp>
        <p:nvSpPr>
          <p:cNvPr id="4" name="Rectangle 3"/>
          <p:cNvSpPr/>
          <p:nvPr/>
        </p:nvSpPr>
        <p:spPr>
          <a:xfrm>
            <a:off x="8149230" y="5951724"/>
            <a:ext cx="3890370" cy="215444"/>
          </a:xfrm>
          <a:prstGeom prst="rect">
            <a:avLst/>
          </a:prstGeom>
        </p:spPr>
        <p:txBody>
          <a:bodyPr wrap="square">
            <a:spAutoFit/>
          </a:bodyPr>
          <a:lstStyle/>
          <a:p>
            <a:r>
              <a:rPr lang="en-US" sz="800" dirty="0">
                <a:cs typeface="Times" panose="02020603050405020304" pitchFamily="18" charset="0"/>
              </a:rPr>
              <a:t>https://www.hematology.org/about/history/50-years/milestones-anticoagulant-drugs</a:t>
            </a:r>
          </a:p>
        </p:txBody>
      </p:sp>
      <p:cxnSp>
        <p:nvCxnSpPr>
          <p:cNvPr id="53" name="Straight Arrow Connector 52">
            <a:extLst>
              <a:ext uri="{FF2B5EF4-FFF2-40B4-BE49-F238E27FC236}">
                <a16:creationId xmlns:a16="http://schemas.microsoft.com/office/drawing/2014/main" id="{35F5755B-A816-C88F-37EC-6C918794634E}"/>
              </a:ext>
            </a:extLst>
          </p:cNvPr>
          <p:cNvCxnSpPr>
            <a:cxnSpLocks/>
          </p:cNvCxnSpPr>
          <p:nvPr/>
        </p:nvCxnSpPr>
        <p:spPr bwMode="auto">
          <a:xfrm flipV="1">
            <a:off x="0" y="3929385"/>
            <a:ext cx="11963400" cy="19291"/>
          </a:xfrm>
          <a:prstGeom prst="straightConnector1">
            <a:avLst/>
          </a:prstGeom>
          <a:ln w="50800">
            <a:solidFill>
              <a:schemeClr val="tx2"/>
            </a:solidFill>
            <a:headEnd type="none" w="med" len="med"/>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19459F76-C823-583F-2F70-5EDC0DE8B242}"/>
              </a:ext>
            </a:extLst>
          </p:cNvPr>
          <p:cNvSpPr/>
          <p:nvPr/>
        </p:nvSpPr>
        <p:spPr bwMode="auto">
          <a:xfrm>
            <a:off x="1320659" y="3790151"/>
            <a:ext cx="301752" cy="300942"/>
          </a:xfrm>
          <a:prstGeom prst="ellipse">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1600">
              <a:ea typeface="Osaka" pitchFamily="-111" charset="-128"/>
            </a:endParaRPr>
          </a:p>
        </p:txBody>
      </p:sp>
      <p:sp>
        <p:nvSpPr>
          <p:cNvPr id="63" name="Oval 62">
            <a:extLst>
              <a:ext uri="{FF2B5EF4-FFF2-40B4-BE49-F238E27FC236}">
                <a16:creationId xmlns:a16="http://schemas.microsoft.com/office/drawing/2014/main" id="{C666F714-EEFD-F4AD-D63C-8907424451F0}"/>
              </a:ext>
            </a:extLst>
          </p:cNvPr>
          <p:cNvSpPr/>
          <p:nvPr/>
        </p:nvSpPr>
        <p:spPr bwMode="auto">
          <a:xfrm>
            <a:off x="3251788" y="3790151"/>
            <a:ext cx="301752" cy="300942"/>
          </a:xfrm>
          <a:prstGeom prst="ellipse">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ea typeface="Osaka" pitchFamily="-111" charset="-128"/>
              <a:cs typeface="Osaka" pitchFamily="-111" charset="-128"/>
            </a:endParaRPr>
          </a:p>
        </p:txBody>
      </p:sp>
      <p:sp>
        <p:nvSpPr>
          <p:cNvPr id="64" name="Oval 63">
            <a:extLst>
              <a:ext uri="{FF2B5EF4-FFF2-40B4-BE49-F238E27FC236}">
                <a16:creationId xmlns:a16="http://schemas.microsoft.com/office/drawing/2014/main" id="{EE5A4D69-6570-FCA5-BC9B-A193FA46965B}"/>
              </a:ext>
            </a:extLst>
          </p:cNvPr>
          <p:cNvSpPr/>
          <p:nvPr/>
        </p:nvSpPr>
        <p:spPr bwMode="auto">
          <a:xfrm>
            <a:off x="4169316" y="3790151"/>
            <a:ext cx="301752" cy="300942"/>
          </a:xfrm>
          <a:prstGeom prst="ellipse">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ea typeface="Osaka" pitchFamily="-111" charset="-128"/>
              <a:cs typeface="Osaka" pitchFamily="-111" charset="-128"/>
            </a:endParaRPr>
          </a:p>
        </p:txBody>
      </p:sp>
      <p:sp>
        <p:nvSpPr>
          <p:cNvPr id="65" name="Oval 64">
            <a:extLst>
              <a:ext uri="{FF2B5EF4-FFF2-40B4-BE49-F238E27FC236}">
                <a16:creationId xmlns:a16="http://schemas.microsoft.com/office/drawing/2014/main" id="{BF81FB6E-6237-B3DB-6876-D2025BC23E94}"/>
              </a:ext>
            </a:extLst>
          </p:cNvPr>
          <p:cNvSpPr/>
          <p:nvPr/>
        </p:nvSpPr>
        <p:spPr bwMode="auto">
          <a:xfrm>
            <a:off x="2177352" y="3790151"/>
            <a:ext cx="301752" cy="300942"/>
          </a:xfrm>
          <a:prstGeom prst="ellipse">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ea typeface="Osaka" pitchFamily="-111" charset="-128"/>
              <a:cs typeface="Osaka" pitchFamily="-111" charset="-128"/>
            </a:endParaRPr>
          </a:p>
        </p:txBody>
      </p:sp>
      <p:sp>
        <p:nvSpPr>
          <p:cNvPr id="69" name="Oval 68">
            <a:extLst>
              <a:ext uri="{FF2B5EF4-FFF2-40B4-BE49-F238E27FC236}">
                <a16:creationId xmlns:a16="http://schemas.microsoft.com/office/drawing/2014/main" id="{04B47FC7-9EAD-EEEE-FD8A-031948005BF7}"/>
              </a:ext>
            </a:extLst>
          </p:cNvPr>
          <p:cNvSpPr/>
          <p:nvPr/>
        </p:nvSpPr>
        <p:spPr bwMode="auto">
          <a:xfrm>
            <a:off x="5160707" y="3791116"/>
            <a:ext cx="301752" cy="299013"/>
          </a:xfrm>
          <a:prstGeom prst="ellipse">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ea typeface="Osaka" pitchFamily="-111" charset="-128"/>
              <a:cs typeface="Osaka" pitchFamily="-111" charset="-128"/>
            </a:endParaRPr>
          </a:p>
        </p:txBody>
      </p:sp>
      <p:sp>
        <p:nvSpPr>
          <p:cNvPr id="73" name="Oval 72">
            <a:extLst>
              <a:ext uri="{FF2B5EF4-FFF2-40B4-BE49-F238E27FC236}">
                <a16:creationId xmlns:a16="http://schemas.microsoft.com/office/drawing/2014/main" id="{66C1F7FD-95DA-F0BF-63B5-1A3DFDDDA19F}"/>
              </a:ext>
            </a:extLst>
          </p:cNvPr>
          <p:cNvSpPr/>
          <p:nvPr/>
        </p:nvSpPr>
        <p:spPr bwMode="auto">
          <a:xfrm>
            <a:off x="6235143" y="3791116"/>
            <a:ext cx="301752" cy="299013"/>
          </a:xfrm>
          <a:prstGeom prst="ellipse">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ea typeface="Osaka" pitchFamily="-111" charset="-128"/>
              <a:cs typeface="Osaka" pitchFamily="-111" charset="-128"/>
            </a:endParaRPr>
          </a:p>
        </p:txBody>
      </p:sp>
      <p:sp>
        <p:nvSpPr>
          <p:cNvPr id="76" name="Oval 75">
            <a:extLst>
              <a:ext uri="{FF2B5EF4-FFF2-40B4-BE49-F238E27FC236}">
                <a16:creationId xmlns:a16="http://schemas.microsoft.com/office/drawing/2014/main" id="{F408C871-8EA7-D5BD-9448-E169D9AB03EA}"/>
              </a:ext>
            </a:extLst>
          </p:cNvPr>
          <p:cNvSpPr/>
          <p:nvPr/>
        </p:nvSpPr>
        <p:spPr bwMode="auto">
          <a:xfrm>
            <a:off x="7367651" y="3791116"/>
            <a:ext cx="301752" cy="299013"/>
          </a:xfrm>
          <a:prstGeom prst="ellipse">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ea typeface="Osaka" pitchFamily="-111" charset="-128"/>
              <a:cs typeface="Osaka" pitchFamily="-111" charset="-128"/>
            </a:endParaRPr>
          </a:p>
        </p:txBody>
      </p:sp>
      <p:sp>
        <p:nvSpPr>
          <p:cNvPr id="77" name="Oval 76">
            <a:extLst>
              <a:ext uri="{FF2B5EF4-FFF2-40B4-BE49-F238E27FC236}">
                <a16:creationId xmlns:a16="http://schemas.microsoft.com/office/drawing/2014/main" id="{E7A7FB3A-ED01-D511-6006-2F796A23A408}"/>
              </a:ext>
            </a:extLst>
          </p:cNvPr>
          <p:cNvSpPr/>
          <p:nvPr/>
        </p:nvSpPr>
        <p:spPr bwMode="auto">
          <a:xfrm>
            <a:off x="8422047" y="3791116"/>
            <a:ext cx="301752" cy="299013"/>
          </a:xfrm>
          <a:prstGeom prst="ellipse">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ea typeface="Osaka" pitchFamily="-111" charset="-128"/>
              <a:cs typeface="Osaka" pitchFamily="-111" charset="-128"/>
            </a:endParaRPr>
          </a:p>
        </p:txBody>
      </p:sp>
      <p:sp>
        <p:nvSpPr>
          <p:cNvPr id="80" name="Oval 79">
            <a:extLst>
              <a:ext uri="{FF2B5EF4-FFF2-40B4-BE49-F238E27FC236}">
                <a16:creationId xmlns:a16="http://schemas.microsoft.com/office/drawing/2014/main" id="{BF54737F-5543-050D-DDCB-225F5C384F2C}"/>
              </a:ext>
            </a:extLst>
          </p:cNvPr>
          <p:cNvSpPr/>
          <p:nvPr/>
        </p:nvSpPr>
        <p:spPr bwMode="auto">
          <a:xfrm>
            <a:off x="9585882" y="3791116"/>
            <a:ext cx="301752" cy="299013"/>
          </a:xfrm>
          <a:prstGeom prst="ellipse">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ea typeface="Osaka" pitchFamily="-111" charset="-128"/>
              <a:cs typeface="Osaka" pitchFamily="-111" charset="-128"/>
            </a:endParaRPr>
          </a:p>
        </p:txBody>
      </p:sp>
      <p:sp>
        <p:nvSpPr>
          <p:cNvPr id="81" name="Oval 80">
            <a:extLst>
              <a:ext uri="{FF2B5EF4-FFF2-40B4-BE49-F238E27FC236}">
                <a16:creationId xmlns:a16="http://schemas.microsoft.com/office/drawing/2014/main" id="{EB3443C2-167D-2211-33E7-ED665CA4EC10}"/>
              </a:ext>
            </a:extLst>
          </p:cNvPr>
          <p:cNvSpPr/>
          <p:nvPr/>
        </p:nvSpPr>
        <p:spPr bwMode="auto">
          <a:xfrm>
            <a:off x="10726570" y="3791116"/>
            <a:ext cx="301752" cy="299013"/>
          </a:xfrm>
          <a:prstGeom prst="ellipse">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ea typeface="Osaka" pitchFamily="-111" charset="-128"/>
              <a:cs typeface="Osaka" pitchFamily="-111" charset="-128"/>
            </a:endParaRPr>
          </a:p>
        </p:txBody>
      </p:sp>
      <p:sp>
        <p:nvSpPr>
          <p:cNvPr id="84" name="Rectangle 83">
            <a:extLst>
              <a:ext uri="{FF2B5EF4-FFF2-40B4-BE49-F238E27FC236}">
                <a16:creationId xmlns:a16="http://schemas.microsoft.com/office/drawing/2014/main" id="{568C1928-5300-F4B9-CFBE-791DABACAC4C}"/>
              </a:ext>
            </a:extLst>
          </p:cNvPr>
          <p:cNvSpPr/>
          <p:nvPr/>
        </p:nvSpPr>
        <p:spPr bwMode="auto">
          <a:xfrm>
            <a:off x="278830" y="3444996"/>
            <a:ext cx="721777" cy="3819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ea typeface="Osaka" pitchFamily="-111" charset="-128"/>
                <a:cs typeface="Osaka" pitchFamily="-111" charset="-128"/>
              </a:rPr>
              <a:t>1920</a:t>
            </a:r>
          </a:p>
        </p:txBody>
      </p:sp>
      <p:sp>
        <p:nvSpPr>
          <p:cNvPr id="85" name="Rectangle 84">
            <a:extLst>
              <a:ext uri="{FF2B5EF4-FFF2-40B4-BE49-F238E27FC236}">
                <a16:creationId xmlns:a16="http://schemas.microsoft.com/office/drawing/2014/main" id="{C0D84A88-3FC2-2ADB-29B9-1E763B014A87}"/>
              </a:ext>
            </a:extLst>
          </p:cNvPr>
          <p:cNvSpPr/>
          <p:nvPr/>
        </p:nvSpPr>
        <p:spPr bwMode="auto">
          <a:xfrm>
            <a:off x="1942322" y="3444996"/>
            <a:ext cx="721777" cy="3819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ea typeface="Osaka" pitchFamily="-111" charset="-128"/>
                <a:cs typeface="Osaka" pitchFamily="-111" charset="-128"/>
              </a:rPr>
              <a:t>1940</a:t>
            </a:r>
          </a:p>
        </p:txBody>
      </p:sp>
      <p:sp>
        <p:nvSpPr>
          <p:cNvPr id="86" name="Rectangle 85">
            <a:extLst>
              <a:ext uri="{FF2B5EF4-FFF2-40B4-BE49-F238E27FC236}">
                <a16:creationId xmlns:a16="http://schemas.microsoft.com/office/drawing/2014/main" id="{11DEB397-1FF4-D399-8733-CAB01B898D19}"/>
              </a:ext>
            </a:extLst>
          </p:cNvPr>
          <p:cNvSpPr/>
          <p:nvPr/>
        </p:nvSpPr>
        <p:spPr bwMode="auto">
          <a:xfrm>
            <a:off x="3043602" y="3444996"/>
            <a:ext cx="721777" cy="3819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ea typeface="Osaka" pitchFamily="-111" charset="-128"/>
                <a:cs typeface="Osaka" pitchFamily="-111" charset="-128"/>
              </a:rPr>
              <a:t>1950</a:t>
            </a:r>
          </a:p>
        </p:txBody>
      </p:sp>
      <p:sp>
        <p:nvSpPr>
          <p:cNvPr id="87" name="Rectangle 86">
            <a:extLst>
              <a:ext uri="{FF2B5EF4-FFF2-40B4-BE49-F238E27FC236}">
                <a16:creationId xmlns:a16="http://schemas.microsoft.com/office/drawing/2014/main" id="{35B683EF-ED8B-14DA-A828-67BC907065F0}"/>
              </a:ext>
            </a:extLst>
          </p:cNvPr>
          <p:cNvSpPr/>
          <p:nvPr/>
        </p:nvSpPr>
        <p:spPr bwMode="auto">
          <a:xfrm>
            <a:off x="3959864" y="3444996"/>
            <a:ext cx="721777" cy="3819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ea typeface="Osaka" pitchFamily="-111" charset="-128"/>
                <a:cs typeface="Osaka" pitchFamily="-111" charset="-128"/>
              </a:rPr>
              <a:t>1960</a:t>
            </a:r>
          </a:p>
        </p:txBody>
      </p:sp>
      <p:sp>
        <p:nvSpPr>
          <p:cNvPr id="88" name="Rectangle 87">
            <a:extLst>
              <a:ext uri="{FF2B5EF4-FFF2-40B4-BE49-F238E27FC236}">
                <a16:creationId xmlns:a16="http://schemas.microsoft.com/office/drawing/2014/main" id="{6D79C545-F4A3-C41B-DB27-226C583AB430}"/>
              </a:ext>
            </a:extLst>
          </p:cNvPr>
          <p:cNvSpPr/>
          <p:nvPr/>
        </p:nvSpPr>
        <p:spPr bwMode="auto">
          <a:xfrm>
            <a:off x="4950626" y="3444996"/>
            <a:ext cx="721777" cy="3819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ea typeface="Osaka" pitchFamily="-111" charset="-128"/>
                <a:cs typeface="Osaka" pitchFamily="-111" charset="-128"/>
              </a:rPr>
              <a:t>1970</a:t>
            </a:r>
          </a:p>
        </p:txBody>
      </p:sp>
      <p:sp>
        <p:nvSpPr>
          <p:cNvPr id="89" name="Rectangle 88">
            <a:extLst>
              <a:ext uri="{FF2B5EF4-FFF2-40B4-BE49-F238E27FC236}">
                <a16:creationId xmlns:a16="http://schemas.microsoft.com/office/drawing/2014/main" id="{CB09CFF1-8401-8907-B2EF-4B5509314ECD}"/>
              </a:ext>
            </a:extLst>
          </p:cNvPr>
          <p:cNvSpPr/>
          <p:nvPr/>
        </p:nvSpPr>
        <p:spPr bwMode="auto">
          <a:xfrm>
            <a:off x="5966528" y="3444996"/>
            <a:ext cx="868370" cy="3819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ea typeface="Osaka" pitchFamily="-111" charset="-128"/>
                <a:cs typeface="Osaka" pitchFamily="-111" charset="-128"/>
              </a:rPr>
              <a:t>1980</a:t>
            </a:r>
          </a:p>
        </p:txBody>
      </p:sp>
      <p:sp>
        <p:nvSpPr>
          <p:cNvPr id="91" name="Rectangle 90">
            <a:extLst>
              <a:ext uri="{FF2B5EF4-FFF2-40B4-BE49-F238E27FC236}">
                <a16:creationId xmlns:a16="http://schemas.microsoft.com/office/drawing/2014/main" id="{837692B4-F732-4102-023F-B970E4E3C71E}"/>
              </a:ext>
            </a:extLst>
          </p:cNvPr>
          <p:cNvSpPr/>
          <p:nvPr/>
        </p:nvSpPr>
        <p:spPr bwMode="auto">
          <a:xfrm>
            <a:off x="8149230" y="3444996"/>
            <a:ext cx="846890" cy="3819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ea typeface="Osaka" pitchFamily="-111" charset="-128"/>
                <a:cs typeface="Osaka" pitchFamily="-111" charset="-128"/>
              </a:rPr>
              <a:t>2000</a:t>
            </a:r>
          </a:p>
        </p:txBody>
      </p:sp>
      <p:sp>
        <p:nvSpPr>
          <p:cNvPr id="92" name="Rectangle 91">
            <a:extLst>
              <a:ext uri="{FF2B5EF4-FFF2-40B4-BE49-F238E27FC236}">
                <a16:creationId xmlns:a16="http://schemas.microsoft.com/office/drawing/2014/main" id="{A6BF9016-13AE-18EC-1E8E-0D010D745D26}"/>
              </a:ext>
            </a:extLst>
          </p:cNvPr>
          <p:cNvSpPr/>
          <p:nvPr/>
        </p:nvSpPr>
        <p:spPr bwMode="auto">
          <a:xfrm>
            <a:off x="7156081" y="3444996"/>
            <a:ext cx="721777" cy="3819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ea typeface="Osaka" pitchFamily="-111" charset="-128"/>
                <a:cs typeface="Osaka" pitchFamily="-111" charset="-128"/>
              </a:rPr>
              <a:t>1990</a:t>
            </a:r>
          </a:p>
        </p:txBody>
      </p:sp>
      <p:sp>
        <p:nvSpPr>
          <p:cNvPr id="93" name="Rectangle 92">
            <a:extLst>
              <a:ext uri="{FF2B5EF4-FFF2-40B4-BE49-F238E27FC236}">
                <a16:creationId xmlns:a16="http://schemas.microsoft.com/office/drawing/2014/main" id="{0B00F6A6-CBA0-1E39-8B51-949FAD4633ED}"/>
              </a:ext>
            </a:extLst>
          </p:cNvPr>
          <p:cNvSpPr/>
          <p:nvPr/>
        </p:nvSpPr>
        <p:spPr bwMode="auto">
          <a:xfrm>
            <a:off x="9314084" y="3444996"/>
            <a:ext cx="846890" cy="3819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ea typeface="Osaka" pitchFamily="-111" charset="-128"/>
                <a:cs typeface="Osaka" pitchFamily="-111" charset="-128"/>
              </a:rPr>
              <a:t>2010</a:t>
            </a:r>
          </a:p>
        </p:txBody>
      </p:sp>
      <p:sp>
        <p:nvSpPr>
          <p:cNvPr id="94" name="Rectangle 93">
            <a:extLst>
              <a:ext uri="{FF2B5EF4-FFF2-40B4-BE49-F238E27FC236}">
                <a16:creationId xmlns:a16="http://schemas.microsoft.com/office/drawing/2014/main" id="{0040BAF5-2BB1-DF47-BFDF-EF81045688C0}"/>
              </a:ext>
            </a:extLst>
          </p:cNvPr>
          <p:cNvSpPr/>
          <p:nvPr/>
        </p:nvSpPr>
        <p:spPr bwMode="auto">
          <a:xfrm>
            <a:off x="10460284" y="3444996"/>
            <a:ext cx="846890" cy="3819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ea typeface="Osaka" pitchFamily="-111" charset="-128"/>
                <a:cs typeface="Osaka" pitchFamily="-111" charset="-128"/>
              </a:rPr>
              <a:t>2020</a:t>
            </a:r>
          </a:p>
        </p:txBody>
      </p:sp>
      <p:sp>
        <p:nvSpPr>
          <p:cNvPr id="106" name="Rectangle 105">
            <a:extLst>
              <a:ext uri="{FF2B5EF4-FFF2-40B4-BE49-F238E27FC236}">
                <a16:creationId xmlns:a16="http://schemas.microsoft.com/office/drawing/2014/main" id="{1C152484-B20A-3EDD-397E-4F3183BD6C66}"/>
              </a:ext>
            </a:extLst>
          </p:cNvPr>
          <p:cNvSpPr/>
          <p:nvPr/>
        </p:nvSpPr>
        <p:spPr bwMode="auto">
          <a:xfrm>
            <a:off x="1131092" y="3444996"/>
            <a:ext cx="721777" cy="38196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ea typeface="Osaka" pitchFamily="-111" charset="-128"/>
                <a:cs typeface="Osaka" pitchFamily="-111" charset="-128"/>
              </a:rPr>
              <a:t>1930</a:t>
            </a:r>
          </a:p>
        </p:txBody>
      </p:sp>
      <p:sp>
        <p:nvSpPr>
          <p:cNvPr id="107" name="Oval 106">
            <a:extLst>
              <a:ext uri="{FF2B5EF4-FFF2-40B4-BE49-F238E27FC236}">
                <a16:creationId xmlns:a16="http://schemas.microsoft.com/office/drawing/2014/main" id="{0242D3D0-3955-C72A-9431-4765568475F1}"/>
              </a:ext>
            </a:extLst>
          </p:cNvPr>
          <p:cNvSpPr/>
          <p:nvPr/>
        </p:nvSpPr>
        <p:spPr bwMode="auto">
          <a:xfrm>
            <a:off x="488842" y="3790151"/>
            <a:ext cx="301752" cy="300942"/>
          </a:xfrm>
          <a:prstGeom prst="ellipse">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ea typeface="Osaka" pitchFamily="-111" charset="-128"/>
              <a:cs typeface="Osaka" pitchFamily="-111" charset="-128"/>
            </a:endParaRPr>
          </a:p>
        </p:txBody>
      </p:sp>
      <p:grpSp>
        <p:nvGrpSpPr>
          <p:cNvPr id="25" name="Group 24">
            <a:extLst>
              <a:ext uri="{FF2B5EF4-FFF2-40B4-BE49-F238E27FC236}">
                <a16:creationId xmlns:a16="http://schemas.microsoft.com/office/drawing/2014/main" id="{FF1A86D9-07DB-B89F-E1BB-93495EB99C63}"/>
              </a:ext>
            </a:extLst>
          </p:cNvPr>
          <p:cNvGrpSpPr/>
          <p:nvPr/>
        </p:nvGrpSpPr>
        <p:grpSpPr>
          <a:xfrm>
            <a:off x="218782" y="2287579"/>
            <a:ext cx="2781991" cy="3443123"/>
            <a:chOff x="218782" y="2287579"/>
            <a:chExt cx="2781991" cy="3443123"/>
          </a:xfrm>
        </p:grpSpPr>
        <p:cxnSp>
          <p:nvCxnSpPr>
            <p:cNvPr id="95" name="Straight Arrow Connector 94">
              <a:extLst>
                <a:ext uri="{FF2B5EF4-FFF2-40B4-BE49-F238E27FC236}">
                  <a16:creationId xmlns:a16="http://schemas.microsoft.com/office/drawing/2014/main" id="{8D9DAB4C-5286-EFDA-D688-686DF07DE06E}"/>
                </a:ext>
              </a:extLst>
            </p:cNvPr>
            <p:cNvCxnSpPr>
              <a:cxnSpLocks/>
            </p:cNvCxnSpPr>
            <p:nvPr/>
          </p:nvCxnSpPr>
          <p:spPr bwMode="auto">
            <a:xfrm>
              <a:off x="1852869" y="3963474"/>
              <a:ext cx="0" cy="85501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6" name="Rectangle 95">
              <a:extLst>
                <a:ext uri="{FF2B5EF4-FFF2-40B4-BE49-F238E27FC236}">
                  <a16:creationId xmlns:a16="http://schemas.microsoft.com/office/drawing/2014/main" id="{503FEF32-8057-4F88-D218-F650A662799C}"/>
                </a:ext>
              </a:extLst>
            </p:cNvPr>
            <p:cNvSpPr/>
            <p:nvPr/>
          </p:nvSpPr>
          <p:spPr bwMode="auto">
            <a:xfrm>
              <a:off x="704964" y="4890472"/>
              <a:ext cx="2295809" cy="84023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90000"/>
                </a:lnSpc>
                <a:spcBef>
                  <a:spcPct val="0"/>
                </a:spcBef>
                <a:spcAft>
                  <a:spcPct val="0"/>
                </a:spcAft>
                <a:buClrTx/>
                <a:buSzTx/>
                <a:buFontTx/>
                <a:buNone/>
                <a:tabLst/>
              </a:pPr>
              <a:r>
                <a:rPr lang="en-US" b="1" dirty="0">
                  <a:ea typeface="Osaka" pitchFamily="-111" charset="-128"/>
                </a:rPr>
                <a:t>Cofactor </a:t>
              </a:r>
              <a:br>
                <a:rPr lang="en-US" b="1" dirty="0">
                  <a:ea typeface="Osaka" pitchFamily="-111" charset="-128"/>
                </a:rPr>
              </a:br>
              <a:r>
                <a:rPr lang="en-US" b="1" dirty="0">
                  <a:ea typeface="Osaka" pitchFamily="-111" charset="-128"/>
                </a:rPr>
                <a:t>required Heparin approved</a:t>
              </a:r>
            </a:p>
          </p:txBody>
        </p:sp>
        <p:cxnSp>
          <p:nvCxnSpPr>
            <p:cNvPr id="108" name="Straight Arrow Connector 107">
              <a:extLst>
                <a:ext uri="{FF2B5EF4-FFF2-40B4-BE49-F238E27FC236}">
                  <a16:creationId xmlns:a16="http://schemas.microsoft.com/office/drawing/2014/main" id="{6B1584C3-65A2-00D9-21E7-058A62560D1B}"/>
                </a:ext>
              </a:extLst>
            </p:cNvPr>
            <p:cNvCxnSpPr>
              <a:cxnSpLocks/>
            </p:cNvCxnSpPr>
            <p:nvPr/>
          </p:nvCxnSpPr>
          <p:spPr bwMode="auto">
            <a:xfrm flipV="1">
              <a:off x="328305" y="2882159"/>
              <a:ext cx="0" cy="105085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9" name="Rectangle 108">
              <a:extLst>
                <a:ext uri="{FF2B5EF4-FFF2-40B4-BE49-F238E27FC236}">
                  <a16:creationId xmlns:a16="http://schemas.microsoft.com/office/drawing/2014/main" id="{3335B571-AE7C-835A-71D3-A51C2E9C6198}"/>
                </a:ext>
              </a:extLst>
            </p:cNvPr>
            <p:cNvSpPr/>
            <p:nvPr/>
          </p:nvSpPr>
          <p:spPr bwMode="auto">
            <a:xfrm>
              <a:off x="218782" y="2287579"/>
              <a:ext cx="1703670" cy="590931"/>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defTabSz="914400" rtl="0" eaLnBrk="0" fontAlgn="base" latinLnBrk="0" hangingPunct="0">
                <a:lnSpc>
                  <a:spcPct val="90000"/>
                </a:lnSpc>
                <a:spcBef>
                  <a:spcPct val="0"/>
                </a:spcBef>
                <a:spcAft>
                  <a:spcPct val="0"/>
                </a:spcAft>
                <a:buClrTx/>
                <a:buSzTx/>
                <a:buFontTx/>
                <a:buNone/>
                <a:tabLst/>
              </a:pPr>
              <a:r>
                <a:rPr lang="en-US" b="1" dirty="0">
                  <a:ea typeface="Osaka" pitchFamily="-111" charset="-128"/>
                  <a:cs typeface="Osaka" pitchFamily="-111" charset="-128"/>
                </a:rPr>
                <a:t>Heparin </a:t>
              </a:r>
              <a:br>
                <a:rPr lang="en-US" b="1" dirty="0">
                  <a:ea typeface="Osaka" pitchFamily="-111" charset="-128"/>
                  <a:cs typeface="Osaka" pitchFamily="-111" charset="-128"/>
                </a:rPr>
              </a:br>
              <a:r>
                <a:rPr lang="en-US" b="1" dirty="0">
                  <a:ea typeface="Osaka" pitchFamily="-111" charset="-128"/>
                  <a:cs typeface="Osaka" pitchFamily="-111" charset="-128"/>
                </a:rPr>
                <a:t>discovery </a:t>
              </a:r>
              <a:endParaRPr kumimoji="0" lang="en-US" b="1" i="0" u="none" strike="noStrike" cap="none" normalizeH="0" baseline="0" dirty="0">
                <a:ln>
                  <a:noFill/>
                </a:ln>
                <a:solidFill>
                  <a:schemeClr val="tx1"/>
                </a:solidFill>
                <a:effectLst/>
                <a:ea typeface="Osaka" pitchFamily="-111" charset="-128"/>
                <a:cs typeface="Osaka" pitchFamily="-111" charset="-128"/>
              </a:endParaRPr>
            </a:p>
          </p:txBody>
        </p:sp>
      </p:grpSp>
      <p:grpSp>
        <p:nvGrpSpPr>
          <p:cNvPr id="26" name="Group 25">
            <a:extLst>
              <a:ext uri="{FF2B5EF4-FFF2-40B4-BE49-F238E27FC236}">
                <a16:creationId xmlns:a16="http://schemas.microsoft.com/office/drawing/2014/main" id="{EC2B3726-8347-9F6B-4CE7-77B52ECAEC5D}"/>
              </a:ext>
            </a:extLst>
          </p:cNvPr>
          <p:cNvGrpSpPr/>
          <p:nvPr/>
        </p:nvGrpSpPr>
        <p:grpSpPr>
          <a:xfrm>
            <a:off x="1135783" y="2287579"/>
            <a:ext cx="3764054" cy="1645437"/>
            <a:chOff x="1135783" y="2287579"/>
            <a:chExt cx="3764054" cy="1645437"/>
          </a:xfrm>
        </p:grpSpPr>
        <p:sp>
          <p:nvSpPr>
            <p:cNvPr id="97" name="Rectangle 96">
              <a:extLst>
                <a:ext uri="{FF2B5EF4-FFF2-40B4-BE49-F238E27FC236}">
                  <a16:creationId xmlns:a16="http://schemas.microsoft.com/office/drawing/2014/main" id="{DACF8D0B-FBB4-FE62-2DB6-F78823072E18}"/>
                </a:ext>
              </a:extLst>
            </p:cNvPr>
            <p:cNvSpPr/>
            <p:nvPr/>
          </p:nvSpPr>
          <p:spPr bwMode="auto">
            <a:xfrm>
              <a:off x="2709119" y="2287579"/>
              <a:ext cx="2190718" cy="590931"/>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90000"/>
                </a:lnSpc>
                <a:spcBef>
                  <a:spcPct val="0"/>
                </a:spcBef>
                <a:spcAft>
                  <a:spcPct val="0"/>
                </a:spcAft>
                <a:buClrTx/>
                <a:buSzTx/>
                <a:buFontTx/>
                <a:buNone/>
                <a:tabLst/>
              </a:pPr>
              <a:r>
                <a:rPr lang="en-US" b="1" dirty="0">
                  <a:ea typeface="Osaka" pitchFamily="-111" charset="-128"/>
                  <a:cs typeface="Osaka" pitchFamily="-111" charset="-128"/>
                </a:rPr>
                <a:t>Warfarin</a:t>
              </a:r>
            </a:p>
            <a:p>
              <a:pPr marL="0" marR="0" indent="0" algn="ctr" defTabSz="914400" rtl="0" eaLnBrk="0" fontAlgn="base" latinLnBrk="0" hangingPunct="0">
                <a:lnSpc>
                  <a:spcPct val="90000"/>
                </a:lnSpc>
                <a:spcBef>
                  <a:spcPct val="0"/>
                </a:spcBef>
                <a:spcAft>
                  <a:spcPct val="0"/>
                </a:spcAft>
                <a:buClrTx/>
                <a:buSzTx/>
                <a:buFontTx/>
                <a:buNone/>
                <a:tabLst/>
              </a:pPr>
              <a:r>
                <a:rPr lang="en-US" b="1" dirty="0">
                  <a:ea typeface="Osaka" pitchFamily="-111" charset="-128"/>
                  <a:cs typeface="Osaka" pitchFamily="-111" charset="-128"/>
                </a:rPr>
                <a:t>approved</a:t>
              </a:r>
              <a:endParaRPr kumimoji="0" lang="en-US" b="1" i="0" u="none" strike="noStrike" cap="none" normalizeH="0" baseline="0" dirty="0">
                <a:ln>
                  <a:noFill/>
                </a:ln>
                <a:solidFill>
                  <a:schemeClr val="tx1"/>
                </a:solidFill>
                <a:effectLst/>
                <a:ea typeface="Osaka" pitchFamily="-111" charset="-128"/>
                <a:cs typeface="Osaka" pitchFamily="-111" charset="-128"/>
              </a:endParaRPr>
            </a:p>
          </p:txBody>
        </p:sp>
        <p:cxnSp>
          <p:nvCxnSpPr>
            <p:cNvPr id="98" name="Straight Arrow Connector 97">
              <a:extLst>
                <a:ext uri="{FF2B5EF4-FFF2-40B4-BE49-F238E27FC236}">
                  <a16:creationId xmlns:a16="http://schemas.microsoft.com/office/drawing/2014/main" id="{63471120-8C96-25D8-9336-3FEE8316FF51}"/>
                </a:ext>
              </a:extLst>
            </p:cNvPr>
            <p:cNvCxnSpPr>
              <a:cxnSpLocks/>
            </p:cNvCxnSpPr>
            <p:nvPr/>
          </p:nvCxnSpPr>
          <p:spPr bwMode="auto">
            <a:xfrm flipV="1">
              <a:off x="3807132" y="2847975"/>
              <a:ext cx="0" cy="108504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0" name="Straight Arrow Connector 109">
              <a:extLst>
                <a:ext uri="{FF2B5EF4-FFF2-40B4-BE49-F238E27FC236}">
                  <a16:creationId xmlns:a16="http://schemas.microsoft.com/office/drawing/2014/main" id="{34DC8504-C2D6-4ECD-664C-3A54E9E5252C}"/>
                </a:ext>
              </a:extLst>
            </p:cNvPr>
            <p:cNvCxnSpPr>
              <a:cxnSpLocks/>
            </p:cNvCxnSpPr>
            <p:nvPr/>
          </p:nvCxnSpPr>
          <p:spPr bwMode="auto">
            <a:xfrm flipV="1">
              <a:off x="1982500" y="2847975"/>
              <a:ext cx="0" cy="108504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11" name="Rectangle 110">
              <a:extLst>
                <a:ext uri="{FF2B5EF4-FFF2-40B4-BE49-F238E27FC236}">
                  <a16:creationId xmlns:a16="http://schemas.microsoft.com/office/drawing/2014/main" id="{03AD4786-892C-5308-91F9-0CA8FC53A0DE}"/>
                </a:ext>
              </a:extLst>
            </p:cNvPr>
            <p:cNvSpPr/>
            <p:nvPr/>
          </p:nvSpPr>
          <p:spPr bwMode="auto">
            <a:xfrm>
              <a:off x="1135783" y="2287579"/>
              <a:ext cx="1740477" cy="590931"/>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90000"/>
                </a:lnSpc>
                <a:spcBef>
                  <a:spcPct val="0"/>
                </a:spcBef>
                <a:spcAft>
                  <a:spcPct val="0"/>
                </a:spcAft>
                <a:buClrTx/>
                <a:buSzTx/>
                <a:buFontTx/>
                <a:buNone/>
                <a:tabLst/>
              </a:pPr>
              <a:r>
                <a:rPr lang="en-US" b="1" dirty="0" err="1">
                  <a:ea typeface="Osaka" pitchFamily="-111" charset="-128"/>
                  <a:cs typeface="Osaka" pitchFamily="-111" charset="-128"/>
                </a:rPr>
                <a:t>Dicumarol</a:t>
              </a:r>
              <a:endParaRPr lang="en-US" b="1" dirty="0">
                <a:ea typeface="Osaka" pitchFamily="-111" charset="-128"/>
                <a:cs typeface="Osaka" pitchFamily="-111" charset="-128"/>
              </a:endParaRPr>
            </a:p>
            <a:p>
              <a:pPr marL="0" marR="0" indent="0" algn="ctr" defTabSz="914400" rtl="0" eaLnBrk="0" fontAlgn="base" latinLnBrk="0" hangingPunct="0">
                <a:lnSpc>
                  <a:spcPct val="90000"/>
                </a:lnSpc>
                <a:spcBef>
                  <a:spcPct val="0"/>
                </a:spcBef>
                <a:spcAft>
                  <a:spcPct val="0"/>
                </a:spcAft>
                <a:buClrTx/>
                <a:buSzTx/>
                <a:buFontTx/>
                <a:buNone/>
                <a:tabLst/>
              </a:pPr>
              <a:r>
                <a:rPr kumimoji="0" lang="en-US" b="1" i="0" u="none" strike="noStrike" cap="none" normalizeH="0" baseline="0" dirty="0">
                  <a:ln>
                    <a:noFill/>
                  </a:ln>
                  <a:solidFill>
                    <a:schemeClr val="tx1"/>
                  </a:solidFill>
                  <a:effectLst/>
                  <a:ea typeface="Osaka" pitchFamily="-111" charset="-128"/>
                  <a:cs typeface="Osaka" pitchFamily="-111" charset="-128"/>
                </a:rPr>
                <a:t>discovery</a:t>
              </a:r>
              <a:r>
                <a:rPr kumimoji="0" lang="en-US" b="1" i="0" u="none" strike="noStrike" cap="none" normalizeH="0" dirty="0">
                  <a:ln>
                    <a:noFill/>
                  </a:ln>
                  <a:solidFill>
                    <a:schemeClr val="tx1"/>
                  </a:solidFill>
                  <a:effectLst/>
                  <a:ea typeface="Osaka" pitchFamily="-111" charset="-128"/>
                  <a:cs typeface="Osaka" pitchFamily="-111" charset="-128"/>
                </a:rPr>
                <a:t> </a:t>
              </a:r>
              <a:endParaRPr kumimoji="0" lang="en-US" b="1" i="0" u="none" strike="noStrike" cap="none" normalizeH="0" baseline="0" dirty="0">
                <a:ln>
                  <a:noFill/>
                </a:ln>
                <a:solidFill>
                  <a:schemeClr val="tx1"/>
                </a:solidFill>
                <a:effectLst/>
                <a:ea typeface="Osaka" pitchFamily="-111" charset="-128"/>
                <a:cs typeface="Osaka" pitchFamily="-111" charset="-128"/>
              </a:endParaRPr>
            </a:p>
          </p:txBody>
        </p:sp>
      </p:grpSp>
      <p:grpSp>
        <p:nvGrpSpPr>
          <p:cNvPr id="28" name="Group 27">
            <a:extLst>
              <a:ext uri="{FF2B5EF4-FFF2-40B4-BE49-F238E27FC236}">
                <a16:creationId xmlns:a16="http://schemas.microsoft.com/office/drawing/2014/main" id="{F26CDD1B-95C9-C646-15BE-C9A0125B5E4F}"/>
              </a:ext>
            </a:extLst>
          </p:cNvPr>
          <p:cNvGrpSpPr/>
          <p:nvPr/>
        </p:nvGrpSpPr>
        <p:grpSpPr>
          <a:xfrm>
            <a:off x="7643469" y="1515835"/>
            <a:ext cx="3737110" cy="4214867"/>
            <a:chOff x="7643469" y="1515835"/>
            <a:chExt cx="3737110" cy="4214867"/>
          </a:xfrm>
        </p:grpSpPr>
        <p:cxnSp>
          <p:nvCxnSpPr>
            <p:cNvPr id="103" name="Straight Arrow Connector 102">
              <a:extLst>
                <a:ext uri="{FF2B5EF4-FFF2-40B4-BE49-F238E27FC236}">
                  <a16:creationId xmlns:a16="http://schemas.microsoft.com/office/drawing/2014/main" id="{D7AA953C-A6F6-BE90-BDB7-46E3BED531F6}"/>
                </a:ext>
              </a:extLst>
            </p:cNvPr>
            <p:cNvCxnSpPr>
              <a:cxnSpLocks/>
            </p:cNvCxnSpPr>
            <p:nvPr/>
          </p:nvCxnSpPr>
          <p:spPr bwMode="auto">
            <a:xfrm>
              <a:off x="9466982" y="3948676"/>
              <a:ext cx="0" cy="8698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1" name="Rectangle 100">
              <a:extLst>
                <a:ext uri="{FF2B5EF4-FFF2-40B4-BE49-F238E27FC236}">
                  <a16:creationId xmlns:a16="http://schemas.microsoft.com/office/drawing/2014/main" id="{12FC1C92-A1A2-F40E-911A-6BF24BD45BBF}"/>
                </a:ext>
              </a:extLst>
            </p:cNvPr>
            <p:cNvSpPr/>
            <p:nvPr/>
          </p:nvSpPr>
          <p:spPr bwMode="auto">
            <a:xfrm>
              <a:off x="7643469" y="1515835"/>
              <a:ext cx="2298038" cy="84023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90000"/>
                </a:lnSpc>
                <a:spcBef>
                  <a:spcPct val="0"/>
                </a:spcBef>
                <a:spcAft>
                  <a:spcPct val="0"/>
                </a:spcAft>
                <a:buClrTx/>
                <a:buSzTx/>
                <a:buFontTx/>
                <a:buNone/>
                <a:tabLst/>
              </a:pPr>
              <a:r>
                <a:rPr lang="en-US" b="1" dirty="0" err="1">
                  <a:ea typeface="Osaka" pitchFamily="-111" charset="-128"/>
                  <a:cs typeface="Osaka" pitchFamily="-111" charset="-128"/>
                </a:rPr>
                <a:t>Fondaparinux</a:t>
              </a:r>
              <a:r>
                <a:rPr lang="en-US" b="1" dirty="0">
                  <a:ea typeface="Osaka" pitchFamily="-111" charset="-128"/>
                  <a:cs typeface="Osaka" pitchFamily="-111" charset="-128"/>
                </a:rPr>
                <a:t>, </a:t>
              </a:r>
            </a:p>
            <a:p>
              <a:pPr marL="0" marR="0" indent="0" algn="ctr" defTabSz="914400" rtl="0" eaLnBrk="0" fontAlgn="base" latinLnBrk="0" hangingPunct="0">
                <a:lnSpc>
                  <a:spcPct val="90000"/>
                </a:lnSpc>
                <a:spcBef>
                  <a:spcPct val="0"/>
                </a:spcBef>
                <a:spcAft>
                  <a:spcPct val="0"/>
                </a:spcAft>
                <a:buClrTx/>
                <a:buSzTx/>
                <a:buFontTx/>
                <a:buNone/>
                <a:tabLst/>
              </a:pPr>
              <a:r>
                <a:rPr lang="en-US" b="1" dirty="0">
                  <a:ea typeface="Osaka" pitchFamily="-111" charset="-128"/>
                  <a:cs typeface="Osaka" pitchFamily="-111" charset="-128"/>
                </a:rPr>
                <a:t>IV Direct Thrombin Inhibitors</a:t>
              </a:r>
              <a:endParaRPr kumimoji="0" lang="en-US" b="1" i="0" u="none" strike="noStrike" cap="none" normalizeH="0" baseline="0" dirty="0">
                <a:ln>
                  <a:noFill/>
                </a:ln>
                <a:solidFill>
                  <a:schemeClr val="tx1"/>
                </a:solidFill>
                <a:effectLst/>
                <a:ea typeface="Osaka" pitchFamily="-111" charset="-128"/>
                <a:cs typeface="Osaka" pitchFamily="-111" charset="-128"/>
              </a:endParaRPr>
            </a:p>
          </p:txBody>
        </p:sp>
        <p:cxnSp>
          <p:nvCxnSpPr>
            <p:cNvPr id="102" name="Straight Arrow Connector 101">
              <a:extLst>
                <a:ext uri="{FF2B5EF4-FFF2-40B4-BE49-F238E27FC236}">
                  <a16:creationId xmlns:a16="http://schemas.microsoft.com/office/drawing/2014/main" id="{D06FB9E7-182A-DD7C-4924-A78403E6FD83}"/>
                </a:ext>
              </a:extLst>
            </p:cNvPr>
            <p:cNvCxnSpPr>
              <a:cxnSpLocks/>
            </p:cNvCxnSpPr>
            <p:nvPr/>
          </p:nvCxnSpPr>
          <p:spPr bwMode="auto">
            <a:xfrm flipV="1">
              <a:off x="8792488" y="2371725"/>
              <a:ext cx="0" cy="15612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4" name="Rectangle 103">
              <a:extLst>
                <a:ext uri="{FF2B5EF4-FFF2-40B4-BE49-F238E27FC236}">
                  <a16:creationId xmlns:a16="http://schemas.microsoft.com/office/drawing/2014/main" id="{B9F9613E-0001-02F2-5E64-2D2D9FFC51DE}"/>
                </a:ext>
              </a:extLst>
            </p:cNvPr>
            <p:cNvSpPr/>
            <p:nvPr/>
          </p:nvSpPr>
          <p:spPr bwMode="auto">
            <a:xfrm>
              <a:off x="8171324" y="4890472"/>
              <a:ext cx="2600791" cy="84023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defTabSz="914400" eaLnBrk="0" fontAlgn="base" hangingPunct="0">
                <a:lnSpc>
                  <a:spcPct val="90000"/>
                </a:lnSpc>
                <a:spcBef>
                  <a:spcPct val="0"/>
                </a:spcBef>
                <a:spcAft>
                  <a:spcPct val="0"/>
                </a:spcAft>
              </a:pPr>
              <a:r>
                <a:rPr lang="en-US" b="1" dirty="0">
                  <a:ea typeface="Osaka" pitchFamily="-111" charset="-128"/>
                </a:rPr>
                <a:t>Oral Direct </a:t>
              </a:r>
              <a:br>
                <a:rPr lang="en-US" b="1" dirty="0">
                  <a:ea typeface="Osaka" pitchFamily="-111" charset="-128"/>
                </a:rPr>
              </a:br>
              <a:r>
                <a:rPr lang="en-US" b="1" dirty="0">
                  <a:ea typeface="Osaka" pitchFamily="-111" charset="-128"/>
                </a:rPr>
                <a:t>Thrombin </a:t>
              </a:r>
            </a:p>
            <a:p>
              <a:pPr algn="ctr" defTabSz="914400" eaLnBrk="0" fontAlgn="base" hangingPunct="0">
                <a:lnSpc>
                  <a:spcPct val="90000"/>
                </a:lnSpc>
                <a:spcBef>
                  <a:spcPct val="0"/>
                </a:spcBef>
                <a:spcAft>
                  <a:spcPct val="0"/>
                </a:spcAft>
              </a:pPr>
              <a:r>
                <a:rPr lang="en-US" b="1" dirty="0">
                  <a:ea typeface="Osaka" pitchFamily="-111" charset="-128"/>
                </a:rPr>
                <a:t>Inhibitor</a:t>
              </a:r>
            </a:p>
          </p:txBody>
        </p:sp>
        <p:sp>
          <p:nvSpPr>
            <p:cNvPr id="105" name="Rectangle 104">
              <a:extLst>
                <a:ext uri="{FF2B5EF4-FFF2-40B4-BE49-F238E27FC236}">
                  <a16:creationId xmlns:a16="http://schemas.microsoft.com/office/drawing/2014/main" id="{91608ECA-AE75-FE4C-3085-334FF1ACCC37}"/>
                </a:ext>
              </a:extLst>
            </p:cNvPr>
            <p:cNvSpPr/>
            <p:nvPr/>
          </p:nvSpPr>
          <p:spPr bwMode="auto">
            <a:xfrm>
              <a:off x="9267552" y="2518412"/>
              <a:ext cx="2113027" cy="341632"/>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90000"/>
                </a:lnSpc>
                <a:spcBef>
                  <a:spcPct val="0"/>
                </a:spcBef>
                <a:spcAft>
                  <a:spcPct val="0"/>
                </a:spcAft>
                <a:buClrTx/>
                <a:buSzTx/>
                <a:buFontTx/>
                <a:buNone/>
                <a:tabLst/>
              </a:pPr>
              <a:r>
                <a:rPr lang="en-US" b="1" dirty="0">
                  <a:ea typeface="Osaka" pitchFamily="-111" charset="-128"/>
                  <a:cs typeface="Osaka" pitchFamily="-111" charset="-128"/>
                </a:rPr>
                <a:t>Oral </a:t>
              </a:r>
              <a:r>
                <a:rPr lang="en-US" b="1" dirty="0" err="1">
                  <a:ea typeface="Osaka" pitchFamily="-111" charset="-128"/>
                  <a:cs typeface="Osaka" pitchFamily="-111" charset="-128"/>
                </a:rPr>
                <a:t>Xa</a:t>
              </a:r>
              <a:r>
                <a:rPr lang="en-US" b="1" dirty="0">
                  <a:ea typeface="Osaka" pitchFamily="-111" charset="-128"/>
                  <a:cs typeface="Osaka" pitchFamily="-111" charset="-128"/>
                </a:rPr>
                <a:t> Inhibitors</a:t>
              </a:r>
              <a:endParaRPr kumimoji="0" lang="en-US" b="1" i="0" u="none" strike="noStrike" cap="none" normalizeH="0" baseline="0" dirty="0">
                <a:ln>
                  <a:noFill/>
                </a:ln>
                <a:solidFill>
                  <a:schemeClr val="tx1"/>
                </a:solidFill>
                <a:effectLst/>
                <a:ea typeface="Osaka" pitchFamily="-111" charset="-128"/>
                <a:cs typeface="Osaka" pitchFamily="-111" charset="-128"/>
              </a:endParaRPr>
            </a:p>
          </p:txBody>
        </p:sp>
        <p:cxnSp>
          <p:nvCxnSpPr>
            <p:cNvPr id="115" name="Straight Arrow Connector 114">
              <a:extLst>
                <a:ext uri="{FF2B5EF4-FFF2-40B4-BE49-F238E27FC236}">
                  <a16:creationId xmlns:a16="http://schemas.microsoft.com/office/drawing/2014/main" id="{0D1B7828-E4ED-144C-03AE-639EDB9B8F2B}"/>
                </a:ext>
              </a:extLst>
            </p:cNvPr>
            <p:cNvCxnSpPr>
              <a:cxnSpLocks/>
            </p:cNvCxnSpPr>
            <p:nvPr/>
          </p:nvCxnSpPr>
          <p:spPr bwMode="auto">
            <a:xfrm flipV="1">
              <a:off x="11190034" y="2847975"/>
              <a:ext cx="0" cy="108504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6" name="Straight Arrow Connector 115">
              <a:extLst>
                <a:ext uri="{FF2B5EF4-FFF2-40B4-BE49-F238E27FC236}">
                  <a16:creationId xmlns:a16="http://schemas.microsoft.com/office/drawing/2014/main" id="{E3AEE2A2-13CA-F42D-FB69-72C744070EC2}"/>
                </a:ext>
              </a:extLst>
            </p:cNvPr>
            <p:cNvCxnSpPr>
              <a:cxnSpLocks/>
            </p:cNvCxnSpPr>
            <p:nvPr/>
          </p:nvCxnSpPr>
          <p:spPr bwMode="auto">
            <a:xfrm flipV="1">
              <a:off x="9435981" y="2847975"/>
              <a:ext cx="0" cy="108504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7" name="Straight Arrow Connector 116">
              <a:extLst>
                <a:ext uri="{FF2B5EF4-FFF2-40B4-BE49-F238E27FC236}">
                  <a16:creationId xmlns:a16="http://schemas.microsoft.com/office/drawing/2014/main" id="{EA266711-B447-BD6D-6DB1-03A9EF720C57}"/>
                </a:ext>
              </a:extLst>
            </p:cNvPr>
            <p:cNvCxnSpPr>
              <a:cxnSpLocks/>
            </p:cNvCxnSpPr>
            <p:nvPr/>
          </p:nvCxnSpPr>
          <p:spPr bwMode="auto">
            <a:xfrm flipV="1">
              <a:off x="10366854" y="2847975"/>
              <a:ext cx="0" cy="108504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grpSp>
        <p:nvGrpSpPr>
          <p:cNvPr id="27" name="Group 26">
            <a:extLst>
              <a:ext uri="{FF2B5EF4-FFF2-40B4-BE49-F238E27FC236}">
                <a16:creationId xmlns:a16="http://schemas.microsoft.com/office/drawing/2014/main" id="{C08E958B-3851-928D-9D05-E79C0B37B777}"/>
              </a:ext>
            </a:extLst>
          </p:cNvPr>
          <p:cNvGrpSpPr/>
          <p:nvPr/>
        </p:nvGrpSpPr>
        <p:grpSpPr>
          <a:xfrm>
            <a:off x="4642506" y="1109442"/>
            <a:ext cx="3507184" cy="4621260"/>
            <a:chOff x="4642506" y="1109442"/>
            <a:chExt cx="3507184" cy="4621260"/>
          </a:xfrm>
        </p:grpSpPr>
        <p:cxnSp>
          <p:nvCxnSpPr>
            <p:cNvPr id="99" name="Straight Arrow Connector 98">
              <a:extLst>
                <a:ext uri="{FF2B5EF4-FFF2-40B4-BE49-F238E27FC236}">
                  <a16:creationId xmlns:a16="http://schemas.microsoft.com/office/drawing/2014/main" id="{CA0B2CBF-FE61-C7CC-7540-8EFE58A06DC7}"/>
                </a:ext>
              </a:extLst>
            </p:cNvPr>
            <p:cNvCxnSpPr>
              <a:cxnSpLocks/>
            </p:cNvCxnSpPr>
            <p:nvPr/>
          </p:nvCxnSpPr>
          <p:spPr bwMode="auto">
            <a:xfrm>
              <a:off x="7067181" y="3963474"/>
              <a:ext cx="0" cy="85501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0" name="Rectangle 99">
              <a:extLst>
                <a:ext uri="{FF2B5EF4-FFF2-40B4-BE49-F238E27FC236}">
                  <a16:creationId xmlns:a16="http://schemas.microsoft.com/office/drawing/2014/main" id="{6E4098B7-F5D6-31F6-D599-F116023C8389}"/>
                </a:ext>
              </a:extLst>
            </p:cNvPr>
            <p:cNvSpPr/>
            <p:nvPr/>
          </p:nvSpPr>
          <p:spPr bwMode="auto">
            <a:xfrm>
              <a:off x="5932065" y="4890472"/>
              <a:ext cx="2217625" cy="84023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R="0" indent="0" algn="ctr" defTabSz="914400" eaLnBrk="0" fontAlgn="base" hangingPunct="0">
                <a:lnSpc>
                  <a:spcPct val="90000"/>
                </a:lnSpc>
                <a:spcBef>
                  <a:spcPct val="0"/>
                </a:spcBef>
                <a:spcAft>
                  <a:spcPct val="0"/>
                </a:spcAft>
                <a:buClrTx/>
                <a:buSzTx/>
                <a:buFontTx/>
                <a:buNone/>
                <a:tabLst/>
              </a:pPr>
              <a:r>
                <a:rPr lang="en-US" b="1" dirty="0">
                  <a:ea typeface="Osaka" pitchFamily="-111" charset="-128"/>
                </a:rPr>
                <a:t>Low molecular </a:t>
              </a:r>
              <a:br>
                <a:rPr lang="en-US" b="1" dirty="0">
                  <a:ea typeface="Osaka" pitchFamily="-111" charset="-128"/>
                </a:rPr>
              </a:br>
              <a:r>
                <a:rPr lang="en-US" b="1" dirty="0">
                  <a:ea typeface="Osaka" pitchFamily="-111" charset="-128"/>
                </a:rPr>
                <a:t>weight heparins </a:t>
              </a:r>
              <a:br>
                <a:rPr lang="en-US" b="1" dirty="0">
                  <a:ea typeface="Osaka" pitchFamily="-111" charset="-128"/>
                </a:rPr>
              </a:br>
              <a:r>
                <a:rPr lang="en-US" b="1" dirty="0">
                  <a:ea typeface="Osaka" pitchFamily="-111" charset="-128"/>
                </a:rPr>
                <a:t>(LMWH)</a:t>
              </a:r>
            </a:p>
          </p:txBody>
        </p:sp>
        <p:cxnSp>
          <p:nvCxnSpPr>
            <p:cNvPr id="114" name="Straight Arrow Connector 113">
              <a:extLst>
                <a:ext uri="{FF2B5EF4-FFF2-40B4-BE49-F238E27FC236}">
                  <a16:creationId xmlns:a16="http://schemas.microsoft.com/office/drawing/2014/main" id="{7DEFE128-6CB5-EE96-E963-3AB0D5A0694A}"/>
                </a:ext>
              </a:extLst>
            </p:cNvPr>
            <p:cNvCxnSpPr>
              <a:cxnSpLocks/>
            </p:cNvCxnSpPr>
            <p:nvPr/>
          </p:nvCxnSpPr>
          <p:spPr bwMode="auto">
            <a:xfrm flipV="1">
              <a:off x="6027959" y="2371725"/>
              <a:ext cx="0" cy="15612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19" name="Rectangle 118">
              <a:extLst>
                <a:ext uri="{FF2B5EF4-FFF2-40B4-BE49-F238E27FC236}">
                  <a16:creationId xmlns:a16="http://schemas.microsoft.com/office/drawing/2014/main" id="{1ED8F2B5-AAE7-ADF3-A101-186ACCD14CBB}"/>
                </a:ext>
              </a:extLst>
            </p:cNvPr>
            <p:cNvSpPr/>
            <p:nvPr/>
          </p:nvSpPr>
          <p:spPr bwMode="auto">
            <a:xfrm>
              <a:off x="4642506" y="1109442"/>
              <a:ext cx="2709183" cy="1243417"/>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eaLnBrk="0" fontAlgn="base" hangingPunct="0">
                <a:lnSpc>
                  <a:spcPct val="90000"/>
                </a:lnSpc>
                <a:spcBef>
                  <a:spcPct val="0"/>
                </a:spcBef>
                <a:spcAft>
                  <a:spcPct val="0"/>
                </a:spcAft>
              </a:pPr>
              <a:r>
                <a:rPr lang="en-US" b="1" dirty="0">
                  <a:ea typeface="Osaka" pitchFamily="-111" charset="-128"/>
                  <a:cs typeface="Osaka" pitchFamily="-111" charset="-128"/>
                </a:rPr>
                <a:t>High-affinity binding </a:t>
              </a:r>
              <a:br>
                <a:rPr lang="en-US" b="1" dirty="0">
                  <a:ea typeface="Osaka" pitchFamily="-111" charset="-128"/>
                  <a:cs typeface="Osaka" pitchFamily="-111" charset="-128"/>
                </a:rPr>
              </a:br>
              <a:r>
                <a:rPr lang="en-US" b="1" dirty="0">
                  <a:ea typeface="Osaka" pitchFamily="-111" charset="-128"/>
                  <a:cs typeface="Osaka" pitchFamily="-111" charset="-128"/>
                </a:rPr>
                <a:t>site discovered.</a:t>
              </a:r>
            </a:p>
            <a:p>
              <a:pPr algn="ctr" eaLnBrk="0" fontAlgn="base" hangingPunct="0">
                <a:lnSpc>
                  <a:spcPct val="90000"/>
                </a:lnSpc>
                <a:spcBef>
                  <a:spcPts val="1200"/>
                </a:spcBef>
                <a:spcAft>
                  <a:spcPct val="0"/>
                </a:spcAft>
              </a:pPr>
              <a:r>
                <a:rPr lang="en-US" b="1" dirty="0">
                  <a:ea typeface="Osaka" pitchFamily="-111" charset="-128"/>
                  <a:cs typeface="Osaka" pitchFamily="-111" charset="-128"/>
                </a:rPr>
                <a:t>Fondaparinux in </a:t>
              </a:r>
              <a:br>
                <a:rPr lang="en-US" b="1" dirty="0">
                  <a:ea typeface="Osaka" pitchFamily="-111" charset="-128"/>
                  <a:cs typeface="Osaka" pitchFamily="-111" charset="-128"/>
                </a:rPr>
              </a:br>
              <a:r>
                <a:rPr lang="en-US" b="1" dirty="0">
                  <a:ea typeface="Osaka" pitchFamily="-111" charset="-128"/>
                  <a:cs typeface="Osaka" pitchFamily="-111" charset="-128"/>
                </a:rPr>
                <a:t>development </a:t>
              </a:r>
            </a:p>
          </p:txBody>
        </p:sp>
      </p:grpSp>
    </p:spTree>
    <p:extLst>
      <p:ext uri="{BB962C8B-B14F-4D97-AF65-F5344CB8AC3E}">
        <p14:creationId xmlns:p14="http://schemas.microsoft.com/office/powerpoint/2010/main" val="40403417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7732BB-F7F3-1558-F80F-6FF2D36355F1}"/>
              </a:ext>
            </a:extLst>
          </p:cNvPr>
          <p:cNvSpPr/>
          <p:nvPr/>
        </p:nvSpPr>
        <p:spPr bwMode="auto">
          <a:xfrm>
            <a:off x="4191111" y="291717"/>
            <a:ext cx="7772290" cy="5750308"/>
          </a:xfrm>
          <a:prstGeom prst="rect">
            <a:avLst/>
          </a:prstGeom>
          <a:solidFill>
            <a:schemeClr val="bg1"/>
          </a:solidFill>
          <a:ln w="9525" cap="flat" cmpd="sng" algn="ctr">
            <a:solidFill>
              <a:schemeClr val="bg1">
                <a:lumMod val="50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
        <p:nvSpPr>
          <p:cNvPr id="2" name="Title 1">
            <a:extLst>
              <a:ext uri="{FF2B5EF4-FFF2-40B4-BE49-F238E27FC236}">
                <a16:creationId xmlns:a16="http://schemas.microsoft.com/office/drawing/2014/main" id="{9082209D-13CA-48F1-2C17-EAA277E92152}"/>
              </a:ext>
            </a:extLst>
          </p:cNvPr>
          <p:cNvSpPr>
            <a:spLocks noGrp="1"/>
          </p:cNvSpPr>
          <p:nvPr>
            <p:ph type="title"/>
          </p:nvPr>
        </p:nvSpPr>
        <p:spPr>
          <a:xfrm>
            <a:off x="952499" y="101217"/>
            <a:ext cx="3552826" cy="1699008"/>
          </a:xfrm>
        </p:spPr>
        <p:txBody>
          <a:bodyPr/>
          <a:lstStyle/>
          <a:p>
            <a:r>
              <a:rPr lang="en-US" sz="3200" dirty="0"/>
              <a:t>Anticoagulant Mechanisms: AT activators</a:t>
            </a:r>
          </a:p>
        </p:txBody>
      </p:sp>
      <p:pic>
        <p:nvPicPr>
          <p:cNvPr id="6" name="Content Placeholder 5" descr="A diagram of a path&#10;&#10;Description automatically generated">
            <a:extLst>
              <a:ext uri="{FF2B5EF4-FFF2-40B4-BE49-F238E27FC236}">
                <a16:creationId xmlns:a16="http://schemas.microsoft.com/office/drawing/2014/main" id="{D0303B9D-0242-EE50-9597-F27245EA798F}"/>
              </a:ext>
            </a:extLst>
          </p:cNvPr>
          <p:cNvPicPr>
            <a:picLocks noGrp="1" noChangeAspect="1"/>
          </p:cNvPicPr>
          <p:nvPr>
            <p:ph idx="1"/>
          </p:nvPr>
        </p:nvPicPr>
        <p:blipFill rotWithShape="1">
          <a:blip r:embed="rId3"/>
          <a:srcRect t="4235" r="3348"/>
          <a:stretch/>
        </p:blipFill>
        <p:spPr>
          <a:xfrm>
            <a:off x="4229211" y="342517"/>
            <a:ext cx="7734190" cy="5699508"/>
          </a:xfrm>
        </p:spPr>
      </p:pic>
      <p:sp>
        <p:nvSpPr>
          <p:cNvPr id="3" name="Rectangle 2"/>
          <p:cNvSpPr/>
          <p:nvPr/>
        </p:nvSpPr>
        <p:spPr bwMode="auto">
          <a:xfrm>
            <a:off x="5499102" y="3360702"/>
            <a:ext cx="2124361" cy="941236"/>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grpSp>
        <p:nvGrpSpPr>
          <p:cNvPr id="5" name="Group 4">
            <a:extLst>
              <a:ext uri="{FF2B5EF4-FFF2-40B4-BE49-F238E27FC236}">
                <a16:creationId xmlns:a16="http://schemas.microsoft.com/office/drawing/2014/main" id="{063AC4E7-29BB-2F57-EBF4-CF0CF316BA2E}"/>
              </a:ext>
            </a:extLst>
          </p:cNvPr>
          <p:cNvGrpSpPr/>
          <p:nvPr/>
        </p:nvGrpSpPr>
        <p:grpSpPr>
          <a:xfrm>
            <a:off x="1159164" y="3429000"/>
            <a:ext cx="5127336" cy="1398119"/>
            <a:chOff x="6804736" y="1543816"/>
            <a:chExt cx="5503199" cy="1531690"/>
          </a:xfrm>
        </p:grpSpPr>
        <p:sp>
          <p:nvSpPr>
            <p:cNvPr id="8" name="Rectangle: Rounded Corners 7">
              <a:extLst>
                <a:ext uri="{FF2B5EF4-FFF2-40B4-BE49-F238E27FC236}">
                  <a16:creationId xmlns:a16="http://schemas.microsoft.com/office/drawing/2014/main" id="{F2770DF3-59E6-E583-FE8D-03E1F3DAD091}"/>
                </a:ext>
              </a:extLst>
            </p:cNvPr>
            <p:cNvSpPr/>
            <p:nvPr/>
          </p:nvSpPr>
          <p:spPr bwMode="auto">
            <a:xfrm>
              <a:off x="6804736" y="1543816"/>
              <a:ext cx="5503199" cy="1343664"/>
            </a:xfrm>
            <a:prstGeom prst="round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9" name="TextBox 8">
              <a:extLst>
                <a:ext uri="{FF2B5EF4-FFF2-40B4-BE49-F238E27FC236}">
                  <a16:creationId xmlns:a16="http://schemas.microsoft.com/office/drawing/2014/main" id="{E76B6F39-8FAC-8AF0-56C7-56892A420600}"/>
                </a:ext>
              </a:extLst>
            </p:cNvPr>
            <p:cNvSpPr txBox="1"/>
            <p:nvPr/>
          </p:nvSpPr>
          <p:spPr>
            <a:xfrm>
              <a:off x="6804736" y="1854211"/>
              <a:ext cx="5503199" cy="1221295"/>
            </a:xfrm>
            <a:prstGeom prst="rect">
              <a:avLst/>
            </a:prstGeom>
            <a:noFill/>
            <a:ln>
              <a:noFill/>
            </a:ln>
          </p:spPr>
          <p:txBody>
            <a:bodyPr wrap="square">
              <a:spAutoFit/>
            </a:bodyPr>
            <a:lstStyle/>
            <a:p>
              <a:pPr algn="ctr">
                <a:lnSpc>
                  <a:spcPts val="2500"/>
                </a:lnSpc>
                <a:spcBef>
                  <a:spcPts val="0"/>
                </a:spcBef>
              </a:pPr>
              <a:r>
                <a:rPr lang="en-US" sz="3200" kern="0" dirty="0">
                  <a:solidFill>
                    <a:srgbClr val="FFFFFF"/>
                  </a:solidFill>
                  <a:effectLst/>
                  <a:latin typeface="Source Sans Pro Semibold" panose="020B0603030403020204" pitchFamily="34" charset="0"/>
                  <a:ea typeface="Source Sans Pro Semibold" panose="020B0603030403020204" pitchFamily="34" charset="0"/>
                </a:rPr>
                <a:t>Antithrombin (AT)</a:t>
              </a:r>
            </a:p>
            <a:p>
              <a:pPr algn="ctr">
                <a:lnSpc>
                  <a:spcPts val="2800"/>
                </a:lnSpc>
                <a:spcBef>
                  <a:spcPts val="0"/>
                </a:spcBef>
              </a:pPr>
              <a:r>
                <a:rPr lang="en-US" sz="2200" kern="0" dirty="0">
                  <a:solidFill>
                    <a:srgbClr val="FFFFFF"/>
                  </a:solidFill>
                  <a:effectLst/>
                  <a:latin typeface="Source Sans Pro Semibold" panose="020B0603030403020204" pitchFamily="34" charset="0"/>
                  <a:ea typeface="Source Sans Pro Semibold" panose="020B0603030403020204" pitchFamily="34" charset="0"/>
                </a:rPr>
                <a:t>Inhibits </a:t>
              </a:r>
              <a:r>
                <a:rPr lang="en-US" sz="2200" kern="0" dirty="0" err="1">
                  <a:solidFill>
                    <a:srgbClr val="FFFFFF"/>
                  </a:solidFill>
                  <a:effectLst/>
                  <a:latin typeface="Source Sans Pro Semibold" panose="020B0603030403020204" pitchFamily="34" charset="0"/>
                  <a:ea typeface="Source Sans Pro Semibold" panose="020B0603030403020204" pitchFamily="34" charset="0"/>
                </a:rPr>
                <a:t>IIa</a:t>
              </a:r>
              <a:r>
                <a:rPr lang="en-US" sz="2200" kern="0" dirty="0">
                  <a:solidFill>
                    <a:srgbClr val="FFFFFF"/>
                  </a:solidFill>
                  <a:effectLst/>
                  <a:latin typeface="Source Sans Pro Semibold" panose="020B0603030403020204" pitchFamily="34" charset="0"/>
                  <a:ea typeface="Source Sans Pro Semibold" panose="020B0603030403020204" pitchFamily="34" charset="0"/>
                </a:rPr>
                <a:t>, Xa, </a:t>
              </a:r>
              <a:r>
                <a:rPr lang="en-US" sz="2200" kern="0" dirty="0" err="1">
                  <a:solidFill>
                    <a:srgbClr val="FFFFFF"/>
                  </a:solidFill>
                  <a:effectLst/>
                  <a:latin typeface="Source Sans Pro Semibold" panose="020B0603030403020204" pitchFamily="34" charset="0"/>
                  <a:ea typeface="Source Sans Pro Semibold" panose="020B0603030403020204" pitchFamily="34" charset="0"/>
                </a:rPr>
                <a:t>IXa</a:t>
              </a:r>
              <a:r>
                <a:rPr lang="en-US" sz="2200" kern="0" dirty="0">
                  <a:solidFill>
                    <a:srgbClr val="FFFFFF"/>
                  </a:solidFill>
                  <a:effectLst/>
                  <a:latin typeface="Source Sans Pro Semibold" panose="020B0603030403020204" pitchFamily="34" charset="0"/>
                  <a:ea typeface="Source Sans Pro Semibold" panose="020B0603030403020204" pitchFamily="34" charset="0"/>
                </a:rPr>
                <a:t>, </a:t>
              </a:r>
              <a:r>
                <a:rPr lang="en-US" sz="2200" kern="0" dirty="0" err="1">
                  <a:solidFill>
                    <a:srgbClr val="FFFFFF"/>
                  </a:solidFill>
                  <a:effectLst/>
                  <a:latin typeface="Source Sans Pro Semibold" panose="020B0603030403020204" pitchFamily="34" charset="0"/>
                  <a:ea typeface="Source Sans Pro Semibold" panose="020B0603030403020204" pitchFamily="34" charset="0"/>
                </a:rPr>
                <a:t>XIa</a:t>
              </a:r>
              <a:r>
                <a:rPr lang="en-US" sz="2200" kern="0" dirty="0">
                  <a:solidFill>
                    <a:srgbClr val="FFFFFF"/>
                  </a:solidFill>
                  <a:effectLst/>
                  <a:latin typeface="Source Sans Pro Semibold" panose="020B0603030403020204" pitchFamily="34" charset="0"/>
                  <a:ea typeface="Source Sans Pro Semibold" panose="020B0603030403020204" pitchFamily="34" charset="0"/>
                </a:rPr>
                <a:t>, XIIa, weak </a:t>
              </a:r>
              <a:r>
                <a:rPr lang="en-US" sz="2200" kern="0" dirty="0" err="1">
                  <a:solidFill>
                    <a:srgbClr val="FFFFFF"/>
                  </a:solidFill>
                  <a:effectLst/>
                  <a:latin typeface="Source Sans Pro Semibold" panose="020B0603030403020204" pitchFamily="34" charset="0"/>
                  <a:ea typeface="Source Sans Pro Semibold" panose="020B0603030403020204" pitchFamily="34" charset="0"/>
                </a:rPr>
                <a:t>VIIa</a:t>
              </a:r>
              <a:endParaRPr lang="en-US" sz="2200" kern="0" dirty="0">
                <a:solidFill>
                  <a:srgbClr val="FFFFFF"/>
                </a:solidFill>
                <a:effectLst/>
                <a:latin typeface="Source Sans Pro Semibold" panose="020B0603030403020204" pitchFamily="34" charset="0"/>
                <a:ea typeface="Source Sans Pro Semibold" panose="020B0603030403020204" pitchFamily="34" charset="0"/>
              </a:endParaRPr>
            </a:p>
          </p:txBody>
        </p:sp>
      </p:grpSp>
    </p:spTree>
    <p:extLst>
      <p:ext uri="{BB962C8B-B14F-4D97-AF65-F5344CB8AC3E}">
        <p14:creationId xmlns:p14="http://schemas.microsoft.com/office/powerpoint/2010/main" val="25455000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396CBE-7010-F346-DD9A-66D142C52634}"/>
              </a:ext>
            </a:extLst>
          </p:cNvPr>
          <p:cNvSpPr/>
          <p:nvPr/>
        </p:nvSpPr>
        <p:spPr>
          <a:xfrm>
            <a:off x="7972425" y="3425779"/>
            <a:ext cx="4219575" cy="2783335"/>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82209D-13CA-48F1-2C17-EAA277E92152}"/>
              </a:ext>
            </a:extLst>
          </p:cNvPr>
          <p:cNvSpPr>
            <a:spLocks noGrp="1"/>
          </p:cNvSpPr>
          <p:nvPr>
            <p:ph type="title"/>
          </p:nvPr>
        </p:nvSpPr>
        <p:spPr>
          <a:xfrm>
            <a:off x="955674" y="162700"/>
            <a:ext cx="10822757" cy="669823"/>
          </a:xfrm>
        </p:spPr>
        <p:txBody>
          <a:bodyPr/>
          <a:lstStyle/>
          <a:p>
            <a:r>
              <a:rPr lang="en-US" sz="3400" dirty="0"/>
              <a:t>Anticoagulant Mechanisms: AT activators</a:t>
            </a:r>
          </a:p>
        </p:txBody>
      </p:sp>
      <p:pic>
        <p:nvPicPr>
          <p:cNvPr id="6" name="Content Placeholder 5" descr="A diagram of a path&#10;&#10;Description automatically generated">
            <a:extLst>
              <a:ext uri="{FF2B5EF4-FFF2-40B4-BE49-F238E27FC236}">
                <a16:creationId xmlns:a16="http://schemas.microsoft.com/office/drawing/2014/main" id="{D0303B9D-0242-EE50-9597-F27245EA798F}"/>
              </a:ext>
            </a:extLst>
          </p:cNvPr>
          <p:cNvPicPr>
            <a:picLocks noGrp="1" noChangeAspect="1"/>
          </p:cNvPicPr>
          <p:nvPr>
            <p:ph idx="1"/>
          </p:nvPr>
        </p:nvPicPr>
        <p:blipFill>
          <a:blip r:embed="rId3"/>
          <a:stretch>
            <a:fillRect/>
          </a:stretch>
        </p:blipFill>
        <p:spPr>
          <a:xfrm>
            <a:off x="2135945" y="881841"/>
            <a:ext cx="6888328" cy="5123194"/>
          </a:xfrm>
        </p:spPr>
      </p:pic>
      <p:sp>
        <p:nvSpPr>
          <p:cNvPr id="19" name="Rectangle 18">
            <a:extLst>
              <a:ext uri="{FF2B5EF4-FFF2-40B4-BE49-F238E27FC236}">
                <a16:creationId xmlns:a16="http://schemas.microsoft.com/office/drawing/2014/main" id="{98CB044D-E897-DD82-BBE5-C5D3A5F91B6E}"/>
              </a:ext>
            </a:extLst>
          </p:cNvPr>
          <p:cNvSpPr/>
          <p:nvPr/>
        </p:nvSpPr>
        <p:spPr bwMode="auto">
          <a:xfrm>
            <a:off x="7488455" y="1770721"/>
            <a:ext cx="1701543" cy="914400"/>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ea typeface="Osaka" pitchFamily="-111" charset="-128"/>
              <a:cs typeface="Osaka" pitchFamily="-111" charset="-128"/>
            </a:endParaRPr>
          </a:p>
        </p:txBody>
      </p:sp>
      <p:sp>
        <p:nvSpPr>
          <p:cNvPr id="21" name="Rectangle 20">
            <a:extLst>
              <a:ext uri="{FF2B5EF4-FFF2-40B4-BE49-F238E27FC236}">
                <a16:creationId xmlns:a16="http://schemas.microsoft.com/office/drawing/2014/main" id="{F55FC294-69A5-F132-A326-95BAC2D3796C}"/>
              </a:ext>
            </a:extLst>
          </p:cNvPr>
          <p:cNvSpPr/>
          <p:nvPr/>
        </p:nvSpPr>
        <p:spPr bwMode="auto">
          <a:xfrm>
            <a:off x="1919403" y="1222452"/>
            <a:ext cx="1592765" cy="914400"/>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ea typeface="Osaka" pitchFamily="-111" charset="-128"/>
              <a:cs typeface="Osaka" pitchFamily="-111" charset="-128"/>
            </a:endParaRPr>
          </a:p>
        </p:txBody>
      </p:sp>
      <p:sp>
        <p:nvSpPr>
          <p:cNvPr id="22" name="Rectangle 21">
            <a:extLst>
              <a:ext uri="{FF2B5EF4-FFF2-40B4-BE49-F238E27FC236}">
                <a16:creationId xmlns:a16="http://schemas.microsoft.com/office/drawing/2014/main" id="{FCBC0A25-2CF1-F38E-7F8C-D414FEA42258}"/>
              </a:ext>
            </a:extLst>
          </p:cNvPr>
          <p:cNvSpPr/>
          <p:nvPr/>
        </p:nvSpPr>
        <p:spPr bwMode="auto">
          <a:xfrm>
            <a:off x="3508452" y="3750061"/>
            <a:ext cx="1592765" cy="914400"/>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ea typeface="Osaka" pitchFamily="-111" charset="-128"/>
              <a:cs typeface="Osaka" pitchFamily="-111" charset="-128"/>
            </a:endParaRPr>
          </a:p>
        </p:txBody>
      </p:sp>
      <p:grpSp>
        <p:nvGrpSpPr>
          <p:cNvPr id="17" name="Group 16">
            <a:extLst>
              <a:ext uri="{FF2B5EF4-FFF2-40B4-BE49-F238E27FC236}">
                <a16:creationId xmlns:a16="http://schemas.microsoft.com/office/drawing/2014/main" id="{31AEFBB7-B498-6F14-F569-36C9A3CA2CAC}"/>
              </a:ext>
            </a:extLst>
          </p:cNvPr>
          <p:cNvGrpSpPr/>
          <p:nvPr/>
        </p:nvGrpSpPr>
        <p:grpSpPr>
          <a:xfrm>
            <a:off x="360201" y="1970206"/>
            <a:ext cx="4862440" cy="3452694"/>
            <a:chOff x="461801" y="2071806"/>
            <a:chExt cx="4862440" cy="3452694"/>
          </a:xfrm>
        </p:grpSpPr>
        <p:cxnSp>
          <p:nvCxnSpPr>
            <p:cNvPr id="24" name="Straight Arrow Connector 23">
              <a:extLst>
                <a:ext uri="{FF2B5EF4-FFF2-40B4-BE49-F238E27FC236}">
                  <a16:creationId xmlns:a16="http://schemas.microsoft.com/office/drawing/2014/main" id="{5026133E-0542-7FC7-084E-C4111C920A3C}"/>
                </a:ext>
              </a:extLst>
            </p:cNvPr>
            <p:cNvCxnSpPr>
              <a:cxnSpLocks/>
            </p:cNvCxnSpPr>
            <p:nvPr/>
          </p:nvCxnSpPr>
          <p:spPr bwMode="auto">
            <a:xfrm>
              <a:off x="3406235" y="3722182"/>
              <a:ext cx="1918006" cy="258539"/>
            </a:xfrm>
            <a:prstGeom prst="straightConnector1">
              <a:avLst/>
            </a:prstGeom>
            <a:solidFill>
              <a:schemeClr val="accent1"/>
            </a:solidFill>
            <a:ln w="25400" cap="flat" cmpd="sng" algn="ctr">
              <a:solidFill>
                <a:schemeClr val="tx2"/>
              </a:solidFill>
              <a:prstDash val="solid"/>
              <a:round/>
              <a:headEnd type="none" w="med" len="med"/>
              <a:tailEnd type="triangle"/>
            </a:ln>
            <a:effectLst/>
          </p:spPr>
        </p:cxnSp>
        <p:cxnSp>
          <p:nvCxnSpPr>
            <p:cNvPr id="25" name="Straight Arrow Connector 24">
              <a:extLst>
                <a:ext uri="{FF2B5EF4-FFF2-40B4-BE49-F238E27FC236}">
                  <a16:creationId xmlns:a16="http://schemas.microsoft.com/office/drawing/2014/main" id="{B23C502D-94E4-439C-0252-6C091FCE5EAD}"/>
                </a:ext>
              </a:extLst>
            </p:cNvPr>
            <p:cNvCxnSpPr>
              <a:cxnSpLocks/>
            </p:cNvCxnSpPr>
            <p:nvPr/>
          </p:nvCxnSpPr>
          <p:spPr bwMode="auto">
            <a:xfrm>
              <a:off x="3424819" y="3712890"/>
              <a:ext cx="1899422" cy="1480136"/>
            </a:xfrm>
            <a:prstGeom prst="straightConnector1">
              <a:avLst/>
            </a:prstGeom>
            <a:solidFill>
              <a:schemeClr val="accent1"/>
            </a:solidFill>
            <a:ln w="25400" cap="flat" cmpd="sng" algn="ctr">
              <a:solidFill>
                <a:schemeClr val="tx2"/>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E4D912B2-4936-1169-4A5A-35C2E5C14F71}"/>
                </a:ext>
              </a:extLst>
            </p:cNvPr>
            <p:cNvCxnSpPr>
              <a:cxnSpLocks/>
            </p:cNvCxnSpPr>
            <p:nvPr/>
          </p:nvCxnSpPr>
          <p:spPr bwMode="auto">
            <a:xfrm flipV="1">
              <a:off x="3406235" y="2843098"/>
              <a:ext cx="867934" cy="879084"/>
            </a:xfrm>
            <a:prstGeom prst="straightConnector1">
              <a:avLst/>
            </a:prstGeom>
            <a:solidFill>
              <a:schemeClr val="accent1"/>
            </a:solidFill>
            <a:ln w="25400" cap="flat" cmpd="sng" algn="ctr">
              <a:solidFill>
                <a:schemeClr val="tx2"/>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63931C90-2D4D-36EE-C395-C9BB44052358}"/>
                </a:ext>
              </a:extLst>
            </p:cNvPr>
            <p:cNvCxnSpPr>
              <a:cxnSpLocks/>
            </p:cNvCxnSpPr>
            <p:nvPr/>
          </p:nvCxnSpPr>
          <p:spPr bwMode="auto">
            <a:xfrm flipV="1">
              <a:off x="3378356" y="2471390"/>
              <a:ext cx="700667" cy="1241498"/>
            </a:xfrm>
            <a:prstGeom prst="straightConnector1">
              <a:avLst/>
            </a:prstGeom>
            <a:solidFill>
              <a:schemeClr val="accent1"/>
            </a:solidFill>
            <a:ln w="25400" cap="flat" cmpd="sng" algn="ctr">
              <a:solidFill>
                <a:schemeClr val="tx2"/>
              </a:solidFill>
              <a:prstDash val="solid"/>
              <a:round/>
              <a:headEnd type="none" w="med" len="med"/>
              <a:tailEnd type="triangle"/>
            </a:ln>
            <a:effectLst/>
          </p:spPr>
        </p:cxnSp>
        <p:cxnSp>
          <p:nvCxnSpPr>
            <p:cNvPr id="28" name="Straight Arrow Connector 27">
              <a:extLst>
                <a:ext uri="{FF2B5EF4-FFF2-40B4-BE49-F238E27FC236}">
                  <a16:creationId xmlns:a16="http://schemas.microsoft.com/office/drawing/2014/main" id="{A12C8517-D018-5D63-2132-7624A236B160}"/>
                </a:ext>
              </a:extLst>
            </p:cNvPr>
            <p:cNvCxnSpPr>
              <a:cxnSpLocks/>
            </p:cNvCxnSpPr>
            <p:nvPr/>
          </p:nvCxnSpPr>
          <p:spPr bwMode="auto">
            <a:xfrm flipV="1">
              <a:off x="3378356" y="2071806"/>
              <a:ext cx="477643" cy="1613205"/>
            </a:xfrm>
            <a:prstGeom prst="straightConnector1">
              <a:avLst/>
            </a:prstGeom>
            <a:solidFill>
              <a:schemeClr val="accent1"/>
            </a:solidFill>
            <a:ln w="25400" cap="flat" cmpd="sng" algn="ctr">
              <a:solidFill>
                <a:schemeClr val="tx2"/>
              </a:solidFill>
              <a:prstDash val="solid"/>
              <a:round/>
              <a:headEnd type="none" w="med" len="med"/>
              <a:tailEnd type="triangle"/>
            </a:ln>
            <a:effectLst/>
          </p:spPr>
        </p:cxnSp>
        <p:grpSp>
          <p:nvGrpSpPr>
            <p:cNvPr id="8" name="Group 7">
              <a:extLst>
                <a:ext uri="{FF2B5EF4-FFF2-40B4-BE49-F238E27FC236}">
                  <a16:creationId xmlns:a16="http://schemas.microsoft.com/office/drawing/2014/main" id="{FCA369B9-48F7-28E6-8639-051F4D148E62}"/>
                </a:ext>
              </a:extLst>
            </p:cNvPr>
            <p:cNvGrpSpPr/>
            <p:nvPr/>
          </p:nvGrpSpPr>
          <p:grpSpPr>
            <a:xfrm>
              <a:off x="461801" y="3110931"/>
              <a:ext cx="3233899" cy="2413569"/>
              <a:chOff x="6804736" y="1715369"/>
              <a:chExt cx="5564535" cy="1439008"/>
            </a:xfrm>
          </p:grpSpPr>
          <p:sp>
            <p:nvSpPr>
              <p:cNvPr id="9" name="Rectangle: Rounded Corners 8">
                <a:extLst>
                  <a:ext uri="{FF2B5EF4-FFF2-40B4-BE49-F238E27FC236}">
                    <a16:creationId xmlns:a16="http://schemas.microsoft.com/office/drawing/2014/main" id="{B61658AC-E13E-B04D-7C7B-BBA49FEB8586}"/>
                  </a:ext>
                </a:extLst>
              </p:cNvPr>
              <p:cNvSpPr/>
              <p:nvPr/>
            </p:nvSpPr>
            <p:spPr bwMode="auto">
              <a:xfrm>
                <a:off x="6804736" y="1715369"/>
                <a:ext cx="5564535" cy="1439008"/>
              </a:xfrm>
              <a:prstGeom prst="round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ea typeface="Osaka" pitchFamily="-111" charset="-128"/>
                  <a:cs typeface="Osaka" pitchFamily="-111" charset="-128"/>
                </a:endParaRPr>
              </a:p>
            </p:txBody>
          </p:sp>
          <p:sp>
            <p:nvSpPr>
              <p:cNvPr id="10" name="TextBox 9">
                <a:extLst>
                  <a:ext uri="{FF2B5EF4-FFF2-40B4-BE49-F238E27FC236}">
                    <a16:creationId xmlns:a16="http://schemas.microsoft.com/office/drawing/2014/main" id="{46C7FA10-4AAC-7B00-0D92-45B88354F045}"/>
                  </a:ext>
                </a:extLst>
              </p:cNvPr>
              <p:cNvSpPr txBox="1"/>
              <p:nvPr/>
            </p:nvSpPr>
            <p:spPr>
              <a:xfrm>
                <a:off x="7089431" y="1854210"/>
                <a:ext cx="4957644" cy="1102537"/>
              </a:xfrm>
              <a:prstGeom prst="rect">
                <a:avLst/>
              </a:prstGeom>
              <a:noFill/>
              <a:ln>
                <a:noFill/>
              </a:ln>
            </p:spPr>
            <p:txBody>
              <a:bodyPr wrap="square">
                <a:spAutoFit/>
              </a:bodyPr>
              <a:lstStyle/>
              <a:p>
                <a:pPr algn="ctr">
                  <a:lnSpc>
                    <a:spcPts val="2500"/>
                  </a:lnSpc>
                  <a:spcBef>
                    <a:spcPts val="0"/>
                  </a:spcBef>
                </a:pPr>
                <a:r>
                  <a:rPr lang="en-US" sz="2200" b="1" kern="0" dirty="0">
                    <a:solidFill>
                      <a:srgbClr val="FFFFFF"/>
                    </a:solidFill>
                    <a:effectLst/>
                    <a:ea typeface="Source Sans Pro Semibold" panose="020B0603030403020204" pitchFamily="34" charset="0"/>
                  </a:rPr>
                  <a:t>Unfractionated </a:t>
                </a:r>
              </a:p>
              <a:p>
                <a:pPr algn="ctr">
                  <a:lnSpc>
                    <a:spcPts val="2500"/>
                  </a:lnSpc>
                  <a:spcBef>
                    <a:spcPts val="0"/>
                  </a:spcBef>
                </a:pPr>
                <a:r>
                  <a:rPr lang="en-US" sz="2200" b="1" kern="0" dirty="0">
                    <a:solidFill>
                      <a:srgbClr val="FFFFFF"/>
                    </a:solidFill>
                    <a:effectLst/>
                    <a:ea typeface="Source Sans Pro Semibold" panose="020B0603030403020204" pitchFamily="34" charset="0"/>
                  </a:rPr>
                  <a:t> heparin (UFH)</a:t>
                </a:r>
              </a:p>
              <a:p>
                <a:pPr algn="ctr">
                  <a:lnSpc>
                    <a:spcPts val="2500"/>
                  </a:lnSpc>
                  <a:spcBef>
                    <a:spcPts val="1200"/>
                  </a:spcBef>
                </a:pPr>
                <a:r>
                  <a:rPr lang="en-US" sz="2200" b="1" kern="0" dirty="0">
                    <a:solidFill>
                      <a:srgbClr val="FFFFFF"/>
                    </a:solidFill>
                    <a:effectLst/>
                    <a:ea typeface="Source Sans Pro Semibold" panose="020B0603030403020204" pitchFamily="34" charset="0"/>
                  </a:rPr>
                  <a:t>Inhibits thrombin </a:t>
                </a:r>
                <a:br>
                  <a:rPr lang="en-US" sz="2200" b="1" kern="0" dirty="0">
                    <a:solidFill>
                      <a:srgbClr val="FFFFFF"/>
                    </a:solidFill>
                    <a:effectLst/>
                    <a:ea typeface="Source Sans Pro Semibold" panose="020B0603030403020204" pitchFamily="34" charset="0"/>
                  </a:rPr>
                </a:br>
                <a:r>
                  <a:rPr lang="en-US" sz="2200" b="1" kern="0" dirty="0">
                    <a:solidFill>
                      <a:srgbClr val="FFFFFF"/>
                    </a:solidFill>
                    <a:effectLst/>
                    <a:ea typeface="Source Sans Pro Semibold" panose="020B0603030403020204" pitchFamily="34" charset="0"/>
                  </a:rPr>
                  <a:t>(</a:t>
                </a:r>
                <a:r>
                  <a:rPr lang="en-US" sz="2200" b="1" kern="0" dirty="0" err="1">
                    <a:solidFill>
                      <a:srgbClr val="FFFFFF"/>
                    </a:solidFill>
                    <a:effectLst/>
                    <a:ea typeface="Source Sans Pro Semibold" panose="020B0603030403020204" pitchFamily="34" charset="0"/>
                  </a:rPr>
                  <a:t>IIa</a:t>
                </a:r>
                <a:r>
                  <a:rPr lang="en-US" sz="2200" b="1" kern="0" dirty="0">
                    <a:solidFill>
                      <a:srgbClr val="FFFFFF"/>
                    </a:solidFill>
                    <a:effectLst/>
                    <a:ea typeface="Source Sans Pro Semibold" panose="020B0603030403020204" pitchFamily="34" charset="0"/>
                  </a:rPr>
                  <a:t>), factors Xa, </a:t>
                </a:r>
                <a:r>
                  <a:rPr lang="en-US" sz="2200" b="1" kern="0" dirty="0" err="1">
                    <a:solidFill>
                      <a:srgbClr val="FFFFFF"/>
                    </a:solidFill>
                    <a:effectLst/>
                    <a:ea typeface="Source Sans Pro Semibold" panose="020B0603030403020204" pitchFamily="34" charset="0"/>
                  </a:rPr>
                  <a:t>IXa</a:t>
                </a:r>
                <a:r>
                  <a:rPr lang="en-US" sz="2200" b="1" kern="0" dirty="0">
                    <a:solidFill>
                      <a:srgbClr val="FFFFFF"/>
                    </a:solidFill>
                    <a:effectLst/>
                    <a:ea typeface="Source Sans Pro Semibold" panose="020B0603030403020204" pitchFamily="34" charset="0"/>
                  </a:rPr>
                  <a:t>, </a:t>
                </a:r>
                <a:r>
                  <a:rPr lang="en-US" sz="2200" b="1" kern="0" dirty="0" err="1">
                    <a:solidFill>
                      <a:srgbClr val="FFFFFF"/>
                    </a:solidFill>
                    <a:effectLst/>
                    <a:ea typeface="Source Sans Pro Semibold" panose="020B0603030403020204" pitchFamily="34" charset="0"/>
                  </a:rPr>
                  <a:t>XIa</a:t>
                </a:r>
                <a:r>
                  <a:rPr lang="en-US" sz="2200" b="1" kern="0" dirty="0">
                    <a:solidFill>
                      <a:srgbClr val="FFFFFF"/>
                    </a:solidFill>
                    <a:effectLst/>
                    <a:ea typeface="Source Sans Pro Semibold" panose="020B0603030403020204" pitchFamily="34" charset="0"/>
                  </a:rPr>
                  <a:t>, and XIIa indirectly</a:t>
                </a:r>
              </a:p>
            </p:txBody>
          </p:sp>
        </p:grpSp>
        <p:grpSp>
          <p:nvGrpSpPr>
            <p:cNvPr id="11" name="Group 10">
              <a:extLst>
                <a:ext uri="{FF2B5EF4-FFF2-40B4-BE49-F238E27FC236}">
                  <a16:creationId xmlns:a16="http://schemas.microsoft.com/office/drawing/2014/main" id="{0C06EADF-1A0C-052E-091A-4BA8C259480C}"/>
                </a:ext>
              </a:extLst>
            </p:cNvPr>
            <p:cNvGrpSpPr/>
            <p:nvPr/>
          </p:nvGrpSpPr>
          <p:grpSpPr>
            <a:xfrm>
              <a:off x="1714024" y="2712959"/>
              <a:ext cx="670755" cy="569681"/>
              <a:chOff x="6804738" y="1832916"/>
              <a:chExt cx="1154162" cy="339653"/>
            </a:xfrm>
          </p:grpSpPr>
          <p:sp>
            <p:nvSpPr>
              <p:cNvPr id="13" name="Rectangle: Rounded Corners 12">
                <a:extLst>
                  <a:ext uri="{FF2B5EF4-FFF2-40B4-BE49-F238E27FC236}">
                    <a16:creationId xmlns:a16="http://schemas.microsoft.com/office/drawing/2014/main" id="{4DDCDDF3-EF1C-8DB4-105A-55D6F59D9C01}"/>
                  </a:ext>
                </a:extLst>
              </p:cNvPr>
              <p:cNvSpPr/>
              <p:nvPr/>
            </p:nvSpPr>
            <p:spPr bwMode="auto">
              <a:xfrm>
                <a:off x="6804740" y="1832916"/>
                <a:ext cx="1154160" cy="339653"/>
              </a:xfrm>
              <a:prstGeom prst="roundRect">
                <a:avLst>
                  <a:gd name="adj" fmla="val 34502"/>
                </a:avLst>
              </a:prstGeom>
              <a:solidFill>
                <a:srgbClr val="FFFFFF"/>
              </a:solid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ea typeface="Osaka" pitchFamily="-111" charset="-128"/>
                  <a:cs typeface="Osaka" pitchFamily="-111" charset="-128"/>
                </a:endParaRPr>
              </a:p>
            </p:txBody>
          </p:sp>
          <p:sp>
            <p:nvSpPr>
              <p:cNvPr id="14" name="TextBox 13">
                <a:extLst>
                  <a:ext uri="{FF2B5EF4-FFF2-40B4-BE49-F238E27FC236}">
                    <a16:creationId xmlns:a16="http://schemas.microsoft.com/office/drawing/2014/main" id="{FB3B6AD8-E77C-ABC3-40B4-EC2139A19718}"/>
                  </a:ext>
                </a:extLst>
              </p:cNvPr>
              <p:cNvSpPr txBox="1"/>
              <p:nvPr/>
            </p:nvSpPr>
            <p:spPr>
              <a:xfrm>
                <a:off x="6804738" y="1897749"/>
                <a:ext cx="1154160" cy="248874"/>
              </a:xfrm>
              <a:prstGeom prst="rect">
                <a:avLst/>
              </a:prstGeom>
              <a:noFill/>
              <a:ln>
                <a:noFill/>
              </a:ln>
            </p:spPr>
            <p:txBody>
              <a:bodyPr wrap="square">
                <a:spAutoFit/>
              </a:bodyPr>
              <a:lstStyle/>
              <a:p>
                <a:pPr algn="ctr">
                  <a:lnSpc>
                    <a:spcPts val="2500"/>
                  </a:lnSpc>
                  <a:spcBef>
                    <a:spcPts val="0"/>
                  </a:spcBef>
                </a:pPr>
                <a:r>
                  <a:rPr lang="en-US" sz="2500" b="1" kern="0" dirty="0">
                    <a:solidFill>
                      <a:schemeClr val="tx2"/>
                    </a:solidFill>
                    <a:effectLst/>
                    <a:ea typeface="Source Sans Pro Semibold" panose="020B0603030403020204" pitchFamily="34" charset="0"/>
                  </a:rPr>
                  <a:t>AT</a:t>
                </a:r>
              </a:p>
            </p:txBody>
          </p:sp>
        </p:grpSp>
      </p:grpSp>
      <p:grpSp>
        <p:nvGrpSpPr>
          <p:cNvPr id="51" name="Group 50">
            <a:extLst>
              <a:ext uri="{FF2B5EF4-FFF2-40B4-BE49-F238E27FC236}">
                <a16:creationId xmlns:a16="http://schemas.microsoft.com/office/drawing/2014/main" id="{E30EB1BD-7CC5-2A49-8142-66B595D2E78B}"/>
              </a:ext>
            </a:extLst>
          </p:cNvPr>
          <p:cNvGrpSpPr/>
          <p:nvPr/>
        </p:nvGrpSpPr>
        <p:grpSpPr>
          <a:xfrm>
            <a:off x="6238499" y="1140548"/>
            <a:ext cx="5620402" cy="2810637"/>
            <a:chOff x="5666665" y="925910"/>
            <a:chExt cx="5620402" cy="2810637"/>
          </a:xfrm>
        </p:grpSpPr>
        <p:cxnSp>
          <p:nvCxnSpPr>
            <p:cNvPr id="15" name="Straight Arrow Connector 14">
              <a:extLst>
                <a:ext uri="{FF2B5EF4-FFF2-40B4-BE49-F238E27FC236}">
                  <a16:creationId xmlns:a16="http://schemas.microsoft.com/office/drawing/2014/main" id="{30E024F1-1F5F-0CEF-34C7-9256E7FA7799}"/>
                </a:ext>
              </a:extLst>
            </p:cNvPr>
            <p:cNvCxnSpPr>
              <a:cxnSpLocks/>
            </p:cNvCxnSpPr>
            <p:nvPr/>
          </p:nvCxnSpPr>
          <p:spPr bwMode="auto">
            <a:xfrm flipH="1">
              <a:off x="5666665" y="2908871"/>
              <a:ext cx="2581649" cy="827676"/>
            </a:xfrm>
            <a:prstGeom prst="straightConnector1">
              <a:avLst/>
            </a:prstGeom>
            <a:solidFill>
              <a:schemeClr val="accent1"/>
            </a:solidFill>
            <a:ln w="25400" cap="flat" cmpd="sng" algn="ctr">
              <a:solidFill>
                <a:schemeClr val="tx2"/>
              </a:solidFill>
              <a:prstDash val="solid"/>
              <a:round/>
              <a:headEnd type="none" w="med" len="med"/>
              <a:tailEnd type="triangle"/>
            </a:ln>
            <a:effectLst/>
          </p:spPr>
        </p:cxnSp>
        <p:grpSp>
          <p:nvGrpSpPr>
            <p:cNvPr id="36" name="Group 35">
              <a:extLst>
                <a:ext uri="{FF2B5EF4-FFF2-40B4-BE49-F238E27FC236}">
                  <a16:creationId xmlns:a16="http://schemas.microsoft.com/office/drawing/2014/main" id="{74EE23F0-F716-EC22-FB3A-194BB0D53B6A}"/>
                </a:ext>
              </a:extLst>
            </p:cNvPr>
            <p:cNvGrpSpPr/>
            <p:nvPr/>
          </p:nvGrpSpPr>
          <p:grpSpPr>
            <a:xfrm>
              <a:off x="7492666" y="1323882"/>
              <a:ext cx="3794401" cy="1915381"/>
              <a:chOff x="5840286" y="1715370"/>
              <a:chExt cx="6528985" cy="1141981"/>
            </a:xfrm>
          </p:grpSpPr>
          <p:sp>
            <p:nvSpPr>
              <p:cNvPr id="40" name="Rectangle: Rounded Corners 39">
                <a:extLst>
                  <a:ext uri="{FF2B5EF4-FFF2-40B4-BE49-F238E27FC236}">
                    <a16:creationId xmlns:a16="http://schemas.microsoft.com/office/drawing/2014/main" id="{716F72CB-7DB2-BB5C-C98E-B16E17C9DB93}"/>
                  </a:ext>
                </a:extLst>
              </p:cNvPr>
              <p:cNvSpPr/>
              <p:nvPr/>
            </p:nvSpPr>
            <p:spPr bwMode="auto">
              <a:xfrm>
                <a:off x="5840286" y="1715370"/>
                <a:ext cx="6528985" cy="969080"/>
              </a:xfrm>
              <a:prstGeom prst="round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ea typeface="Osaka" pitchFamily="-111" charset="-128"/>
                  <a:cs typeface="Osaka" pitchFamily="-111" charset="-128"/>
                </a:endParaRPr>
              </a:p>
            </p:txBody>
          </p:sp>
          <p:sp>
            <p:nvSpPr>
              <p:cNvPr id="41" name="TextBox 40">
                <a:extLst>
                  <a:ext uri="{FF2B5EF4-FFF2-40B4-BE49-F238E27FC236}">
                    <a16:creationId xmlns:a16="http://schemas.microsoft.com/office/drawing/2014/main" id="{D342F5E3-BFB8-9D53-926A-33C4E2FC1AA2}"/>
                  </a:ext>
                </a:extLst>
              </p:cNvPr>
              <p:cNvSpPr txBox="1"/>
              <p:nvPr/>
            </p:nvSpPr>
            <p:spPr>
              <a:xfrm>
                <a:off x="6176072" y="1854210"/>
                <a:ext cx="5871004" cy="1003141"/>
              </a:xfrm>
              <a:prstGeom prst="rect">
                <a:avLst/>
              </a:prstGeom>
              <a:noFill/>
              <a:ln>
                <a:noFill/>
              </a:ln>
            </p:spPr>
            <p:txBody>
              <a:bodyPr wrap="square">
                <a:spAutoFit/>
              </a:bodyPr>
              <a:lstStyle/>
              <a:p>
                <a:pPr algn="ctr">
                  <a:lnSpc>
                    <a:spcPts val="2500"/>
                  </a:lnSpc>
                  <a:spcBef>
                    <a:spcPts val="0"/>
                  </a:spcBef>
                </a:pPr>
                <a:r>
                  <a:rPr lang="en-US" sz="2200" b="1" kern="0" dirty="0">
                    <a:solidFill>
                      <a:srgbClr val="FFFFFF"/>
                    </a:solidFill>
                    <a:effectLst/>
                    <a:ea typeface="Source Sans Pro Semibold" panose="020B0603030403020204" pitchFamily="34" charset="0"/>
                  </a:rPr>
                  <a:t>Fondaparinux  </a:t>
                </a:r>
              </a:p>
              <a:p>
                <a:pPr algn="ctr">
                  <a:lnSpc>
                    <a:spcPts val="2500"/>
                  </a:lnSpc>
                  <a:spcBef>
                    <a:spcPts val="1200"/>
                  </a:spcBef>
                </a:pPr>
                <a:r>
                  <a:rPr lang="en-US" sz="2200" b="1" kern="0" dirty="0">
                    <a:solidFill>
                      <a:srgbClr val="FFFFFF"/>
                    </a:solidFill>
                    <a:effectLst/>
                    <a:ea typeface="Source Sans Pro Semibold" panose="020B0603030403020204" pitchFamily="34" charset="0"/>
                  </a:rPr>
                  <a:t>Inhibits factors Xa indirectly</a:t>
                </a:r>
              </a:p>
              <a:p>
                <a:pPr algn="ctr">
                  <a:lnSpc>
                    <a:spcPts val="2500"/>
                  </a:lnSpc>
                  <a:spcBef>
                    <a:spcPts val="1200"/>
                  </a:spcBef>
                </a:pPr>
                <a:endParaRPr lang="en-US" sz="2200" b="1" kern="0" dirty="0">
                  <a:solidFill>
                    <a:srgbClr val="FFFFFF"/>
                  </a:solidFill>
                  <a:effectLst/>
                  <a:ea typeface="Source Sans Pro Semibold" panose="020B0603030403020204" pitchFamily="34" charset="0"/>
                </a:endParaRPr>
              </a:p>
            </p:txBody>
          </p:sp>
        </p:grpSp>
        <p:grpSp>
          <p:nvGrpSpPr>
            <p:cNvPr id="37" name="Group 36">
              <a:extLst>
                <a:ext uri="{FF2B5EF4-FFF2-40B4-BE49-F238E27FC236}">
                  <a16:creationId xmlns:a16="http://schemas.microsoft.com/office/drawing/2014/main" id="{4A4A7AB4-A26E-0553-B184-54FD2D227AFE}"/>
                </a:ext>
              </a:extLst>
            </p:cNvPr>
            <p:cNvGrpSpPr/>
            <p:nvPr/>
          </p:nvGrpSpPr>
          <p:grpSpPr>
            <a:xfrm>
              <a:off x="8970015" y="925910"/>
              <a:ext cx="670754" cy="569681"/>
              <a:chOff x="6227658" y="1832916"/>
              <a:chExt cx="1154160" cy="339653"/>
            </a:xfrm>
          </p:grpSpPr>
          <p:sp>
            <p:nvSpPr>
              <p:cNvPr id="38" name="Rectangle: Rounded Corners 37">
                <a:extLst>
                  <a:ext uri="{FF2B5EF4-FFF2-40B4-BE49-F238E27FC236}">
                    <a16:creationId xmlns:a16="http://schemas.microsoft.com/office/drawing/2014/main" id="{6B513617-DE8F-49DC-4ADE-1849CFFF1192}"/>
                  </a:ext>
                </a:extLst>
              </p:cNvPr>
              <p:cNvSpPr/>
              <p:nvPr/>
            </p:nvSpPr>
            <p:spPr bwMode="auto">
              <a:xfrm>
                <a:off x="6227658" y="1832916"/>
                <a:ext cx="1154160" cy="339653"/>
              </a:xfrm>
              <a:prstGeom prst="roundRect">
                <a:avLst>
                  <a:gd name="adj" fmla="val 34502"/>
                </a:avLst>
              </a:prstGeom>
              <a:solidFill>
                <a:srgbClr val="FFFFFF"/>
              </a:solid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ea typeface="Osaka" pitchFamily="-111" charset="-128"/>
                  <a:cs typeface="Osaka" pitchFamily="-111" charset="-128"/>
                </a:endParaRPr>
              </a:p>
            </p:txBody>
          </p:sp>
          <p:sp>
            <p:nvSpPr>
              <p:cNvPr id="39" name="TextBox 38">
                <a:extLst>
                  <a:ext uri="{FF2B5EF4-FFF2-40B4-BE49-F238E27FC236}">
                    <a16:creationId xmlns:a16="http://schemas.microsoft.com/office/drawing/2014/main" id="{C41620E1-AC54-E99E-4017-3180575A9DAD}"/>
                  </a:ext>
                </a:extLst>
              </p:cNvPr>
              <p:cNvSpPr txBox="1"/>
              <p:nvPr/>
            </p:nvSpPr>
            <p:spPr>
              <a:xfrm>
                <a:off x="6227658" y="1897749"/>
                <a:ext cx="1154160" cy="248874"/>
              </a:xfrm>
              <a:prstGeom prst="rect">
                <a:avLst/>
              </a:prstGeom>
              <a:noFill/>
              <a:ln>
                <a:noFill/>
              </a:ln>
            </p:spPr>
            <p:txBody>
              <a:bodyPr wrap="square">
                <a:spAutoFit/>
              </a:bodyPr>
              <a:lstStyle/>
              <a:p>
                <a:pPr algn="ctr">
                  <a:lnSpc>
                    <a:spcPts val="2500"/>
                  </a:lnSpc>
                  <a:spcBef>
                    <a:spcPts val="0"/>
                  </a:spcBef>
                </a:pPr>
                <a:r>
                  <a:rPr lang="en-US" sz="2500" b="1" kern="0" dirty="0">
                    <a:solidFill>
                      <a:schemeClr val="tx2"/>
                    </a:solidFill>
                    <a:effectLst/>
                    <a:ea typeface="Source Sans Pro Semibold" panose="020B0603030403020204" pitchFamily="34" charset="0"/>
                  </a:rPr>
                  <a:t>AT</a:t>
                </a:r>
              </a:p>
            </p:txBody>
          </p:sp>
        </p:grpSp>
      </p:grpSp>
      <p:grpSp>
        <p:nvGrpSpPr>
          <p:cNvPr id="57" name="Group 56">
            <a:extLst>
              <a:ext uri="{FF2B5EF4-FFF2-40B4-BE49-F238E27FC236}">
                <a16:creationId xmlns:a16="http://schemas.microsoft.com/office/drawing/2014/main" id="{364A2D66-04F9-D7CE-4A1F-8D5EDC8E9E9E}"/>
              </a:ext>
            </a:extLst>
          </p:cNvPr>
          <p:cNvGrpSpPr/>
          <p:nvPr/>
        </p:nvGrpSpPr>
        <p:grpSpPr>
          <a:xfrm>
            <a:off x="6238499" y="3335352"/>
            <a:ext cx="5616686" cy="2197610"/>
            <a:chOff x="6340099" y="3436952"/>
            <a:chExt cx="5616686" cy="2197610"/>
          </a:xfrm>
        </p:grpSpPr>
        <p:cxnSp>
          <p:nvCxnSpPr>
            <p:cNvPr id="16" name="Straight Arrow Connector 15">
              <a:extLst>
                <a:ext uri="{FF2B5EF4-FFF2-40B4-BE49-F238E27FC236}">
                  <a16:creationId xmlns:a16="http://schemas.microsoft.com/office/drawing/2014/main" id="{2EC8D62F-9760-5836-6794-6B38B6E8E786}"/>
                </a:ext>
              </a:extLst>
            </p:cNvPr>
            <p:cNvCxnSpPr>
              <a:cxnSpLocks/>
            </p:cNvCxnSpPr>
            <p:nvPr/>
          </p:nvCxnSpPr>
          <p:spPr bwMode="auto">
            <a:xfrm flipH="1" flipV="1">
              <a:off x="6350311" y="4113112"/>
              <a:ext cx="2450038" cy="767617"/>
            </a:xfrm>
            <a:prstGeom prst="straightConnector1">
              <a:avLst/>
            </a:prstGeom>
            <a:solidFill>
              <a:schemeClr val="accent1"/>
            </a:solidFill>
            <a:ln w="25400" cap="flat" cmpd="sng" algn="ctr">
              <a:solidFill>
                <a:schemeClr val="tx2"/>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BE294740-5AD7-B2B1-4E86-B6ABE8F8C727}"/>
                </a:ext>
              </a:extLst>
            </p:cNvPr>
            <p:cNvCxnSpPr>
              <a:cxnSpLocks/>
            </p:cNvCxnSpPr>
            <p:nvPr/>
          </p:nvCxnSpPr>
          <p:spPr bwMode="auto">
            <a:xfrm flipH="1">
              <a:off x="6340099" y="4890021"/>
              <a:ext cx="2460251" cy="405879"/>
            </a:xfrm>
            <a:prstGeom prst="straightConnector1">
              <a:avLst/>
            </a:prstGeom>
            <a:solidFill>
              <a:schemeClr val="accent1"/>
            </a:solidFill>
            <a:ln w="34925" cap="flat" cmpd="sng" algn="ctr">
              <a:solidFill>
                <a:schemeClr val="tx2"/>
              </a:solidFill>
              <a:prstDash val="sysDot"/>
              <a:round/>
              <a:headEnd type="none" w="med" len="med"/>
              <a:tailEnd type="triangle"/>
            </a:ln>
            <a:effectLst/>
          </p:spPr>
        </p:cxnSp>
        <p:grpSp>
          <p:nvGrpSpPr>
            <p:cNvPr id="43" name="Group 42">
              <a:extLst>
                <a:ext uri="{FF2B5EF4-FFF2-40B4-BE49-F238E27FC236}">
                  <a16:creationId xmlns:a16="http://schemas.microsoft.com/office/drawing/2014/main" id="{CAE9D53A-AD01-3BE1-9DF8-36C9EA2C4E1F}"/>
                </a:ext>
              </a:extLst>
            </p:cNvPr>
            <p:cNvGrpSpPr/>
            <p:nvPr/>
          </p:nvGrpSpPr>
          <p:grpSpPr>
            <a:xfrm>
              <a:off x="8166100" y="3901477"/>
              <a:ext cx="3790685" cy="1733085"/>
              <a:chOff x="5846680" y="1783445"/>
              <a:chExt cx="6522591" cy="1033293"/>
            </a:xfrm>
          </p:grpSpPr>
          <p:sp>
            <p:nvSpPr>
              <p:cNvPr id="44" name="Rectangle: Rounded Corners 43">
                <a:extLst>
                  <a:ext uri="{FF2B5EF4-FFF2-40B4-BE49-F238E27FC236}">
                    <a16:creationId xmlns:a16="http://schemas.microsoft.com/office/drawing/2014/main" id="{767C6755-C954-D74B-E080-7647A6F4C3B2}"/>
                  </a:ext>
                </a:extLst>
              </p:cNvPr>
              <p:cNvSpPr/>
              <p:nvPr/>
            </p:nvSpPr>
            <p:spPr bwMode="auto">
              <a:xfrm>
                <a:off x="5846680" y="1783445"/>
                <a:ext cx="6522591" cy="1033293"/>
              </a:xfrm>
              <a:prstGeom prst="round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ea typeface="Osaka" pitchFamily="-111" charset="-128"/>
                  <a:cs typeface="Osaka" pitchFamily="-111" charset="-128"/>
                </a:endParaRPr>
              </a:p>
            </p:txBody>
          </p:sp>
          <p:sp>
            <p:nvSpPr>
              <p:cNvPr id="45" name="TextBox 44">
                <a:extLst>
                  <a:ext uri="{FF2B5EF4-FFF2-40B4-BE49-F238E27FC236}">
                    <a16:creationId xmlns:a16="http://schemas.microsoft.com/office/drawing/2014/main" id="{1ACC0873-0C28-F590-A926-A13F58F4A59A}"/>
                  </a:ext>
                </a:extLst>
              </p:cNvPr>
              <p:cNvSpPr txBox="1"/>
              <p:nvPr/>
            </p:nvSpPr>
            <p:spPr>
              <a:xfrm>
                <a:off x="5846680" y="1854210"/>
                <a:ext cx="6522591" cy="911390"/>
              </a:xfrm>
              <a:prstGeom prst="rect">
                <a:avLst/>
              </a:prstGeom>
              <a:noFill/>
              <a:ln>
                <a:noFill/>
              </a:ln>
            </p:spPr>
            <p:txBody>
              <a:bodyPr wrap="square">
                <a:spAutoFit/>
              </a:bodyPr>
              <a:lstStyle/>
              <a:p>
                <a:pPr algn="ctr">
                  <a:lnSpc>
                    <a:spcPts val="2500"/>
                  </a:lnSpc>
                  <a:spcBef>
                    <a:spcPts val="0"/>
                  </a:spcBef>
                </a:pPr>
                <a:r>
                  <a:rPr lang="en-US" sz="2200" b="1" kern="0" dirty="0">
                    <a:solidFill>
                      <a:srgbClr val="FFFFFF"/>
                    </a:solidFill>
                    <a:effectLst/>
                    <a:ea typeface="Source Sans Pro Semibold" panose="020B0603030403020204" pitchFamily="34" charset="0"/>
                  </a:rPr>
                  <a:t>Low molecular weight </a:t>
                </a:r>
                <a:br>
                  <a:rPr lang="en-US" sz="2200" b="1" kern="0" dirty="0">
                    <a:solidFill>
                      <a:srgbClr val="FFFFFF"/>
                    </a:solidFill>
                    <a:effectLst/>
                    <a:ea typeface="Source Sans Pro Semibold" panose="020B0603030403020204" pitchFamily="34" charset="0"/>
                  </a:rPr>
                </a:br>
                <a:r>
                  <a:rPr lang="en-US" sz="2200" b="1" kern="0" dirty="0">
                    <a:solidFill>
                      <a:srgbClr val="FFFFFF"/>
                    </a:solidFill>
                    <a:effectLst/>
                    <a:ea typeface="Source Sans Pro Semibold" panose="020B0603030403020204" pitchFamily="34" charset="0"/>
                  </a:rPr>
                  <a:t>heparin (LMWH)  </a:t>
                </a:r>
              </a:p>
              <a:p>
                <a:pPr algn="ctr">
                  <a:lnSpc>
                    <a:spcPts val="2500"/>
                  </a:lnSpc>
                  <a:spcBef>
                    <a:spcPts val="1200"/>
                  </a:spcBef>
                </a:pPr>
                <a:r>
                  <a:rPr lang="en-US" sz="2200" b="1" kern="0" dirty="0">
                    <a:solidFill>
                      <a:srgbClr val="FFFFFF"/>
                    </a:solidFill>
                    <a:effectLst/>
                    <a:ea typeface="Source Sans Pro Semibold" panose="020B0603030403020204" pitchFamily="34" charset="0"/>
                  </a:rPr>
                  <a:t>Inhibits factor Xa indirectly &amp; preferentially </a:t>
                </a:r>
              </a:p>
            </p:txBody>
          </p:sp>
        </p:grpSp>
        <p:grpSp>
          <p:nvGrpSpPr>
            <p:cNvPr id="46" name="Group 45">
              <a:extLst>
                <a:ext uri="{FF2B5EF4-FFF2-40B4-BE49-F238E27FC236}">
                  <a16:creationId xmlns:a16="http://schemas.microsoft.com/office/drawing/2014/main" id="{7D5ADA18-2F81-8215-AE30-BF6425542589}"/>
                </a:ext>
              </a:extLst>
            </p:cNvPr>
            <p:cNvGrpSpPr/>
            <p:nvPr/>
          </p:nvGrpSpPr>
          <p:grpSpPr>
            <a:xfrm>
              <a:off x="9726064" y="3436952"/>
              <a:ext cx="670755" cy="569681"/>
              <a:chOff x="6804738" y="1861311"/>
              <a:chExt cx="1154162" cy="339653"/>
            </a:xfrm>
          </p:grpSpPr>
          <p:sp>
            <p:nvSpPr>
              <p:cNvPr id="47" name="Rectangle: Rounded Corners 46">
                <a:extLst>
                  <a:ext uri="{FF2B5EF4-FFF2-40B4-BE49-F238E27FC236}">
                    <a16:creationId xmlns:a16="http://schemas.microsoft.com/office/drawing/2014/main" id="{FC7ABBDB-9C43-1412-061C-009AC573CA23}"/>
                  </a:ext>
                </a:extLst>
              </p:cNvPr>
              <p:cNvSpPr/>
              <p:nvPr/>
            </p:nvSpPr>
            <p:spPr bwMode="auto">
              <a:xfrm>
                <a:off x="6804740" y="1861311"/>
                <a:ext cx="1154160" cy="339653"/>
              </a:xfrm>
              <a:prstGeom prst="roundRect">
                <a:avLst>
                  <a:gd name="adj" fmla="val 34502"/>
                </a:avLst>
              </a:prstGeom>
              <a:solidFill>
                <a:srgbClr val="FFFFFF"/>
              </a:solid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ea typeface="Osaka" pitchFamily="-111" charset="-128"/>
                  <a:cs typeface="Osaka" pitchFamily="-111" charset="-128"/>
                </a:endParaRPr>
              </a:p>
            </p:txBody>
          </p:sp>
          <p:sp>
            <p:nvSpPr>
              <p:cNvPr id="48" name="TextBox 47">
                <a:extLst>
                  <a:ext uri="{FF2B5EF4-FFF2-40B4-BE49-F238E27FC236}">
                    <a16:creationId xmlns:a16="http://schemas.microsoft.com/office/drawing/2014/main" id="{DC6A19DF-E948-836F-FE6A-D5878A47801F}"/>
                  </a:ext>
                </a:extLst>
              </p:cNvPr>
              <p:cNvSpPr txBox="1"/>
              <p:nvPr/>
            </p:nvSpPr>
            <p:spPr>
              <a:xfrm>
                <a:off x="6804738" y="1926144"/>
                <a:ext cx="1154160" cy="248874"/>
              </a:xfrm>
              <a:prstGeom prst="rect">
                <a:avLst/>
              </a:prstGeom>
              <a:noFill/>
              <a:ln>
                <a:noFill/>
              </a:ln>
            </p:spPr>
            <p:txBody>
              <a:bodyPr wrap="square">
                <a:spAutoFit/>
              </a:bodyPr>
              <a:lstStyle/>
              <a:p>
                <a:pPr algn="ctr">
                  <a:lnSpc>
                    <a:spcPts val="2500"/>
                  </a:lnSpc>
                  <a:spcBef>
                    <a:spcPts val="0"/>
                  </a:spcBef>
                </a:pPr>
                <a:r>
                  <a:rPr lang="en-US" sz="2500" b="1" kern="0" dirty="0">
                    <a:solidFill>
                      <a:schemeClr val="tx2"/>
                    </a:solidFill>
                    <a:effectLst/>
                    <a:ea typeface="Source Sans Pro Semibold" panose="020B0603030403020204" pitchFamily="34" charset="0"/>
                  </a:rPr>
                  <a:t>AT</a:t>
                </a:r>
              </a:p>
            </p:txBody>
          </p:sp>
        </p:grpSp>
      </p:grpSp>
    </p:spTree>
    <p:extLst>
      <p:ext uri="{BB962C8B-B14F-4D97-AF65-F5344CB8AC3E}">
        <p14:creationId xmlns:p14="http://schemas.microsoft.com/office/powerpoint/2010/main" val="2117297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399" y="167892"/>
            <a:ext cx="10389241" cy="670308"/>
          </a:xfrm>
        </p:spPr>
        <p:txBody>
          <a:bodyPr/>
          <a:lstStyle/>
          <a:p>
            <a:r>
              <a:rPr lang="en-US" dirty="0"/>
              <a:t>Heparin Structure</a:t>
            </a:r>
          </a:p>
        </p:txBody>
      </p:sp>
      <p:sp>
        <p:nvSpPr>
          <p:cNvPr id="5" name="Content Placeholder 4"/>
          <p:cNvSpPr>
            <a:spLocks noGrp="1"/>
          </p:cNvSpPr>
          <p:nvPr>
            <p:ph idx="1"/>
          </p:nvPr>
        </p:nvSpPr>
        <p:spPr>
          <a:xfrm>
            <a:off x="488272" y="1103870"/>
            <a:ext cx="6262880" cy="5123194"/>
          </a:xfrm>
        </p:spPr>
        <p:txBody>
          <a:bodyPr/>
          <a:lstStyle/>
          <a:p>
            <a:pPr marL="347345" indent="-347345"/>
            <a:endParaRPr lang="en-US" sz="2000" b="0"/>
          </a:p>
          <a:p>
            <a:pPr marL="347345" indent="-347345"/>
            <a:endParaRPr lang="en-US" sz="2000" b="0"/>
          </a:p>
          <a:p>
            <a:pPr marL="347345" indent="-347345"/>
            <a:endParaRPr lang="en-US" sz="2000" b="0"/>
          </a:p>
          <a:p>
            <a:pPr marL="347345" indent="-347345"/>
            <a:endParaRPr lang="en-US" sz="2000" b="0"/>
          </a:p>
          <a:p>
            <a:pPr marL="347345" indent="-347345"/>
            <a:endParaRPr lang="en-US" sz="1600" kern="1200">
              <a:solidFill>
                <a:schemeClr val="tx1"/>
              </a:solidFill>
            </a:endParaRPr>
          </a:p>
        </p:txBody>
      </p:sp>
      <p:pic>
        <p:nvPicPr>
          <p:cNvPr id="4" name="Picture 2" descr="https://ars.els-cdn.com/content/image/1-s2.0-S0753332221003462-gr1.jpg"/>
          <p:cNvPicPr>
            <a:picLocks noChangeAspect="1" noChangeArrowheads="1"/>
          </p:cNvPicPr>
          <p:nvPr/>
        </p:nvPicPr>
        <p:blipFill rotWithShape="1">
          <a:blip r:embed="rId3">
            <a:extLst>
              <a:ext uri="{28A0092B-C50C-407E-A947-70E740481C1C}">
                <a14:useLocalDpi xmlns:a14="http://schemas.microsoft.com/office/drawing/2010/main" val="0"/>
              </a:ext>
            </a:extLst>
          </a:blip>
          <a:srcRect b="48889"/>
          <a:stretch/>
        </p:blipFill>
        <p:spPr bwMode="auto">
          <a:xfrm>
            <a:off x="1086832" y="2294481"/>
            <a:ext cx="6469189" cy="1215203"/>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a:cxnSpLocks/>
          </p:cNvCxnSpPr>
          <p:nvPr/>
        </p:nvCxnSpPr>
        <p:spPr bwMode="auto">
          <a:xfrm>
            <a:off x="4066903" y="2804134"/>
            <a:ext cx="638447" cy="0"/>
          </a:xfrm>
          <a:prstGeom prst="straightConnector1">
            <a:avLst/>
          </a:prstGeom>
          <a:solidFill>
            <a:schemeClr val="accent1"/>
          </a:solidFill>
          <a:ln w="50800" cap="flat" cmpd="sng" algn="ctr">
            <a:solidFill>
              <a:schemeClr val="tx2"/>
            </a:solidFill>
            <a:prstDash val="solid"/>
            <a:round/>
            <a:headEnd type="none" w="med" len="med"/>
            <a:tailEnd type="triangle"/>
          </a:ln>
          <a:effectLst/>
        </p:spPr>
      </p:cxnSp>
      <p:sp>
        <p:nvSpPr>
          <p:cNvPr id="18" name="Rectangle 17"/>
          <p:cNvSpPr/>
          <p:nvPr/>
        </p:nvSpPr>
        <p:spPr>
          <a:xfrm>
            <a:off x="914399" y="1297057"/>
            <a:ext cx="7794172" cy="400110"/>
          </a:xfrm>
          <a:prstGeom prst="rect">
            <a:avLst/>
          </a:prstGeom>
        </p:spPr>
        <p:txBody>
          <a:bodyPr wrap="square" lIns="91440" tIns="45720" rIns="91440" bIns="45720" anchor="t">
            <a:spAutoFit/>
          </a:bodyPr>
          <a:lstStyle/>
          <a:p>
            <a:r>
              <a:rPr lang="en-US" sz="2000" b="1" dirty="0"/>
              <a:t>Disaccharide </a:t>
            </a:r>
            <a:r>
              <a:rPr lang="en-US" sz="2000" b="1" dirty="0" err="1"/>
              <a:t>trisulfate</a:t>
            </a:r>
            <a:r>
              <a:rPr lang="en-US" sz="2000" b="1" dirty="0"/>
              <a:t> and pentose sequence of heparin</a:t>
            </a:r>
          </a:p>
        </p:txBody>
      </p:sp>
      <p:sp>
        <p:nvSpPr>
          <p:cNvPr id="11" name="Rectangle 10"/>
          <p:cNvSpPr/>
          <p:nvPr/>
        </p:nvSpPr>
        <p:spPr>
          <a:xfrm>
            <a:off x="1023938" y="5968248"/>
            <a:ext cx="6362700" cy="123111"/>
          </a:xfrm>
          <a:prstGeom prst="rect">
            <a:avLst/>
          </a:prstGeom>
        </p:spPr>
        <p:txBody>
          <a:bodyPr wrap="square" lIns="0" tIns="0" rIns="0" bIns="0">
            <a:spAutoFit/>
          </a:bodyPr>
          <a:lstStyle/>
          <a:p>
            <a:r>
              <a:rPr lang="en-US" sz="800" dirty="0"/>
              <a:t>Source: Qiu M, et al. Biomed </a:t>
            </a:r>
            <a:r>
              <a:rPr lang="en-US" sz="800" dirty="0" err="1"/>
              <a:t>Pharmacother</a:t>
            </a:r>
            <a:r>
              <a:rPr lang="en-US" sz="800" dirty="0"/>
              <a:t>. 2021 Jul;139:111561. </a:t>
            </a:r>
            <a:r>
              <a:rPr lang="en-US" sz="800" dirty="0" err="1"/>
              <a:t>doi</a:t>
            </a:r>
            <a:r>
              <a:rPr lang="en-US" sz="800" dirty="0"/>
              <a:t>: 10.1016/j.biopha.2021.111561. </a:t>
            </a:r>
          </a:p>
        </p:txBody>
      </p:sp>
      <p:grpSp>
        <p:nvGrpSpPr>
          <p:cNvPr id="13" name="Group 12">
            <a:extLst>
              <a:ext uri="{FF2B5EF4-FFF2-40B4-BE49-F238E27FC236}">
                <a16:creationId xmlns:a16="http://schemas.microsoft.com/office/drawing/2014/main" id="{A198A220-CC8E-0111-D397-47BCF824AAA6}"/>
              </a:ext>
            </a:extLst>
          </p:cNvPr>
          <p:cNvGrpSpPr/>
          <p:nvPr/>
        </p:nvGrpSpPr>
        <p:grpSpPr>
          <a:xfrm>
            <a:off x="4964012" y="2078806"/>
            <a:ext cx="6469189" cy="1492652"/>
            <a:chOff x="1237808" y="1905238"/>
            <a:chExt cx="11131463" cy="889943"/>
          </a:xfrm>
        </p:grpSpPr>
        <p:sp>
          <p:nvSpPr>
            <p:cNvPr id="17" name="Rectangle: Rounded Corners 16">
              <a:extLst>
                <a:ext uri="{FF2B5EF4-FFF2-40B4-BE49-F238E27FC236}">
                  <a16:creationId xmlns:a16="http://schemas.microsoft.com/office/drawing/2014/main" id="{D6B89DF3-DA7C-11C7-9D39-8A324E7C35C5}"/>
                </a:ext>
              </a:extLst>
            </p:cNvPr>
            <p:cNvSpPr/>
            <p:nvPr/>
          </p:nvSpPr>
          <p:spPr bwMode="auto">
            <a:xfrm>
              <a:off x="1237808" y="1905238"/>
              <a:ext cx="11131463" cy="889943"/>
            </a:xfrm>
            <a:prstGeom prst="round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19" name="TextBox 18">
              <a:extLst>
                <a:ext uri="{FF2B5EF4-FFF2-40B4-BE49-F238E27FC236}">
                  <a16:creationId xmlns:a16="http://schemas.microsoft.com/office/drawing/2014/main" id="{6FACF97A-E4C0-5B05-314D-979695D89471}"/>
                </a:ext>
              </a:extLst>
            </p:cNvPr>
            <p:cNvSpPr txBox="1"/>
            <p:nvPr/>
          </p:nvSpPr>
          <p:spPr>
            <a:xfrm>
              <a:off x="1506674" y="2006315"/>
              <a:ext cx="10593729" cy="666568"/>
            </a:xfrm>
            <a:prstGeom prst="rect">
              <a:avLst/>
            </a:prstGeom>
            <a:noFill/>
            <a:ln>
              <a:noFill/>
            </a:ln>
          </p:spPr>
          <p:txBody>
            <a:bodyPr wrap="square">
              <a:spAutoFit/>
            </a:bodyPr>
            <a:lstStyle/>
            <a:p>
              <a:pPr algn="ctr">
                <a:lnSpc>
                  <a:spcPts val="2700"/>
                </a:lnSpc>
                <a:spcBef>
                  <a:spcPts val="0"/>
                </a:spcBef>
              </a:pPr>
              <a:r>
                <a:rPr lang="en-US" sz="2200" kern="0" dirty="0">
                  <a:solidFill>
                    <a:srgbClr val="FFFFFF"/>
                  </a:solidFill>
                  <a:effectLst/>
                  <a:latin typeface="Source Sans Pro Semibold" panose="020B0603030403020204" pitchFamily="34" charset="0"/>
                  <a:ea typeface="Source Sans Pro Semibold" panose="020B0603030403020204" pitchFamily="34" charset="0"/>
                </a:rPr>
                <a:t>Repeated disaccharide </a:t>
              </a:r>
              <a:r>
                <a:rPr lang="en-US" sz="2200" kern="0" dirty="0" err="1">
                  <a:solidFill>
                    <a:srgbClr val="FFFFFF"/>
                  </a:solidFill>
                  <a:effectLst/>
                  <a:latin typeface="Source Sans Pro Semibold" panose="020B0603030403020204" pitchFamily="34" charset="0"/>
                  <a:ea typeface="Source Sans Pro Semibold" panose="020B0603030403020204" pitchFamily="34" charset="0"/>
                </a:rPr>
                <a:t>trisulfate</a:t>
              </a:r>
              <a:r>
                <a:rPr lang="en-US" sz="2200" kern="0" dirty="0">
                  <a:solidFill>
                    <a:srgbClr val="FFFFFF"/>
                  </a:solidFill>
                  <a:effectLst/>
                  <a:latin typeface="Source Sans Pro Semibold" panose="020B0603030403020204" pitchFamily="34" charset="0"/>
                  <a:ea typeface="Source Sans Pro Semibold" panose="020B0603030403020204" pitchFamily="34" charset="0"/>
                </a:rPr>
                <a:t> has low affinity to AT but binds other heparin cofactors and heparin inhibitors such as platelet factor 4 (PF4)</a:t>
              </a:r>
            </a:p>
          </p:txBody>
        </p:sp>
      </p:grpSp>
      <p:sp>
        <p:nvSpPr>
          <p:cNvPr id="7" name="Rectangle 6">
            <a:extLst>
              <a:ext uri="{FF2B5EF4-FFF2-40B4-BE49-F238E27FC236}">
                <a16:creationId xmlns:a16="http://schemas.microsoft.com/office/drawing/2014/main" id="{82F2D3B8-3D16-5653-4F49-A0F80AC1D34D}"/>
              </a:ext>
            </a:extLst>
          </p:cNvPr>
          <p:cNvSpPr/>
          <p:nvPr/>
        </p:nvSpPr>
        <p:spPr bwMode="auto">
          <a:xfrm>
            <a:off x="1028701" y="2165074"/>
            <a:ext cx="3038202" cy="1215202"/>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grpSp>
        <p:nvGrpSpPr>
          <p:cNvPr id="14" name="Group 13">
            <a:extLst>
              <a:ext uri="{FF2B5EF4-FFF2-40B4-BE49-F238E27FC236}">
                <a16:creationId xmlns:a16="http://schemas.microsoft.com/office/drawing/2014/main" id="{A6470832-358A-4E57-1C00-136071F34C21}"/>
              </a:ext>
            </a:extLst>
          </p:cNvPr>
          <p:cNvGrpSpPr/>
          <p:nvPr/>
        </p:nvGrpSpPr>
        <p:grpSpPr>
          <a:xfrm>
            <a:off x="8543925" y="3961787"/>
            <a:ext cx="2889276" cy="1306927"/>
            <a:chOff x="7397721" y="1930955"/>
            <a:chExt cx="4971546" cy="779211"/>
          </a:xfrm>
        </p:grpSpPr>
        <p:sp>
          <p:nvSpPr>
            <p:cNvPr id="15" name="Rectangle: Rounded Corners 14">
              <a:extLst>
                <a:ext uri="{FF2B5EF4-FFF2-40B4-BE49-F238E27FC236}">
                  <a16:creationId xmlns:a16="http://schemas.microsoft.com/office/drawing/2014/main" id="{F6909B15-4250-683F-A502-F3475FF0F432}"/>
                </a:ext>
              </a:extLst>
            </p:cNvPr>
            <p:cNvSpPr/>
            <p:nvPr/>
          </p:nvSpPr>
          <p:spPr bwMode="auto">
            <a:xfrm>
              <a:off x="7397721" y="1930955"/>
              <a:ext cx="4971546" cy="779211"/>
            </a:xfrm>
            <a:prstGeom prst="round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16" name="TextBox 15">
              <a:extLst>
                <a:ext uri="{FF2B5EF4-FFF2-40B4-BE49-F238E27FC236}">
                  <a16:creationId xmlns:a16="http://schemas.microsoft.com/office/drawing/2014/main" id="{94D5884F-7906-A5A5-9387-FE268FDAFB7B}"/>
                </a:ext>
              </a:extLst>
            </p:cNvPr>
            <p:cNvSpPr txBox="1"/>
            <p:nvPr/>
          </p:nvSpPr>
          <p:spPr>
            <a:xfrm>
              <a:off x="7397723" y="1983599"/>
              <a:ext cx="4971544" cy="666568"/>
            </a:xfrm>
            <a:prstGeom prst="rect">
              <a:avLst/>
            </a:prstGeom>
            <a:noFill/>
            <a:ln>
              <a:noFill/>
            </a:ln>
          </p:spPr>
          <p:txBody>
            <a:bodyPr wrap="square">
              <a:spAutoFit/>
            </a:bodyPr>
            <a:lstStyle/>
            <a:p>
              <a:pPr algn="ctr">
                <a:lnSpc>
                  <a:spcPts val="2700"/>
                </a:lnSpc>
                <a:spcBef>
                  <a:spcPts val="0"/>
                </a:spcBef>
              </a:pPr>
              <a:r>
                <a:rPr lang="en-US" sz="2200" kern="0" dirty="0">
                  <a:solidFill>
                    <a:srgbClr val="FFFFFF"/>
                  </a:solidFill>
                  <a:effectLst/>
                  <a:latin typeface="Source Sans Pro Semibold" panose="020B0603030403020204" pitchFamily="34" charset="0"/>
                  <a:ea typeface="Source Sans Pro Semibold" panose="020B0603030403020204" pitchFamily="34" charset="0"/>
                </a:rPr>
                <a:t>Specific </a:t>
              </a:r>
              <a:r>
                <a:rPr lang="en-US" sz="2200" u="sng" kern="0" dirty="0" err="1">
                  <a:solidFill>
                    <a:srgbClr val="FFFFFF"/>
                  </a:solidFill>
                  <a:effectLst/>
                  <a:latin typeface="Source Sans Pro Semibold" panose="020B0603030403020204" pitchFamily="34" charset="0"/>
                  <a:ea typeface="Source Sans Pro Semibold" panose="020B0603030403020204" pitchFamily="34" charset="0"/>
                </a:rPr>
                <a:t>pentasaccharide</a:t>
              </a:r>
              <a:r>
                <a:rPr lang="en-US" sz="2200" u="sng" kern="0" dirty="0">
                  <a:solidFill>
                    <a:srgbClr val="FFFFFF"/>
                  </a:solidFill>
                  <a:effectLst/>
                  <a:latin typeface="Source Sans Pro Semibold" panose="020B0603030403020204" pitchFamily="34" charset="0"/>
                  <a:ea typeface="Source Sans Pro Semibold" panose="020B0603030403020204" pitchFamily="34" charset="0"/>
                </a:rPr>
                <a:t> sequence </a:t>
              </a:r>
              <a:r>
                <a:rPr lang="en-US" sz="2200" kern="0" dirty="0">
                  <a:solidFill>
                    <a:srgbClr val="FFFFFF"/>
                  </a:solidFill>
                  <a:effectLst/>
                  <a:latin typeface="Source Sans Pro Semibold" panose="020B0603030403020204" pitchFamily="34" charset="0"/>
                  <a:ea typeface="Source Sans Pro Semibold" panose="020B0603030403020204" pitchFamily="34" charset="0"/>
                </a:rPr>
                <a:t>binds AT </a:t>
              </a:r>
            </a:p>
          </p:txBody>
        </p:sp>
      </p:grpSp>
      <p:pic>
        <p:nvPicPr>
          <p:cNvPr id="20" name="Picture 2" descr="https://ars.els-cdn.com/content/image/1-s2.0-S0753332221003462-gr1.jpg">
            <a:extLst>
              <a:ext uri="{FF2B5EF4-FFF2-40B4-BE49-F238E27FC236}">
                <a16:creationId xmlns:a16="http://schemas.microsoft.com/office/drawing/2014/main" id="{D883EE6D-750E-EA4D-B225-4483F505D6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8481" b="-9592"/>
          <a:stretch/>
        </p:blipFill>
        <p:spPr bwMode="auto">
          <a:xfrm>
            <a:off x="1086832" y="4196068"/>
            <a:ext cx="6469189" cy="1215203"/>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5432C08F-7BD6-63A4-1057-7C9A482EA85A}"/>
              </a:ext>
            </a:extLst>
          </p:cNvPr>
          <p:cNvSpPr/>
          <p:nvPr/>
        </p:nvSpPr>
        <p:spPr bwMode="auto">
          <a:xfrm>
            <a:off x="1028700" y="4066661"/>
            <a:ext cx="6710355" cy="1215202"/>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cxnSp>
        <p:nvCxnSpPr>
          <p:cNvPr id="23" name="Straight Arrow Connector 22">
            <a:extLst>
              <a:ext uri="{FF2B5EF4-FFF2-40B4-BE49-F238E27FC236}">
                <a16:creationId xmlns:a16="http://schemas.microsoft.com/office/drawing/2014/main" id="{571C50C5-10EC-FB91-69D2-7571B7EDFDAC}"/>
              </a:ext>
            </a:extLst>
          </p:cNvPr>
          <p:cNvCxnSpPr>
            <a:cxnSpLocks/>
          </p:cNvCxnSpPr>
          <p:nvPr/>
        </p:nvCxnSpPr>
        <p:spPr bwMode="auto">
          <a:xfrm>
            <a:off x="7739055" y="4613884"/>
            <a:ext cx="614370" cy="0"/>
          </a:xfrm>
          <a:prstGeom prst="straightConnector1">
            <a:avLst/>
          </a:prstGeom>
          <a:solidFill>
            <a:schemeClr val="accent1"/>
          </a:solidFill>
          <a:ln w="50800" cap="flat" cmpd="sng" algn="ctr">
            <a:solidFill>
              <a:schemeClr val="tx2"/>
            </a:solidFill>
            <a:prstDash val="solid"/>
            <a:round/>
            <a:headEnd type="none" w="med" len="med"/>
            <a:tailEnd type="triangle"/>
          </a:ln>
          <a:effectLst/>
        </p:spPr>
      </p:cxnSp>
    </p:spTree>
    <p:extLst>
      <p:ext uri="{BB962C8B-B14F-4D97-AF65-F5344CB8AC3E}">
        <p14:creationId xmlns:p14="http://schemas.microsoft.com/office/powerpoint/2010/main" val="33034489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A71815E-EC39-9F70-89CD-A4188A48976C}"/>
              </a:ext>
            </a:extLst>
          </p:cNvPr>
          <p:cNvSpPr/>
          <p:nvPr/>
        </p:nvSpPr>
        <p:spPr>
          <a:xfrm>
            <a:off x="6487483" y="3585369"/>
            <a:ext cx="5704517" cy="264239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2024" y="167892"/>
            <a:ext cx="10389241" cy="670308"/>
          </a:xfrm>
        </p:spPr>
        <p:txBody>
          <a:bodyPr/>
          <a:lstStyle/>
          <a:p>
            <a:r>
              <a:rPr lang="en-US" dirty="0"/>
              <a:t>Antithrombin (AT) activators</a:t>
            </a:r>
          </a:p>
        </p:txBody>
      </p:sp>
      <p:sp>
        <p:nvSpPr>
          <p:cNvPr id="5" name="Content Placeholder 4"/>
          <p:cNvSpPr>
            <a:spLocks noGrp="1"/>
          </p:cNvSpPr>
          <p:nvPr>
            <p:ph idx="1"/>
          </p:nvPr>
        </p:nvSpPr>
        <p:spPr>
          <a:xfrm>
            <a:off x="914399" y="1076325"/>
            <a:ext cx="10436866" cy="5151438"/>
          </a:xfrm>
        </p:spPr>
        <p:txBody>
          <a:bodyPr>
            <a:noAutofit/>
          </a:bodyPr>
          <a:lstStyle/>
          <a:p>
            <a:pPr marL="228600" indent="-228600"/>
            <a:r>
              <a:rPr lang="en-US" sz="2400" b="1" dirty="0"/>
              <a:t>Unfractionated Heparin (UFH)</a:t>
            </a:r>
          </a:p>
          <a:p>
            <a:pPr marL="457200" lvl="1" indent="-228600">
              <a:spcBef>
                <a:spcPts val="0"/>
              </a:spcBef>
              <a:buSzPct val="80000"/>
            </a:pPr>
            <a:r>
              <a:rPr lang="en-US" sz="2400" kern="1200" dirty="0">
                <a:solidFill>
                  <a:schemeClr val="tx1"/>
                </a:solidFill>
              </a:rPr>
              <a:t>~1/3 of the chains of UFH contain the </a:t>
            </a:r>
            <a:r>
              <a:rPr lang="en-US" sz="2400" kern="1200" dirty="0" err="1">
                <a:solidFill>
                  <a:schemeClr val="tx1"/>
                </a:solidFill>
              </a:rPr>
              <a:t>pentasaccharide</a:t>
            </a:r>
            <a:r>
              <a:rPr lang="en-US" sz="2400" kern="1200" dirty="0">
                <a:solidFill>
                  <a:schemeClr val="tx1"/>
                </a:solidFill>
              </a:rPr>
              <a:t> sequence</a:t>
            </a:r>
          </a:p>
          <a:p>
            <a:pPr marL="457200" lvl="1" indent="-228600">
              <a:spcBef>
                <a:spcPts val="0"/>
              </a:spcBef>
              <a:buSzPct val="80000"/>
            </a:pPr>
            <a:r>
              <a:rPr lang="en-US" sz="2400" kern="1200" dirty="0">
                <a:solidFill>
                  <a:schemeClr val="tx1"/>
                </a:solidFill>
              </a:rPr>
              <a:t>average molecular weight of 15–19 </a:t>
            </a:r>
            <a:r>
              <a:rPr lang="en-US" sz="2400" kern="1200" dirty="0" err="1">
                <a:solidFill>
                  <a:schemeClr val="tx1"/>
                </a:solidFill>
              </a:rPr>
              <a:t>kDa</a:t>
            </a:r>
            <a:r>
              <a:rPr lang="en-US" sz="2400" kern="1200" dirty="0">
                <a:solidFill>
                  <a:schemeClr val="tx1"/>
                </a:solidFill>
              </a:rPr>
              <a:t> </a:t>
            </a:r>
          </a:p>
          <a:p>
            <a:pPr marL="228600" indent="-228600">
              <a:spcBef>
                <a:spcPts val="2400"/>
              </a:spcBef>
            </a:pPr>
            <a:r>
              <a:rPr lang="en-US" sz="2400" b="1" dirty="0"/>
              <a:t>Low molecular weight heparin (LMWH)</a:t>
            </a:r>
          </a:p>
          <a:p>
            <a:pPr marL="457200" lvl="1" indent="-228600">
              <a:spcBef>
                <a:spcPts val="0"/>
              </a:spcBef>
              <a:buSzPct val="80000"/>
            </a:pPr>
            <a:r>
              <a:rPr lang="en-US" sz="2400" dirty="0"/>
              <a:t>chemical or enzymatic depolymerization of UFH to yield fragments </a:t>
            </a:r>
            <a:br>
              <a:rPr lang="en-US" sz="2400" dirty="0"/>
            </a:br>
            <a:r>
              <a:rPr lang="en-US" sz="2400" dirty="0"/>
              <a:t>~ 1/3 the size of UFH</a:t>
            </a:r>
          </a:p>
          <a:p>
            <a:pPr marL="457200" lvl="1" indent="-228600">
              <a:spcBef>
                <a:spcPts val="0"/>
              </a:spcBef>
              <a:buSzPct val="80000"/>
            </a:pPr>
            <a:r>
              <a:rPr lang="en-US" sz="2400" dirty="0"/>
              <a:t>average molecular weight </a:t>
            </a:r>
            <a:br>
              <a:rPr lang="en-US" sz="2400" dirty="0"/>
            </a:br>
            <a:r>
              <a:rPr lang="en-US" sz="2400" dirty="0"/>
              <a:t>of 4.5 </a:t>
            </a:r>
            <a:r>
              <a:rPr lang="en-US" sz="2400" dirty="0" err="1"/>
              <a:t>kDa</a:t>
            </a:r>
            <a:r>
              <a:rPr lang="en-US" sz="2400" dirty="0"/>
              <a:t> </a:t>
            </a:r>
          </a:p>
          <a:p>
            <a:pPr marL="228600" indent="-219075">
              <a:spcBef>
                <a:spcPts val="2400"/>
              </a:spcBef>
              <a:buFont typeface="Times" panose="05000000000000000000" pitchFamily="2" charset="2"/>
              <a:buChar char="•"/>
            </a:pPr>
            <a:r>
              <a:rPr lang="en-US" sz="2400" b="1" kern="1200" dirty="0">
                <a:solidFill>
                  <a:schemeClr val="tx1"/>
                </a:solidFill>
                <a:ea typeface="Verdana"/>
              </a:rPr>
              <a:t>Fondaparinux</a:t>
            </a:r>
            <a:endParaRPr lang="en-US" sz="2400" b="1" dirty="0">
              <a:solidFill>
                <a:schemeClr val="tx1"/>
              </a:solidFill>
              <a:ea typeface="Osaka"/>
            </a:endParaRPr>
          </a:p>
          <a:p>
            <a:pPr marL="457200" lvl="1" indent="-228600">
              <a:spcBef>
                <a:spcPts val="0"/>
              </a:spcBef>
              <a:buSzPct val="80000"/>
            </a:pPr>
            <a:r>
              <a:rPr lang="en-US" sz="2400" dirty="0"/>
              <a:t>Synthetic derivative of LMWH</a:t>
            </a:r>
          </a:p>
          <a:p>
            <a:pPr marL="457200" lvl="1" indent="-228600">
              <a:spcBef>
                <a:spcPts val="0"/>
              </a:spcBef>
              <a:buSzPct val="80000"/>
            </a:pPr>
            <a:r>
              <a:rPr lang="en-US" sz="2400" dirty="0"/>
              <a:t>Consists only of a </a:t>
            </a:r>
            <a:r>
              <a:rPr lang="en-US" sz="2400" dirty="0" err="1"/>
              <a:t>pentasaccharide</a:t>
            </a:r>
            <a:endParaRPr lang="en-US" sz="2400" dirty="0"/>
          </a:p>
        </p:txBody>
      </p:sp>
      <p:grpSp>
        <p:nvGrpSpPr>
          <p:cNvPr id="4" name="Group 3">
            <a:extLst>
              <a:ext uri="{FF2B5EF4-FFF2-40B4-BE49-F238E27FC236}">
                <a16:creationId xmlns:a16="http://schemas.microsoft.com/office/drawing/2014/main" id="{1A1E91BD-4EF0-4C17-39A2-81B708955C9B}"/>
              </a:ext>
            </a:extLst>
          </p:cNvPr>
          <p:cNvGrpSpPr/>
          <p:nvPr/>
        </p:nvGrpSpPr>
        <p:grpSpPr>
          <a:xfrm>
            <a:off x="6487483" y="3541988"/>
            <a:ext cx="5323517" cy="2267530"/>
            <a:chOff x="5525458" y="4141734"/>
            <a:chExt cx="5437817" cy="2316216"/>
          </a:xfrm>
        </p:grpSpPr>
        <p:pic>
          <p:nvPicPr>
            <p:cNvPr id="6" name="Picture 4" descr="undefined">
              <a:extLst>
                <a:ext uri="{FF2B5EF4-FFF2-40B4-BE49-F238E27FC236}">
                  <a16:creationId xmlns:a16="http://schemas.microsoft.com/office/drawing/2014/main" id="{8A5A364D-C049-5C0C-E2D4-CEB18F9FF3E7}"/>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25458" y="4160784"/>
              <a:ext cx="5437817" cy="229716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9FB69DCE-024B-4EED-ED95-F7E38CA78E2F}"/>
                </a:ext>
              </a:extLst>
            </p:cNvPr>
            <p:cNvSpPr/>
            <p:nvPr/>
          </p:nvSpPr>
          <p:spPr bwMode="auto">
            <a:xfrm>
              <a:off x="5525458" y="4141734"/>
              <a:ext cx="5437817" cy="2297166"/>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grpSp>
    </p:spTree>
    <p:extLst>
      <p:ext uri="{BB962C8B-B14F-4D97-AF65-F5344CB8AC3E}">
        <p14:creationId xmlns:p14="http://schemas.microsoft.com/office/powerpoint/2010/main" val="14813903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399" y="167892"/>
            <a:ext cx="10389241" cy="670308"/>
          </a:xfrm>
        </p:spPr>
        <p:txBody>
          <a:bodyPr/>
          <a:lstStyle/>
          <a:p>
            <a:r>
              <a:rPr lang="en-US" dirty="0" err="1"/>
              <a:t>Pentasaccharide</a:t>
            </a:r>
            <a:r>
              <a:rPr lang="en-US" dirty="0"/>
              <a:t> Binding to AT</a:t>
            </a:r>
          </a:p>
        </p:txBody>
      </p:sp>
      <p:pic>
        <p:nvPicPr>
          <p:cNvPr id="3" name="Picture 2"/>
          <p:cNvPicPr>
            <a:picLocks noChangeAspect="1"/>
          </p:cNvPicPr>
          <p:nvPr/>
        </p:nvPicPr>
        <p:blipFill>
          <a:blip r:embed="rId3"/>
          <a:stretch>
            <a:fillRect/>
          </a:stretch>
        </p:blipFill>
        <p:spPr>
          <a:xfrm>
            <a:off x="1202997" y="1142591"/>
            <a:ext cx="8130540" cy="3810466"/>
          </a:xfrm>
          <a:prstGeom prst="rect">
            <a:avLst/>
          </a:prstGeom>
        </p:spPr>
      </p:pic>
      <p:sp>
        <p:nvSpPr>
          <p:cNvPr id="4" name="Rectangle 3"/>
          <p:cNvSpPr/>
          <p:nvPr/>
        </p:nvSpPr>
        <p:spPr>
          <a:xfrm>
            <a:off x="7699309" y="5942346"/>
            <a:ext cx="4360507" cy="215444"/>
          </a:xfrm>
          <a:prstGeom prst="rect">
            <a:avLst/>
          </a:prstGeom>
        </p:spPr>
        <p:txBody>
          <a:bodyPr wrap="square">
            <a:spAutoFit/>
          </a:bodyPr>
          <a:lstStyle/>
          <a:p>
            <a:r>
              <a:rPr lang="en-US" sz="800" dirty="0">
                <a:latin typeface="+mj-lt"/>
              </a:rPr>
              <a:t>Source: Dager, W, et al. 2018. “Anticoagulation Therapy: A Clinical Practice Guide, Second Edition”</a:t>
            </a:r>
          </a:p>
        </p:txBody>
      </p:sp>
      <p:sp>
        <p:nvSpPr>
          <p:cNvPr id="10" name="TextBox 9">
            <a:extLst>
              <a:ext uri="{FF2B5EF4-FFF2-40B4-BE49-F238E27FC236}">
                <a16:creationId xmlns:a16="http://schemas.microsoft.com/office/drawing/2014/main" id="{D1569FFE-BA84-8346-8BBA-1752C518E02F}"/>
              </a:ext>
            </a:extLst>
          </p:cNvPr>
          <p:cNvSpPr txBox="1"/>
          <p:nvPr/>
        </p:nvSpPr>
        <p:spPr>
          <a:xfrm>
            <a:off x="784159" y="5268466"/>
            <a:ext cx="6686550" cy="923330"/>
          </a:xfrm>
          <a:prstGeom prst="rect">
            <a:avLst/>
          </a:prstGeom>
          <a:noFill/>
        </p:spPr>
        <p:txBody>
          <a:bodyPr wrap="square">
            <a:spAutoFit/>
          </a:bodyPr>
          <a:lstStyle/>
          <a:p>
            <a:r>
              <a:rPr lang="en-US" sz="1800" kern="0" dirty="0">
                <a:solidFill>
                  <a:srgbClr val="000000"/>
                </a:solidFill>
                <a:effectLst/>
                <a:highlight>
                  <a:srgbClr val="FFFFFF"/>
                </a:highlight>
                <a:ea typeface="Times New Roman" panose="02020603050405020304" pitchFamily="18" charset="0"/>
                <a:cs typeface="Times New Roman" panose="02020603050405020304" pitchFamily="18" charset="0"/>
              </a:rPr>
              <a:t>Only UFH (not LMWH) has a </a:t>
            </a:r>
            <a:r>
              <a:rPr lang="en-US" sz="1800" kern="0" dirty="0" err="1">
                <a:solidFill>
                  <a:srgbClr val="000000"/>
                </a:solidFill>
                <a:effectLst/>
                <a:highlight>
                  <a:srgbClr val="FFFFFF"/>
                </a:highlight>
                <a:ea typeface="Times New Roman" panose="02020603050405020304" pitchFamily="18" charset="0"/>
                <a:cs typeface="Times New Roman" panose="02020603050405020304" pitchFamily="18" charset="0"/>
              </a:rPr>
              <a:t>pentasaccharide</a:t>
            </a:r>
            <a:r>
              <a:rPr lang="en-US" sz="1800" kern="0" dirty="0">
                <a:solidFill>
                  <a:srgbClr val="000000"/>
                </a:solidFill>
                <a:effectLst/>
                <a:highlight>
                  <a:srgbClr val="FFFFFF"/>
                </a:highlight>
                <a:ea typeface="Times New Roman" panose="02020603050405020304" pitchFamily="18" charset="0"/>
                <a:cs typeface="Times New Roman" panose="02020603050405020304" pitchFamily="18" charset="0"/>
              </a:rPr>
              <a:t> chain long enough </a:t>
            </a:r>
            <a:br>
              <a:rPr lang="en-US" sz="1800" kern="0" dirty="0">
                <a:solidFill>
                  <a:srgbClr val="000000"/>
                </a:solidFill>
                <a:effectLst/>
                <a:highlight>
                  <a:srgbClr val="FFFFFF"/>
                </a:highlight>
                <a:ea typeface="Times New Roman" panose="02020603050405020304" pitchFamily="18" charset="0"/>
                <a:cs typeface="Times New Roman" panose="02020603050405020304" pitchFamily="18" charset="0"/>
              </a:rPr>
            </a:br>
            <a:r>
              <a:rPr lang="en-US" sz="1800" kern="0" dirty="0">
                <a:solidFill>
                  <a:srgbClr val="000000"/>
                </a:solidFill>
                <a:effectLst/>
                <a:highlight>
                  <a:srgbClr val="FFFFFF"/>
                </a:highlight>
                <a:ea typeface="Times New Roman" panose="02020603050405020304" pitchFamily="18" charset="0"/>
                <a:cs typeface="Times New Roman" panose="02020603050405020304" pitchFamily="18" charset="0"/>
              </a:rPr>
              <a:t>(&gt;18 saccharide units) to bind to both antithrombin and thrombin.  </a:t>
            </a:r>
            <a:br>
              <a:rPr lang="en-US" sz="1800" kern="0" dirty="0">
                <a:solidFill>
                  <a:srgbClr val="000000"/>
                </a:solidFill>
                <a:effectLst/>
                <a:highlight>
                  <a:srgbClr val="FFFFFF"/>
                </a:highlight>
                <a:ea typeface="Times New Roman" panose="02020603050405020304" pitchFamily="18" charset="0"/>
                <a:cs typeface="Times New Roman" panose="02020603050405020304" pitchFamily="18" charset="0"/>
              </a:rPr>
            </a:br>
            <a:r>
              <a:rPr lang="en-US" sz="1800" kern="0" dirty="0">
                <a:solidFill>
                  <a:srgbClr val="000000"/>
                </a:solidFill>
                <a:effectLst/>
                <a:highlight>
                  <a:srgbClr val="FFFFFF"/>
                </a:highlight>
                <a:ea typeface="Times New Roman" panose="02020603050405020304" pitchFamily="18" charset="0"/>
                <a:cs typeface="Times New Roman" panose="02020603050405020304" pitchFamily="18" charset="0"/>
              </a:rPr>
              <a:t>As a result, UFH has equal activity against Factor Xa and thrombin</a:t>
            </a:r>
            <a:endParaRPr lang="en-US" dirty="0"/>
          </a:p>
        </p:txBody>
      </p:sp>
      <p:grpSp>
        <p:nvGrpSpPr>
          <p:cNvPr id="35" name="Group 34">
            <a:extLst>
              <a:ext uri="{FF2B5EF4-FFF2-40B4-BE49-F238E27FC236}">
                <a16:creationId xmlns:a16="http://schemas.microsoft.com/office/drawing/2014/main" id="{BBFB09C0-5D2F-981F-2D4C-81AA1D8E8F7F}"/>
              </a:ext>
            </a:extLst>
          </p:cNvPr>
          <p:cNvGrpSpPr/>
          <p:nvPr/>
        </p:nvGrpSpPr>
        <p:grpSpPr>
          <a:xfrm>
            <a:off x="8666369" y="757360"/>
            <a:ext cx="3144631" cy="1902409"/>
            <a:chOff x="8507696" y="671864"/>
            <a:chExt cx="3144631" cy="1902409"/>
          </a:xfrm>
        </p:grpSpPr>
        <p:cxnSp>
          <p:nvCxnSpPr>
            <p:cNvPr id="17" name="Straight Arrow Connector 16">
              <a:extLst>
                <a:ext uri="{FF2B5EF4-FFF2-40B4-BE49-F238E27FC236}">
                  <a16:creationId xmlns:a16="http://schemas.microsoft.com/office/drawing/2014/main" id="{2A5EB390-0FDB-6811-F3A1-5E40DBAFF69F}"/>
                </a:ext>
              </a:extLst>
            </p:cNvPr>
            <p:cNvCxnSpPr>
              <a:cxnSpLocks/>
            </p:cNvCxnSpPr>
            <p:nvPr/>
          </p:nvCxnSpPr>
          <p:spPr bwMode="auto">
            <a:xfrm flipH="1">
              <a:off x="8507696" y="1239810"/>
              <a:ext cx="601255" cy="290534"/>
            </a:xfrm>
            <a:prstGeom prst="straightConnector1">
              <a:avLst/>
            </a:prstGeom>
            <a:solidFill>
              <a:schemeClr val="accent1"/>
            </a:solidFill>
            <a:ln w="50800" cap="flat" cmpd="sng" algn="ctr">
              <a:solidFill>
                <a:schemeClr val="tx2"/>
              </a:solidFill>
              <a:prstDash val="solid"/>
              <a:round/>
              <a:headEnd type="none" w="med" len="med"/>
              <a:tailEnd type="triangle"/>
            </a:ln>
            <a:effectLst/>
          </p:spPr>
        </p:cxnSp>
        <p:grpSp>
          <p:nvGrpSpPr>
            <p:cNvPr id="18" name="Group 17">
              <a:extLst>
                <a:ext uri="{FF2B5EF4-FFF2-40B4-BE49-F238E27FC236}">
                  <a16:creationId xmlns:a16="http://schemas.microsoft.com/office/drawing/2014/main" id="{9CF6797A-9A67-CA1E-DCAD-0417BC30C51E}"/>
                </a:ext>
              </a:extLst>
            </p:cNvPr>
            <p:cNvGrpSpPr/>
            <p:nvPr/>
          </p:nvGrpSpPr>
          <p:grpSpPr>
            <a:xfrm>
              <a:off x="9014270" y="671864"/>
              <a:ext cx="2638057" cy="1902409"/>
              <a:chOff x="6940353" y="-158853"/>
              <a:chExt cx="4250070" cy="1134247"/>
            </a:xfrm>
          </p:grpSpPr>
          <p:sp>
            <p:nvSpPr>
              <p:cNvPr id="22" name="Rectangle: Rounded Corners 21">
                <a:extLst>
                  <a:ext uri="{FF2B5EF4-FFF2-40B4-BE49-F238E27FC236}">
                    <a16:creationId xmlns:a16="http://schemas.microsoft.com/office/drawing/2014/main" id="{036C0DE9-8409-0F07-ED8B-85187F8EADE1}"/>
                  </a:ext>
                </a:extLst>
              </p:cNvPr>
              <p:cNvSpPr/>
              <p:nvPr/>
            </p:nvSpPr>
            <p:spPr bwMode="auto">
              <a:xfrm>
                <a:off x="6940353" y="-158853"/>
                <a:ext cx="4250070" cy="1134247"/>
              </a:xfrm>
              <a:prstGeom prst="round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ts val="19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23" name="TextBox 22">
                <a:extLst>
                  <a:ext uri="{FF2B5EF4-FFF2-40B4-BE49-F238E27FC236}">
                    <a16:creationId xmlns:a16="http://schemas.microsoft.com/office/drawing/2014/main" id="{4420A209-42B4-2BD5-16EE-73A413845EDE}"/>
                  </a:ext>
                </a:extLst>
              </p:cNvPr>
              <p:cNvSpPr txBox="1"/>
              <p:nvPr/>
            </p:nvSpPr>
            <p:spPr>
              <a:xfrm>
                <a:off x="7170952" y="-87182"/>
                <a:ext cx="3786868" cy="926682"/>
              </a:xfrm>
              <a:prstGeom prst="rect">
                <a:avLst/>
              </a:prstGeom>
              <a:noFill/>
              <a:ln>
                <a:noFill/>
              </a:ln>
            </p:spPr>
            <p:txBody>
              <a:bodyPr wrap="square">
                <a:spAutoFit/>
              </a:bodyPr>
              <a:lstStyle/>
              <a:p>
                <a:pPr>
                  <a:lnSpc>
                    <a:spcPts val="1900"/>
                  </a:lnSpc>
                  <a:spcBef>
                    <a:spcPts val="0"/>
                  </a:spcBef>
                </a:pPr>
                <a:r>
                  <a:rPr lang="en-US" sz="1600" kern="0" dirty="0">
                    <a:solidFill>
                      <a:srgbClr val="FFFFFF"/>
                    </a:solidFill>
                    <a:effectLst/>
                    <a:latin typeface="Source Sans Pro Semibold" panose="020B0603030403020204" pitchFamily="34" charset="0"/>
                    <a:ea typeface="Source Sans Pro Semibold" panose="020B0603030403020204" pitchFamily="34" charset="0"/>
                  </a:rPr>
                  <a:t>Ternary complex can </a:t>
                </a:r>
                <a:br>
                  <a:rPr lang="en-US" sz="1600" kern="0" dirty="0">
                    <a:solidFill>
                      <a:srgbClr val="FFFFFF"/>
                    </a:solidFill>
                    <a:effectLst/>
                    <a:latin typeface="Source Sans Pro Semibold" panose="020B0603030403020204" pitchFamily="34" charset="0"/>
                    <a:ea typeface="Source Sans Pro Semibold" panose="020B0603030403020204" pitchFamily="34" charset="0"/>
                  </a:rPr>
                </a:br>
                <a:r>
                  <a:rPr lang="en-US" sz="1600" kern="0" dirty="0">
                    <a:solidFill>
                      <a:srgbClr val="FFFFFF"/>
                    </a:solidFill>
                    <a:effectLst/>
                    <a:latin typeface="Source Sans Pro Semibold" panose="020B0603030403020204" pitchFamily="34" charset="0"/>
                    <a:ea typeface="Source Sans Pro Semibold" panose="020B0603030403020204" pitchFamily="34" charset="0"/>
                  </a:rPr>
                  <a:t>be formed only by </a:t>
                </a:r>
                <a:r>
                  <a:rPr lang="en-US" sz="1600" kern="0" dirty="0" err="1">
                    <a:solidFill>
                      <a:srgbClr val="FFFFFF"/>
                    </a:solidFill>
                    <a:effectLst/>
                    <a:latin typeface="Source Sans Pro Semibold" panose="020B0603030403020204" pitchFamily="34" charset="0"/>
                    <a:ea typeface="Source Sans Pro Semibold" panose="020B0603030403020204" pitchFamily="34" charset="0"/>
                  </a:rPr>
                  <a:t>pentasaccharide</a:t>
                </a:r>
                <a:r>
                  <a:rPr lang="en-US" sz="1600" kern="0" dirty="0">
                    <a:solidFill>
                      <a:srgbClr val="FFFFFF"/>
                    </a:solidFill>
                    <a:effectLst/>
                    <a:latin typeface="Source Sans Pro Semibold" panose="020B0603030403020204" pitchFamily="34" charset="0"/>
                    <a:ea typeface="Source Sans Pro Semibold" panose="020B0603030403020204" pitchFamily="34" charset="0"/>
                  </a:rPr>
                  <a:t>-containing heparin chains composed of at least 18 saccharide units</a:t>
                </a:r>
              </a:p>
            </p:txBody>
          </p:sp>
        </p:grpSp>
      </p:grpSp>
      <p:grpSp>
        <p:nvGrpSpPr>
          <p:cNvPr id="34" name="Group 33">
            <a:extLst>
              <a:ext uri="{FF2B5EF4-FFF2-40B4-BE49-F238E27FC236}">
                <a16:creationId xmlns:a16="http://schemas.microsoft.com/office/drawing/2014/main" id="{D33129D0-02AD-9B3D-9B64-523B117238C9}"/>
              </a:ext>
            </a:extLst>
          </p:cNvPr>
          <p:cNvGrpSpPr/>
          <p:nvPr/>
        </p:nvGrpSpPr>
        <p:grpSpPr>
          <a:xfrm>
            <a:off x="648486" y="1835544"/>
            <a:ext cx="3962366" cy="3287901"/>
            <a:chOff x="489813" y="1750048"/>
            <a:chExt cx="3962366" cy="3287901"/>
          </a:xfrm>
        </p:grpSpPr>
        <p:grpSp>
          <p:nvGrpSpPr>
            <p:cNvPr id="33" name="Group 32">
              <a:extLst>
                <a:ext uri="{FF2B5EF4-FFF2-40B4-BE49-F238E27FC236}">
                  <a16:creationId xmlns:a16="http://schemas.microsoft.com/office/drawing/2014/main" id="{BE1CF422-9826-B045-5A79-4BE697EE9CEA}"/>
                </a:ext>
              </a:extLst>
            </p:cNvPr>
            <p:cNvGrpSpPr/>
            <p:nvPr/>
          </p:nvGrpSpPr>
          <p:grpSpPr>
            <a:xfrm>
              <a:off x="2874839" y="1750048"/>
              <a:ext cx="1577340" cy="3287901"/>
              <a:chOff x="2874839" y="1750048"/>
              <a:chExt cx="1577340" cy="3287901"/>
            </a:xfrm>
          </p:grpSpPr>
          <p:sp>
            <p:nvSpPr>
              <p:cNvPr id="5" name="Oval 4"/>
              <p:cNvSpPr/>
              <p:nvPr/>
            </p:nvSpPr>
            <p:spPr bwMode="auto">
              <a:xfrm>
                <a:off x="2874839" y="1750048"/>
                <a:ext cx="1577340" cy="824226"/>
              </a:xfrm>
              <a:prstGeom prst="ellipse">
                <a:avLst/>
              </a:prstGeom>
              <a:noFill/>
              <a:ln w="25400"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noFill/>
                  <a:effectLst/>
                  <a:latin typeface="Georgia" pitchFamily="-111" charset="0"/>
                  <a:ea typeface="Osaka" pitchFamily="-111" charset="-128"/>
                  <a:cs typeface="Osaka" pitchFamily="-111" charset="-128"/>
                </a:endParaRPr>
              </a:p>
            </p:txBody>
          </p:sp>
          <p:sp>
            <p:nvSpPr>
              <p:cNvPr id="6" name="Oval 5"/>
              <p:cNvSpPr/>
              <p:nvPr/>
            </p:nvSpPr>
            <p:spPr bwMode="auto">
              <a:xfrm>
                <a:off x="2874839" y="3053994"/>
                <a:ext cx="1577340" cy="737572"/>
              </a:xfrm>
              <a:prstGeom prst="ellipse">
                <a:avLst/>
              </a:prstGeom>
              <a:noFill/>
              <a:ln w="25400"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noFill/>
                  <a:effectLst/>
                  <a:latin typeface="Georgia" pitchFamily="-111" charset="0"/>
                  <a:ea typeface="Osaka" pitchFamily="-111" charset="-128"/>
                  <a:cs typeface="Osaka" pitchFamily="-111" charset="-128"/>
                </a:endParaRPr>
              </a:p>
            </p:txBody>
          </p:sp>
          <p:sp>
            <p:nvSpPr>
              <p:cNvPr id="7" name="Oval 6"/>
              <p:cNvSpPr/>
              <p:nvPr/>
            </p:nvSpPr>
            <p:spPr bwMode="auto">
              <a:xfrm>
                <a:off x="2874839" y="4208703"/>
                <a:ext cx="1577340" cy="829246"/>
              </a:xfrm>
              <a:prstGeom prst="ellipse">
                <a:avLst/>
              </a:prstGeom>
              <a:noFill/>
              <a:ln w="25400"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noFill/>
                  <a:effectLst/>
                  <a:latin typeface="Georgia" pitchFamily="-111" charset="0"/>
                  <a:ea typeface="Osaka" pitchFamily="-111" charset="-128"/>
                  <a:cs typeface="Osaka" pitchFamily="-111" charset="-128"/>
                </a:endParaRPr>
              </a:p>
            </p:txBody>
          </p:sp>
        </p:grpSp>
        <p:grpSp>
          <p:nvGrpSpPr>
            <p:cNvPr id="30" name="Group 29">
              <a:extLst>
                <a:ext uri="{FF2B5EF4-FFF2-40B4-BE49-F238E27FC236}">
                  <a16:creationId xmlns:a16="http://schemas.microsoft.com/office/drawing/2014/main" id="{4BC22EA2-8B08-8194-A67A-64F8CC1103D2}"/>
                </a:ext>
              </a:extLst>
            </p:cNvPr>
            <p:cNvGrpSpPr/>
            <p:nvPr/>
          </p:nvGrpSpPr>
          <p:grpSpPr>
            <a:xfrm>
              <a:off x="489813" y="2137140"/>
              <a:ext cx="2240645" cy="1963221"/>
              <a:chOff x="7048777" y="-1184139"/>
              <a:chExt cx="3609815" cy="1170504"/>
            </a:xfrm>
          </p:grpSpPr>
          <p:sp>
            <p:nvSpPr>
              <p:cNvPr id="31" name="Rectangle: Rounded Corners 30">
                <a:extLst>
                  <a:ext uri="{FF2B5EF4-FFF2-40B4-BE49-F238E27FC236}">
                    <a16:creationId xmlns:a16="http://schemas.microsoft.com/office/drawing/2014/main" id="{F2151E99-54B2-B8A4-8A40-E55793AC4324}"/>
                  </a:ext>
                </a:extLst>
              </p:cNvPr>
              <p:cNvSpPr/>
              <p:nvPr/>
            </p:nvSpPr>
            <p:spPr bwMode="auto">
              <a:xfrm>
                <a:off x="7048777" y="-1184139"/>
                <a:ext cx="3609815" cy="1170504"/>
              </a:xfrm>
              <a:prstGeom prst="round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ts val="19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32" name="TextBox 31">
                <a:extLst>
                  <a:ext uri="{FF2B5EF4-FFF2-40B4-BE49-F238E27FC236}">
                    <a16:creationId xmlns:a16="http://schemas.microsoft.com/office/drawing/2014/main" id="{ACA028CD-22E8-5C18-C726-D34035B5B9EF}"/>
                  </a:ext>
                </a:extLst>
              </p:cNvPr>
              <p:cNvSpPr txBox="1"/>
              <p:nvPr/>
            </p:nvSpPr>
            <p:spPr>
              <a:xfrm>
                <a:off x="7304567" y="-1132684"/>
                <a:ext cx="3148425" cy="1071954"/>
              </a:xfrm>
              <a:prstGeom prst="rect">
                <a:avLst/>
              </a:prstGeom>
              <a:noFill/>
              <a:ln>
                <a:noFill/>
              </a:ln>
            </p:spPr>
            <p:txBody>
              <a:bodyPr wrap="square">
                <a:spAutoFit/>
              </a:bodyPr>
              <a:lstStyle/>
              <a:p>
                <a:pPr>
                  <a:lnSpc>
                    <a:spcPts val="1900"/>
                  </a:lnSpc>
                  <a:spcBef>
                    <a:spcPts val="0"/>
                  </a:spcBef>
                </a:pPr>
                <a:r>
                  <a:rPr lang="en-US" sz="1600" kern="0" dirty="0">
                    <a:solidFill>
                      <a:srgbClr val="FFFFFF"/>
                    </a:solidFill>
                    <a:effectLst/>
                    <a:latin typeface="Source Sans Pro Semibold" panose="020B0603030403020204" pitchFamily="34" charset="0"/>
                    <a:ea typeface="Source Sans Pro Semibold" panose="020B0603030403020204" pitchFamily="34" charset="0"/>
                  </a:rPr>
                  <a:t>Binding causes a </a:t>
                </a:r>
                <a:r>
                  <a:rPr lang="en-US" sz="1600" u="sng" kern="0" dirty="0">
                    <a:solidFill>
                      <a:srgbClr val="FFFFFF"/>
                    </a:solidFill>
                    <a:effectLst/>
                    <a:latin typeface="Source Sans Pro Semibold" panose="020B0603030403020204" pitchFamily="34" charset="0"/>
                    <a:ea typeface="Source Sans Pro Semibold" panose="020B0603030403020204" pitchFamily="34" charset="0"/>
                  </a:rPr>
                  <a:t>conformational change in AT</a:t>
                </a:r>
                <a:r>
                  <a:rPr lang="en-US" sz="1600" kern="0" dirty="0">
                    <a:solidFill>
                      <a:srgbClr val="FFFFFF"/>
                    </a:solidFill>
                    <a:effectLst/>
                    <a:latin typeface="Source Sans Pro Semibold" panose="020B0603030403020204" pitchFamily="34" charset="0"/>
                    <a:ea typeface="Source Sans Pro Semibold" panose="020B0603030403020204" pitchFamily="34" charset="0"/>
                  </a:rPr>
                  <a:t> that makes the reactive site of this molecule more accessible to the serine protease </a:t>
                </a:r>
              </a:p>
            </p:txBody>
          </p:sp>
        </p:grpSp>
      </p:grpSp>
      <p:grpSp>
        <p:nvGrpSpPr>
          <p:cNvPr id="36" name="Group 35">
            <a:extLst>
              <a:ext uri="{FF2B5EF4-FFF2-40B4-BE49-F238E27FC236}">
                <a16:creationId xmlns:a16="http://schemas.microsoft.com/office/drawing/2014/main" id="{A7CC1808-0533-1F7C-84D6-3965C218350C}"/>
              </a:ext>
            </a:extLst>
          </p:cNvPr>
          <p:cNvGrpSpPr/>
          <p:nvPr/>
        </p:nvGrpSpPr>
        <p:grpSpPr>
          <a:xfrm>
            <a:off x="8525617" y="3188657"/>
            <a:ext cx="3285383" cy="1359605"/>
            <a:chOff x="8366944" y="3103161"/>
            <a:chExt cx="3285383" cy="1359605"/>
          </a:xfrm>
        </p:grpSpPr>
        <p:cxnSp>
          <p:nvCxnSpPr>
            <p:cNvPr id="28" name="Straight Arrow Connector 27">
              <a:extLst>
                <a:ext uri="{FF2B5EF4-FFF2-40B4-BE49-F238E27FC236}">
                  <a16:creationId xmlns:a16="http://schemas.microsoft.com/office/drawing/2014/main" id="{80CA7B95-A555-02DF-3A7B-E14D8FA35194}"/>
                </a:ext>
              </a:extLst>
            </p:cNvPr>
            <p:cNvCxnSpPr>
              <a:cxnSpLocks/>
            </p:cNvCxnSpPr>
            <p:nvPr/>
          </p:nvCxnSpPr>
          <p:spPr bwMode="auto">
            <a:xfrm flipH="1">
              <a:off x="8366944" y="3304266"/>
              <a:ext cx="780336" cy="0"/>
            </a:xfrm>
            <a:prstGeom prst="straightConnector1">
              <a:avLst/>
            </a:prstGeom>
            <a:solidFill>
              <a:schemeClr val="accent1"/>
            </a:solidFill>
            <a:ln w="50800" cap="flat" cmpd="sng" algn="ctr">
              <a:solidFill>
                <a:schemeClr val="tx2"/>
              </a:solidFill>
              <a:prstDash val="solid"/>
              <a:round/>
              <a:headEnd type="none" w="med" len="med"/>
              <a:tailEnd type="triangle"/>
            </a:ln>
            <a:effectLst/>
          </p:spPr>
        </p:cxnSp>
        <p:grpSp>
          <p:nvGrpSpPr>
            <p:cNvPr id="25" name="Group 24">
              <a:extLst>
                <a:ext uri="{FF2B5EF4-FFF2-40B4-BE49-F238E27FC236}">
                  <a16:creationId xmlns:a16="http://schemas.microsoft.com/office/drawing/2014/main" id="{0790DA4D-9BB3-ED39-50D6-A775920811BE}"/>
                </a:ext>
              </a:extLst>
            </p:cNvPr>
            <p:cNvGrpSpPr/>
            <p:nvPr/>
          </p:nvGrpSpPr>
          <p:grpSpPr>
            <a:xfrm>
              <a:off x="9014270" y="3103161"/>
              <a:ext cx="2638057" cy="1359605"/>
              <a:chOff x="6940353" y="-158852"/>
              <a:chExt cx="4250070" cy="810619"/>
            </a:xfrm>
          </p:grpSpPr>
          <p:sp>
            <p:nvSpPr>
              <p:cNvPr id="26" name="Rectangle: Rounded Corners 25">
                <a:extLst>
                  <a:ext uri="{FF2B5EF4-FFF2-40B4-BE49-F238E27FC236}">
                    <a16:creationId xmlns:a16="http://schemas.microsoft.com/office/drawing/2014/main" id="{09BAE2C5-A51C-8A4E-A001-177203009496}"/>
                  </a:ext>
                </a:extLst>
              </p:cNvPr>
              <p:cNvSpPr/>
              <p:nvPr/>
            </p:nvSpPr>
            <p:spPr bwMode="auto">
              <a:xfrm>
                <a:off x="6940353" y="-158852"/>
                <a:ext cx="4250070" cy="810619"/>
              </a:xfrm>
              <a:prstGeom prst="round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ts val="19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27" name="TextBox 26">
                <a:extLst>
                  <a:ext uri="{FF2B5EF4-FFF2-40B4-BE49-F238E27FC236}">
                    <a16:creationId xmlns:a16="http://schemas.microsoft.com/office/drawing/2014/main" id="{D6C4FBE6-79E3-B3C2-CC0B-537A44E19448}"/>
                  </a:ext>
                </a:extLst>
              </p:cNvPr>
              <p:cNvSpPr txBox="1"/>
              <p:nvPr/>
            </p:nvSpPr>
            <p:spPr>
              <a:xfrm>
                <a:off x="7170954" y="-87184"/>
                <a:ext cx="3461222" cy="636139"/>
              </a:xfrm>
              <a:prstGeom prst="rect">
                <a:avLst/>
              </a:prstGeom>
              <a:noFill/>
              <a:ln>
                <a:noFill/>
              </a:ln>
            </p:spPr>
            <p:txBody>
              <a:bodyPr wrap="square">
                <a:spAutoFit/>
              </a:bodyPr>
              <a:lstStyle/>
              <a:p>
                <a:pPr>
                  <a:lnSpc>
                    <a:spcPts val="1900"/>
                  </a:lnSpc>
                  <a:spcBef>
                    <a:spcPts val="0"/>
                  </a:spcBef>
                </a:pPr>
                <a:r>
                  <a:rPr lang="en-US" sz="1600" kern="0" dirty="0">
                    <a:solidFill>
                      <a:srgbClr val="FFFFFF"/>
                    </a:solidFill>
                    <a:effectLst/>
                    <a:latin typeface="Source Sans Pro Semibold" panose="020B0603030403020204" pitchFamily="34" charset="0"/>
                    <a:ea typeface="Source Sans Pro Semibold" panose="020B0603030403020204" pitchFamily="34" charset="0"/>
                  </a:rPr>
                  <a:t>Molecules of LMWH are too small to form a ternary complex with thrombin &amp; AT  </a:t>
                </a:r>
              </a:p>
            </p:txBody>
          </p:sp>
        </p:grpSp>
      </p:grpSp>
    </p:spTree>
    <p:extLst>
      <p:ext uri="{BB962C8B-B14F-4D97-AF65-F5344CB8AC3E}">
        <p14:creationId xmlns:p14="http://schemas.microsoft.com/office/powerpoint/2010/main" val="31997733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399" y="196467"/>
            <a:ext cx="10389241" cy="655015"/>
          </a:xfrm>
        </p:spPr>
        <p:txBody>
          <a:bodyPr/>
          <a:lstStyle/>
          <a:p>
            <a:r>
              <a:rPr lang="en-US" dirty="0"/>
              <a:t>Heparins</a:t>
            </a:r>
          </a:p>
        </p:txBody>
      </p:sp>
      <p:sp>
        <p:nvSpPr>
          <p:cNvPr id="8" name="Content Placeholder 7"/>
          <p:cNvSpPr>
            <a:spLocks noGrp="1"/>
          </p:cNvSpPr>
          <p:nvPr>
            <p:ph idx="1"/>
          </p:nvPr>
        </p:nvSpPr>
        <p:spPr>
          <a:xfrm>
            <a:off x="914399" y="1562100"/>
            <a:ext cx="4878710" cy="4170372"/>
          </a:xfrm>
        </p:spPr>
        <p:txBody>
          <a:bodyPr wrap="square">
            <a:spAutoFit/>
          </a:bodyPr>
          <a:lstStyle/>
          <a:p>
            <a:pPr marL="228600" indent="-228600">
              <a:spcBef>
                <a:spcPts val="1800"/>
              </a:spcBef>
            </a:pPr>
            <a:r>
              <a:rPr lang="en-US" sz="2200" b="0" dirty="0"/>
              <a:t>Prepared from bovine lung </a:t>
            </a:r>
            <a:br>
              <a:rPr lang="en-US" sz="2200" b="0" dirty="0"/>
            </a:br>
            <a:r>
              <a:rPr lang="en-US" sz="2200" b="0" dirty="0"/>
              <a:t>and porcine intestinal mucosa</a:t>
            </a:r>
          </a:p>
          <a:p>
            <a:pPr marL="228600" indent="-228600">
              <a:spcBef>
                <a:spcPts val="1800"/>
              </a:spcBef>
            </a:pPr>
            <a:r>
              <a:rPr lang="en-US" sz="2200" b="0" dirty="0"/>
              <a:t>Half life: short (e.g. 1-2 hours)</a:t>
            </a:r>
          </a:p>
          <a:p>
            <a:pPr marL="228600" indent="-228600">
              <a:spcBef>
                <a:spcPts val="1800"/>
              </a:spcBef>
            </a:pPr>
            <a:r>
              <a:rPr lang="en-US" sz="2200" b="1" dirty="0"/>
              <a:t>Monitor: </a:t>
            </a:r>
            <a:r>
              <a:rPr lang="en-US" sz="2200" b="0" dirty="0" err="1"/>
              <a:t>aPTT</a:t>
            </a:r>
            <a:r>
              <a:rPr lang="en-US" sz="2200" b="0" dirty="0"/>
              <a:t> (</a:t>
            </a:r>
            <a:r>
              <a:rPr lang="en-US" sz="2200" b="0" kern="0" dirty="0">
                <a:solidFill>
                  <a:srgbClr val="000000"/>
                </a:solidFill>
                <a:effectLst/>
                <a:highlight>
                  <a:srgbClr val="FFFFFF"/>
                </a:highlight>
                <a:ea typeface="Times New Roman" panose="02020603050405020304" pitchFamily="18" charset="0"/>
                <a:cs typeface="Times New Roman" panose="02020603050405020304" pitchFamily="18" charset="0"/>
              </a:rPr>
              <a:t>Heparin primarily inhibits the intrinsic and final </a:t>
            </a:r>
            <a:br>
              <a:rPr lang="en-US" sz="2200" b="0" kern="0" dirty="0">
                <a:solidFill>
                  <a:srgbClr val="000000"/>
                </a:solidFill>
                <a:effectLst/>
                <a:highlight>
                  <a:srgbClr val="FFFFFF"/>
                </a:highlight>
                <a:ea typeface="Times New Roman" panose="02020603050405020304" pitchFamily="18" charset="0"/>
                <a:cs typeface="Times New Roman" panose="02020603050405020304" pitchFamily="18" charset="0"/>
              </a:rPr>
            </a:br>
            <a:r>
              <a:rPr lang="en-US" sz="2200" b="0" kern="0" dirty="0">
                <a:solidFill>
                  <a:srgbClr val="000000"/>
                </a:solidFill>
                <a:effectLst/>
                <a:highlight>
                  <a:srgbClr val="FFFFFF"/>
                </a:highlight>
                <a:ea typeface="Times New Roman" panose="02020603050405020304" pitchFamily="18" charset="0"/>
                <a:cs typeface="Times New Roman" panose="02020603050405020304" pitchFamily="18" charset="0"/>
              </a:rPr>
              <a:t>common clotting pathway; therefore, PTT is prolonged) </a:t>
            </a:r>
            <a:r>
              <a:rPr lang="en-US" sz="2200" b="0" dirty="0"/>
              <a:t>or </a:t>
            </a:r>
            <a:r>
              <a:rPr lang="en-US" sz="2200" b="0" dirty="0" err="1"/>
              <a:t>antifactor</a:t>
            </a:r>
            <a:r>
              <a:rPr lang="en-US" sz="2200" b="0" dirty="0"/>
              <a:t>-Xa </a:t>
            </a:r>
          </a:p>
          <a:p>
            <a:pPr marL="228600" indent="-228600">
              <a:spcBef>
                <a:spcPts val="1800"/>
              </a:spcBef>
            </a:pPr>
            <a:r>
              <a:rPr lang="en-US" sz="2200" b="0" dirty="0"/>
              <a:t>Binds to many cells </a:t>
            </a:r>
            <a:br>
              <a:rPr lang="en-US" sz="2200" b="0" dirty="0"/>
            </a:br>
            <a:r>
              <a:rPr lang="en-US" sz="2200" b="0" dirty="0"/>
              <a:t>in the body that complicates pharmacokinetics (PK)</a:t>
            </a:r>
          </a:p>
        </p:txBody>
      </p:sp>
      <p:sp>
        <p:nvSpPr>
          <p:cNvPr id="7" name="Text Placeholder 6"/>
          <p:cNvSpPr>
            <a:spLocks noGrp="1"/>
          </p:cNvSpPr>
          <p:nvPr>
            <p:ph type="body" idx="4294967295"/>
          </p:nvPr>
        </p:nvSpPr>
        <p:spPr>
          <a:xfrm>
            <a:off x="914400" y="1072632"/>
            <a:ext cx="4878710" cy="639763"/>
          </a:xfrm>
        </p:spPr>
        <p:txBody>
          <a:bodyPr>
            <a:normAutofit/>
          </a:bodyPr>
          <a:lstStyle/>
          <a:p>
            <a:pPr marL="0" indent="0">
              <a:buNone/>
            </a:pPr>
            <a:r>
              <a:rPr lang="en-US" sz="2800" b="1" dirty="0">
                <a:solidFill>
                  <a:schemeClr val="tx2"/>
                </a:solidFill>
              </a:rPr>
              <a:t>UFH</a:t>
            </a:r>
          </a:p>
        </p:txBody>
      </p:sp>
      <p:sp>
        <p:nvSpPr>
          <p:cNvPr id="9" name="Text Placeholder 8"/>
          <p:cNvSpPr>
            <a:spLocks noGrp="1"/>
          </p:cNvSpPr>
          <p:nvPr>
            <p:ph type="body" sz="half" idx="4294967295"/>
          </p:nvPr>
        </p:nvSpPr>
        <p:spPr>
          <a:xfrm>
            <a:off x="6146800" y="1072632"/>
            <a:ext cx="5793107" cy="639763"/>
          </a:xfrm>
        </p:spPr>
        <p:txBody>
          <a:bodyPr>
            <a:normAutofit/>
          </a:bodyPr>
          <a:lstStyle/>
          <a:p>
            <a:pPr marL="0" indent="0">
              <a:buNone/>
            </a:pPr>
            <a:r>
              <a:rPr lang="en-US" sz="2800" b="1" dirty="0">
                <a:solidFill>
                  <a:schemeClr val="tx2"/>
                </a:solidFill>
              </a:rPr>
              <a:t>LMWH</a:t>
            </a:r>
          </a:p>
        </p:txBody>
      </p:sp>
      <p:sp>
        <p:nvSpPr>
          <p:cNvPr id="10" name="Content Placeholder 9"/>
          <p:cNvSpPr>
            <a:spLocks noGrp="1"/>
          </p:cNvSpPr>
          <p:nvPr>
            <p:ph sz="quarter" idx="4294967295"/>
          </p:nvPr>
        </p:nvSpPr>
        <p:spPr>
          <a:xfrm>
            <a:off x="6146801" y="1534595"/>
            <a:ext cx="5156840" cy="4139595"/>
          </a:xfrm>
        </p:spPr>
        <p:txBody>
          <a:bodyPr wrap="square">
            <a:spAutoFit/>
          </a:bodyPr>
          <a:lstStyle/>
          <a:p>
            <a:pPr marL="228600" indent="-228600">
              <a:spcBef>
                <a:spcPts val="1800"/>
              </a:spcBef>
            </a:pPr>
            <a:r>
              <a:rPr lang="en-US" sz="2200" dirty="0"/>
              <a:t>Prepared from standard heparin </a:t>
            </a:r>
            <a:br>
              <a:rPr lang="en-US" sz="2200" dirty="0"/>
            </a:br>
            <a:r>
              <a:rPr lang="en-US" sz="2200" dirty="0"/>
              <a:t>by gel-filtration chromatography</a:t>
            </a:r>
          </a:p>
          <a:p>
            <a:pPr marL="228600" indent="-228600">
              <a:spcBef>
                <a:spcPts val="1800"/>
              </a:spcBef>
            </a:pPr>
            <a:r>
              <a:rPr lang="en-US" sz="2200" dirty="0"/>
              <a:t>Half life: Intermediate (</a:t>
            </a:r>
            <a:r>
              <a:rPr lang="en-US" sz="2200" dirty="0" err="1"/>
              <a:t>e.g</a:t>
            </a:r>
            <a:r>
              <a:rPr lang="en-US" sz="2200" dirty="0"/>
              <a:t> 4-7 hours)</a:t>
            </a:r>
          </a:p>
          <a:p>
            <a:pPr marL="228600" indent="-228600">
              <a:spcBef>
                <a:spcPts val="1800"/>
              </a:spcBef>
            </a:pPr>
            <a:r>
              <a:rPr lang="en-US" sz="2200" b="1" dirty="0"/>
              <a:t>Monitor: </a:t>
            </a:r>
            <a:r>
              <a:rPr lang="en-US" sz="2200" dirty="0" err="1"/>
              <a:t>antifactor</a:t>
            </a:r>
            <a:r>
              <a:rPr lang="en-US" sz="2200" dirty="0"/>
              <a:t>-Xa</a:t>
            </a:r>
          </a:p>
          <a:p>
            <a:pPr marL="228600" indent="-228600">
              <a:spcBef>
                <a:spcPts val="1800"/>
              </a:spcBef>
            </a:pPr>
            <a:r>
              <a:rPr lang="en-US" sz="2200" dirty="0"/>
              <a:t>Clearance highly dependent </a:t>
            </a:r>
            <a:br>
              <a:rPr lang="en-US" sz="2200" dirty="0"/>
            </a:br>
            <a:r>
              <a:rPr lang="en-US" sz="2200" dirty="0"/>
              <a:t>on renal function</a:t>
            </a:r>
          </a:p>
          <a:p>
            <a:pPr marL="228600" indent="-228600">
              <a:spcBef>
                <a:spcPts val="1800"/>
              </a:spcBef>
            </a:pPr>
            <a:r>
              <a:rPr lang="en-US" sz="2200" dirty="0"/>
              <a:t>Superior PK properties compared to UFH</a:t>
            </a:r>
          </a:p>
          <a:p>
            <a:pPr marL="457200" lvl="1" indent="-228600">
              <a:spcBef>
                <a:spcPts val="600"/>
              </a:spcBef>
              <a:buSzPct val="80000"/>
            </a:pPr>
            <a:r>
              <a:rPr lang="en-US" sz="2200" dirty="0"/>
              <a:t>Reduced binding to plasma </a:t>
            </a:r>
            <a:br>
              <a:rPr lang="en-US" sz="2200" dirty="0"/>
            </a:br>
            <a:r>
              <a:rPr lang="en-US" sz="2200" dirty="0"/>
              <a:t>proteins and cells</a:t>
            </a:r>
          </a:p>
        </p:txBody>
      </p:sp>
    </p:spTree>
    <p:extLst>
      <p:ext uri="{BB962C8B-B14F-4D97-AF65-F5344CB8AC3E}">
        <p14:creationId xmlns:p14="http://schemas.microsoft.com/office/powerpoint/2010/main" val="2457687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924" y="196467"/>
            <a:ext cx="10389241" cy="655015"/>
          </a:xfrm>
        </p:spPr>
        <p:txBody>
          <a:bodyPr/>
          <a:lstStyle/>
          <a:p>
            <a:r>
              <a:rPr lang="en-US" dirty="0"/>
              <a:t>Heparins</a:t>
            </a:r>
          </a:p>
        </p:txBody>
      </p:sp>
      <p:sp>
        <p:nvSpPr>
          <p:cNvPr id="3" name="Content Placeholder 2">
            <a:extLst>
              <a:ext uri="{FF2B5EF4-FFF2-40B4-BE49-F238E27FC236}">
                <a16:creationId xmlns:a16="http://schemas.microsoft.com/office/drawing/2014/main" id="{CECDFE05-A9D5-3050-E655-12113CDD25D9}"/>
              </a:ext>
            </a:extLst>
          </p:cNvPr>
          <p:cNvSpPr>
            <a:spLocks noGrp="1"/>
          </p:cNvSpPr>
          <p:nvPr>
            <p:ph idx="1"/>
          </p:nvPr>
        </p:nvSpPr>
        <p:spPr>
          <a:xfrm>
            <a:off x="914399" y="1295400"/>
            <a:ext cx="9715501" cy="4559300"/>
          </a:xfrm>
        </p:spPr>
        <p:txBody>
          <a:bodyPr>
            <a:normAutofit/>
          </a:bodyPr>
          <a:lstStyle/>
          <a:p>
            <a:pPr>
              <a:lnSpc>
                <a:spcPts val="3300"/>
              </a:lnSpc>
              <a:spcBef>
                <a:spcPts val="2400"/>
              </a:spcBef>
            </a:pPr>
            <a:r>
              <a:rPr lang="en-US" sz="2800" b="0" kern="0" dirty="0">
                <a:effectLst/>
                <a:ea typeface="Times New Roman" panose="02020603050405020304" pitchFamily="18" charset="0"/>
              </a:rPr>
              <a:t>Heparins are ideal anticoagulants for most patients </a:t>
            </a:r>
            <a:br>
              <a:rPr lang="en-US" sz="2800" b="0" kern="0" dirty="0">
                <a:effectLst/>
                <a:ea typeface="Times New Roman" panose="02020603050405020304" pitchFamily="18" charset="0"/>
              </a:rPr>
            </a:br>
            <a:r>
              <a:rPr lang="en-US" sz="2800" b="0" kern="0" dirty="0">
                <a:effectLst/>
                <a:ea typeface="Times New Roman" panose="02020603050405020304" pitchFamily="18" charset="0"/>
              </a:rPr>
              <a:t>with thromboembolic disease in pregnancy; do not cross </a:t>
            </a:r>
            <a:br>
              <a:rPr lang="en-US" sz="2800" b="0" kern="0" dirty="0">
                <a:effectLst/>
                <a:ea typeface="Times New Roman" panose="02020603050405020304" pitchFamily="18" charset="0"/>
              </a:rPr>
            </a:br>
            <a:r>
              <a:rPr lang="en-US" sz="2800" b="0" kern="0" dirty="0">
                <a:effectLst/>
                <a:ea typeface="Times New Roman" panose="02020603050405020304" pitchFamily="18" charset="0"/>
              </a:rPr>
              <a:t>the placenta and therefore the risk of fetal bleeding </a:t>
            </a:r>
            <a:br>
              <a:rPr lang="en-US" sz="2800" b="0" kern="0" dirty="0">
                <a:effectLst/>
                <a:ea typeface="Times New Roman" panose="02020603050405020304" pitchFamily="18" charset="0"/>
              </a:rPr>
            </a:br>
            <a:r>
              <a:rPr lang="en-US" sz="2800" b="0" kern="0" dirty="0">
                <a:effectLst/>
                <a:ea typeface="Times New Roman" panose="02020603050405020304" pitchFamily="18" charset="0"/>
              </a:rPr>
              <a:t>or teratogenicity is low. Low molecular weight heparin </a:t>
            </a:r>
            <a:br>
              <a:rPr lang="en-US" sz="2800" b="0" kern="0" dirty="0">
                <a:effectLst/>
                <a:ea typeface="Times New Roman" panose="02020603050405020304" pitchFamily="18" charset="0"/>
              </a:rPr>
            </a:br>
            <a:r>
              <a:rPr lang="en-US" sz="2800" b="0" kern="0" dirty="0">
                <a:effectLst/>
                <a:ea typeface="Times New Roman" panose="02020603050405020304" pitchFamily="18" charset="0"/>
              </a:rPr>
              <a:t>(e.g., enoxaparin) is the preferred therapy.</a:t>
            </a:r>
          </a:p>
          <a:p>
            <a:pPr>
              <a:lnSpc>
                <a:spcPts val="3300"/>
              </a:lnSpc>
              <a:spcBef>
                <a:spcPts val="2400"/>
              </a:spcBef>
            </a:pPr>
            <a:r>
              <a:rPr lang="en-US" sz="2800" b="0" dirty="0"/>
              <a:t>Heparins are highly negatively charged and cannot cross the epithelial cell layer of the GI tract. Hence, they administered parenterally, via intravenous or subcutaneous routes.</a:t>
            </a:r>
          </a:p>
        </p:txBody>
      </p:sp>
    </p:spTree>
    <p:extLst>
      <p:ext uri="{BB962C8B-B14F-4D97-AF65-F5344CB8AC3E}">
        <p14:creationId xmlns:p14="http://schemas.microsoft.com/office/powerpoint/2010/main" val="35227487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928247" y="167892"/>
            <a:ext cx="10375394" cy="670308"/>
          </a:xfrm>
        </p:spPr>
        <p:txBody>
          <a:bodyPr/>
          <a:lstStyle/>
          <a:p>
            <a:r>
              <a:rPr lang="en-US" dirty="0"/>
              <a:t>Heparin Adverse Effects</a:t>
            </a:r>
          </a:p>
        </p:txBody>
      </p:sp>
      <p:sp>
        <p:nvSpPr>
          <p:cNvPr id="8" name="Content Placeholder 7"/>
          <p:cNvSpPr>
            <a:spLocks noGrp="1"/>
          </p:cNvSpPr>
          <p:nvPr>
            <p:ph idx="1"/>
          </p:nvPr>
        </p:nvSpPr>
        <p:spPr>
          <a:xfrm>
            <a:off x="928247" y="1133475"/>
            <a:ext cx="8685653" cy="4518025"/>
          </a:xfrm>
        </p:spPr>
        <p:txBody>
          <a:bodyPr/>
          <a:lstStyle/>
          <a:p>
            <a:pPr>
              <a:spcBef>
                <a:spcPts val="2400"/>
              </a:spcBef>
            </a:pPr>
            <a:r>
              <a:rPr lang="en-US" b="0" dirty="0"/>
              <a:t>Immune-mediated platelet activation: </a:t>
            </a:r>
            <a:br>
              <a:rPr lang="en-US" b="0" dirty="0"/>
            </a:br>
            <a:r>
              <a:rPr lang="en-US" b="0" dirty="0"/>
              <a:t>heparin induced thrombocytopenia </a:t>
            </a:r>
          </a:p>
          <a:p>
            <a:pPr>
              <a:spcBef>
                <a:spcPts val="2400"/>
              </a:spcBef>
            </a:pPr>
            <a:r>
              <a:rPr lang="en-US" b="0" dirty="0"/>
              <a:t>Effects on bone metabolism (decreased </a:t>
            </a:r>
            <a:br>
              <a:rPr lang="en-US" b="0" dirty="0"/>
            </a:br>
            <a:r>
              <a:rPr lang="en-US" b="0" dirty="0"/>
              <a:t>bone formation, drug induced osteoporosis)</a:t>
            </a:r>
          </a:p>
          <a:p>
            <a:pPr>
              <a:spcBef>
                <a:spcPts val="2400"/>
              </a:spcBef>
            </a:pPr>
            <a:r>
              <a:rPr lang="en-US" b="0" dirty="0"/>
              <a:t>Hyperkalemia (decreased aldosterone synthesis)</a:t>
            </a:r>
          </a:p>
          <a:p>
            <a:pPr>
              <a:spcBef>
                <a:spcPts val="2400"/>
              </a:spcBef>
            </a:pPr>
            <a:r>
              <a:rPr lang="en-US" b="0" dirty="0"/>
              <a:t>Skin reactions</a:t>
            </a:r>
          </a:p>
          <a:p>
            <a:pPr>
              <a:spcBef>
                <a:spcPts val="2400"/>
              </a:spcBef>
            </a:pPr>
            <a:r>
              <a:rPr lang="en-US" b="0" dirty="0"/>
              <a:t>Hypersensitivity </a:t>
            </a:r>
          </a:p>
        </p:txBody>
      </p:sp>
    </p:spTree>
    <p:extLst>
      <p:ext uri="{BB962C8B-B14F-4D97-AF65-F5344CB8AC3E}">
        <p14:creationId xmlns:p14="http://schemas.microsoft.com/office/powerpoint/2010/main" val="28399454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399" y="215517"/>
            <a:ext cx="6286501" cy="1117983"/>
          </a:xfrm>
        </p:spPr>
        <p:txBody>
          <a:bodyPr/>
          <a:lstStyle/>
          <a:p>
            <a:pPr>
              <a:lnSpc>
                <a:spcPct val="90000"/>
              </a:lnSpc>
            </a:pPr>
            <a:r>
              <a:rPr lang="en-US" dirty="0"/>
              <a:t>Heparin-induced thrombocytopenia (HIT)</a:t>
            </a:r>
          </a:p>
        </p:txBody>
      </p:sp>
      <p:sp>
        <p:nvSpPr>
          <p:cNvPr id="3" name="Content Placeholder 2"/>
          <p:cNvSpPr>
            <a:spLocks noGrp="1"/>
          </p:cNvSpPr>
          <p:nvPr>
            <p:ph idx="1"/>
          </p:nvPr>
        </p:nvSpPr>
        <p:spPr>
          <a:xfrm>
            <a:off x="933449" y="1666875"/>
            <a:ext cx="7493001" cy="4057650"/>
          </a:xfrm>
        </p:spPr>
        <p:txBody>
          <a:bodyPr>
            <a:normAutofit/>
          </a:bodyPr>
          <a:lstStyle/>
          <a:p>
            <a:pPr marL="171450" indent="-171450">
              <a:spcBef>
                <a:spcPts val="1600"/>
              </a:spcBef>
            </a:pPr>
            <a:r>
              <a:rPr lang="en-US" sz="2400" b="0" dirty="0"/>
              <a:t>Antibody development to heparin-PF4 complex </a:t>
            </a:r>
          </a:p>
          <a:p>
            <a:pPr marL="171450" indent="-171450">
              <a:spcBef>
                <a:spcPts val="1600"/>
              </a:spcBef>
            </a:pPr>
            <a:r>
              <a:rPr lang="en-US" sz="2400" b="0" dirty="0"/>
              <a:t>Platelets will ↓&lt;150,000 or 50% from </a:t>
            </a:r>
            <a:br>
              <a:rPr lang="en-US" sz="2400" b="0" dirty="0"/>
            </a:br>
            <a:r>
              <a:rPr lang="en-US" sz="2400" b="0" dirty="0"/>
              <a:t>baseline within 5-14 days​</a:t>
            </a:r>
          </a:p>
          <a:p>
            <a:pPr marL="171450" indent="-171450">
              <a:spcBef>
                <a:spcPts val="1600"/>
              </a:spcBef>
            </a:pPr>
            <a:r>
              <a:rPr lang="en-US" sz="2400" b="1" dirty="0"/>
              <a:t>T</a:t>
            </a:r>
            <a:r>
              <a:rPr lang="en-US" sz="2400" b="0" dirty="0"/>
              <a:t>hrombocytopenia, </a:t>
            </a:r>
            <a:r>
              <a:rPr lang="en-US" sz="2400" b="1" dirty="0"/>
              <a:t>T</a:t>
            </a:r>
            <a:r>
              <a:rPr lang="en-US" sz="2400" b="0" dirty="0"/>
              <a:t>iming, </a:t>
            </a:r>
            <a:r>
              <a:rPr lang="en-US" sz="2400" b="1" dirty="0"/>
              <a:t>T</a:t>
            </a:r>
            <a:r>
              <a:rPr lang="en-US" sz="2400" b="0" dirty="0"/>
              <a:t>hrombosis, </a:t>
            </a:r>
            <a:r>
              <a:rPr lang="en-US" sz="2400" b="0" dirty="0" err="1"/>
              <a:t>o</a:t>
            </a:r>
            <a:r>
              <a:rPr lang="en-US" sz="2400" b="1" dirty="0" err="1"/>
              <a:t>T</a:t>
            </a:r>
            <a:r>
              <a:rPr lang="en-US" sz="2400" b="0" dirty="0" err="1"/>
              <a:t>her</a:t>
            </a:r>
            <a:r>
              <a:rPr lang="en-US" sz="2400" b="0" dirty="0"/>
              <a:t> </a:t>
            </a:r>
          </a:p>
          <a:p>
            <a:pPr marL="171450" indent="-171450">
              <a:spcBef>
                <a:spcPts val="1600"/>
              </a:spcBef>
            </a:pPr>
            <a:r>
              <a:rPr lang="en-US" sz="2400" b="0" dirty="0"/>
              <a:t>38-76% of patients develop thrombosis if untreated​</a:t>
            </a:r>
          </a:p>
          <a:p>
            <a:pPr marL="171450" indent="-171450">
              <a:spcBef>
                <a:spcPts val="1600"/>
              </a:spcBef>
            </a:pPr>
            <a:r>
              <a:rPr lang="en-US" sz="2400" b="0" dirty="0"/>
              <a:t>22-28% mortality rate in patients with HIT + thrombosis not treated with ​alternative anticoagulation​</a:t>
            </a:r>
          </a:p>
        </p:txBody>
      </p:sp>
      <p:sp>
        <p:nvSpPr>
          <p:cNvPr id="4" name="Rectangle 3"/>
          <p:cNvSpPr/>
          <p:nvPr/>
        </p:nvSpPr>
        <p:spPr>
          <a:xfrm>
            <a:off x="1028700" y="5987392"/>
            <a:ext cx="5864172" cy="123111"/>
          </a:xfrm>
          <a:prstGeom prst="rect">
            <a:avLst/>
          </a:prstGeom>
        </p:spPr>
        <p:txBody>
          <a:bodyPr wrap="square" lIns="0" tIns="0" rIns="0" bIns="0">
            <a:spAutoFit/>
          </a:bodyPr>
          <a:lstStyle/>
          <a:p>
            <a:r>
              <a:rPr lang="en-US" sz="800" dirty="0"/>
              <a:t>Source: N Engl J Med 1995; 332:1374-1376; Arch Intern Med 2004;164:361-9. </a:t>
            </a:r>
            <a:endParaRPr lang="en-US" sz="800" dirty="0">
              <a:solidFill>
                <a:srgbClr val="002060"/>
              </a:solidFill>
            </a:endParaRPr>
          </a:p>
        </p:txBody>
      </p:sp>
      <p:pic>
        <p:nvPicPr>
          <p:cNvPr id="5" name="Content Placeholder 8"/>
          <p:cNvPicPr>
            <a:picLocks noChangeAspect="1"/>
          </p:cNvPicPr>
          <p:nvPr/>
        </p:nvPicPr>
        <p:blipFill>
          <a:blip r:embed="rId3"/>
          <a:stretch>
            <a:fillRect/>
          </a:stretch>
        </p:blipFill>
        <p:spPr bwMode="auto">
          <a:xfrm>
            <a:off x="8386263" y="0"/>
            <a:ext cx="3805737" cy="685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58075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D9A4A-759C-9380-0102-13414D6ACD30}"/>
              </a:ext>
            </a:extLst>
          </p:cNvPr>
          <p:cNvSpPr>
            <a:spLocks noGrp="1"/>
          </p:cNvSpPr>
          <p:nvPr>
            <p:ph type="title"/>
          </p:nvPr>
        </p:nvSpPr>
        <p:spPr>
          <a:xfrm>
            <a:off x="914399" y="167892"/>
            <a:ext cx="10389241" cy="670308"/>
          </a:xfrm>
        </p:spPr>
        <p:txBody>
          <a:bodyPr/>
          <a:lstStyle/>
          <a:p>
            <a:r>
              <a:rPr lang="en-US" dirty="0"/>
              <a:t>Question 1</a:t>
            </a:r>
          </a:p>
        </p:txBody>
      </p:sp>
      <p:sp>
        <p:nvSpPr>
          <p:cNvPr id="3" name="Content Placeholder 2">
            <a:extLst>
              <a:ext uri="{FF2B5EF4-FFF2-40B4-BE49-F238E27FC236}">
                <a16:creationId xmlns:a16="http://schemas.microsoft.com/office/drawing/2014/main" id="{A36F3FEF-23F1-AAD5-424B-5906EA6C5493}"/>
              </a:ext>
            </a:extLst>
          </p:cNvPr>
          <p:cNvSpPr>
            <a:spLocks noGrp="1"/>
          </p:cNvSpPr>
          <p:nvPr>
            <p:ph idx="1"/>
          </p:nvPr>
        </p:nvSpPr>
        <p:spPr>
          <a:xfrm>
            <a:off x="928246" y="1162050"/>
            <a:ext cx="10361229" cy="4618792"/>
          </a:xfrm>
        </p:spPr>
        <p:txBody>
          <a:bodyPr/>
          <a:lstStyle/>
          <a:p>
            <a:pPr marL="0" indent="0">
              <a:lnSpc>
                <a:spcPts val="3700"/>
              </a:lnSpc>
              <a:buNone/>
            </a:pPr>
            <a:r>
              <a:rPr lang="en-US" b="0" dirty="0"/>
              <a:t>JT was recently started on a continuous heparin infusion in the hospital to help treat a new deep vein thrombosis. In reviewing two consecutive </a:t>
            </a:r>
            <a:r>
              <a:rPr lang="en-US" b="0" dirty="0" err="1"/>
              <a:t>aPTT</a:t>
            </a:r>
            <a:r>
              <a:rPr lang="en-US" b="0" dirty="0"/>
              <a:t> assay results (one at 12 hours post infusion and one at 24 hours post infusion), it does not appear that heparin is effectively thinning the patient’s blood despite a </a:t>
            </a:r>
            <a:br>
              <a:rPr lang="en-US" b="0" dirty="0"/>
            </a:br>
            <a:r>
              <a:rPr lang="en-US" b="0" dirty="0"/>
              <a:t>higher than normal dose. </a:t>
            </a:r>
          </a:p>
          <a:p>
            <a:pPr marL="1139825" indent="0">
              <a:lnSpc>
                <a:spcPts val="3600"/>
              </a:lnSpc>
              <a:spcBef>
                <a:spcPts val="4200"/>
              </a:spcBef>
              <a:buNone/>
            </a:pPr>
            <a:r>
              <a:rPr lang="en-US" b="1" dirty="0">
                <a:solidFill>
                  <a:schemeClr val="tx1"/>
                </a:solidFill>
              </a:rPr>
              <a:t>What could be contributing to this finding? </a:t>
            </a:r>
          </a:p>
        </p:txBody>
      </p:sp>
      <p:pic>
        <p:nvPicPr>
          <p:cNvPr id="6" name="Picture 5">
            <a:extLst>
              <a:ext uri="{FF2B5EF4-FFF2-40B4-BE49-F238E27FC236}">
                <a16:creationId xmlns:a16="http://schemas.microsoft.com/office/drawing/2014/main" id="{8B542E71-2F14-8E5A-EC12-CE96A878F06E}"/>
              </a:ext>
            </a:extLst>
          </p:cNvPr>
          <p:cNvPicPr>
            <a:picLocks noChangeAspect="1"/>
          </p:cNvPicPr>
          <p:nvPr/>
        </p:nvPicPr>
        <p:blipFill>
          <a:blip r:embed="rId3"/>
          <a:stretch>
            <a:fillRect/>
          </a:stretch>
        </p:blipFill>
        <p:spPr>
          <a:xfrm>
            <a:off x="767058" y="4265340"/>
            <a:ext cx="1242527" cy="1489620"/>
          </a:xfrm>
          <a:prstGeom prst="rect">
            <a:avLst/>
          </a:prstGeom>
        </p:spPr>
      </p:pic>
    </p:spTree>
    <p:extLst>
      <p:ext uri="{BB962C8B-B14F-4D97-AF65-F5344CB8AC3E}">
        <p14:creationId xmlns:p14="http://schemas.microsoft.com/office/powerpoint/2010/main" val="19606552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11645325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28516093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2025155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499" y="148843"/>
            <a:ext cx="10389241" cy="689358"/>
          </a:xfrm>
        </p:spPr>
        <p:txBody>
          <a:bodyPr/>
          <a:lstStyle/>
          <a:p>
            <a:r>
              <a:rPr lang="en-US" dirty="0"/>
              <a:t>Warfarin</a:t>
            </a:r>
          </a:p>
        </p:txBody>
      </p:sp>
      <p:sp>
        <p:nvSpPr>
          <p:cNvPr id="3" name="Content Placeholder 2"/>
          <p:cNvSpPr>
            <a:spLocks noGrp="1"/>
          </p:cNvSpPr>
          <p:nvPr>
            <p:ph idx="1"/>
          </p:nvPr>
        </p:nvSpPr>
        <p:spPr>
          <a:xfrm>
            <a:off x="933449" y="1210319"/>
            <a:ext cx="2521255" cy="4752302"/>
          </a:xfrm>
        </p:spPr>
        <p:txBody>
          <a:bodyPr numCol="1" spcCol="274320"/>
          <a:lstStyle/>
          <a:p>
            <a:pPr marL="171450" indent="-171450">
              <a:spcBef>
                <a:spcPts val="2400"/>
              </a:spcBef>
            </a:pPr>
            <a:r>
              <a:rPr lang="en-US" sz="1800" b="0" kern="1200" dirty="0">
                <a:solidFill>
                  <a:schemeClr val="tx1"/>
                </a:solidFill>
              </a:rPr>
              <a:t>Derived from coumarin, a sweet-</a:t>
            </a:r>
            <a:br>
              <a:rPr lang="en-US" sz="1800" b="0" kern="1200" dirty="0">
                <a:solidFill>
                  <a:schemeClr val="tx1"/>
                </a:solidFill>
              </a:rPr>
            </a:br>
            <a:r>
              <a:rPr lang="en-US" sz="1800" b="0" kern="1200" dirty="0">
                <a:solidFill>
                  <a:schemeClr val="tx1"/>
                </a:solidFill>
              </a:rPr>
              <a:t>smelling anticoagulant chemical found naturally in sweet clover and many </a:t>
            </a:r>
            <a:br>
              <a:rPr lang="en-US" sz="1800" b="0" kern="1200" dirty="0">
                <a:solidFill>
                  <a:schemeClr val="tx1"/>
                </a:solidFill>
              </a:rPr>
            </a:br>
            <a:r>
              <a:rPr lang="en-US" sz="1800" b="0" kern="1200" dirty="0">
                <a:solidFill>
                  <a:schemeClr val="tx1"/>
                </a:solidFill>
              </a:rPr>
              <a:t>other plants.</a:t>
            </a:r>
            <a:br>
              <a:rPr lang="en-US" sz="1800" b="0" kern="1200" dirty="0">
                <a:solidFill>
                  <a:schemeClr val="tx1"/>
                </a:solidFill>
              </a:rPr>
            </a:br>
            <a:endParaRPr lang="en-US" sz="1800" b="0" kern="1200" dirty="0">
              <a:solidFill>
                <a:schemeClr val="tx1"/>
              </a:solidFill>
            </a:endParaRPr>
          </a:p>
          <a:p>
            <a:pPr marL="171450" indent="-171450">
              <a:spcBef>
                <a:spcPts val="2400"/>
              </a:spcBef>
            </a:pPr>
            <a:r>
              <a:rPr lang="en-US" sz="1800" b="0" dirty="0"/>
              <a:t>1920s </a:t>
            </a:r>
            <a:r>
              <a:rPr lang="en-US" sz="1800" b="0" dirty="0">
                <a:sym typeface="Wingdings" panose="05000000000000000000" pitchFamily="2" charset="2"/>
              </a:rPr>
              <a:t> </a:t>
            </a:r>
            <a:r>
              <a:rPr lang="en-US" sz="1800" b="0" dirty="0"/>
              <a:t> fatal hemorrhagic </a:t>
            </a:r>
            <a:br>
              <a:rPr lang="en-US" sz="1800" b="0" dirty="0"/>
            </a:br>
            <a:r>
              <a:rPr lang="en-US" sz="1800" b="0" dirty="0"/>
              <a:t>disease was reported in cattle eating </a:t>
            </a:r>
            <a:br>
              <a:rPr lang="en-US" sz="1800" b="0" dirty="0"/>
            </a:br>
            <a:r>
              <a:rPr lang="en-US" sz="1800" b="0" dirty="0"/>
              <a:t>spoiled sweet clover</a:t>
            </a:r>
            <a:endParaRPr lang="en-US" sz="2800" dirty="0"/>
          </a:p>
        </p:txBody>
      </p:sp>
      <p:pic>
        <p:nvPicPr>
          <p:cNvPr id="1030" name="Picture 6" descr="Can Cows Eat Clover? [Clover Forage, Toxicity, and Bloat] - Outdoor Happens"/>
          <p:cNvPicPr>
            <a:picLocks noChangeAspect="1" noChangeArrowheads="1"/>
          </p:cNvPicPr>
          <p:nvPr/>
        </p:nvPicPr>
        <p:blipFill rotWithShape="1">
          <a:blip r:embed="rId3">
            <a:extLst>
              <a:ext uri="{28A0092B-C50C-407E-A947-70E740481C1C}">
                <a14:useLocalDpi xmlns:a14="http://schemas.microsoft.com/office/drawing/2010/main" val="0"/>
              </a:ext>
            </a:extLst>
          </a:blip>
          <a:srcRect l="16546" r="16546"/>
          <a:stretch/>
        </p:blipFill>
        <p:spPr bwMode="auto">
          <a:xfrm>
            <a:off x="3476140" y="3645565"/>
            <a:ext cx="2351670" cy="2351670"/>
          </a:xfrm>
          <a:prstGeom prst="ellipse">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55569A3D-0BD9-1D6B-9458-822BC6649D22}"/>
              </a:ext>
            </a:extLst>
          </p:cNvPr>
          <p:cNvGrpSpPr/>
          <p:nvPr/>
        </p:nvGrpSpPr>
        <p:grpSpPr>
          <a:xfrm>
            <a:off x="9109043" y="1295400"/>
            <a:ext cx="2809899" cy="2247511"/>
            <a:chOff x="8200664" y="190889"/>
            <a:chExt cx="2809899" cy="2247511"/>
          </a:xfrm>
        </p:grpSpPr>
        <p:sp>
          <p:nvSpPr>
            <p:cNvPr id="7" name="Rectangle 6">
              <a:extLst>
                <a:ext uri="{FF2B5EF4-FFF2-40B4-BE49-F238E27FC236}">
                  <a16:creationId xmlns:a16="http://schemas.microsoft.com/office/drawing/2014/main" id="{D0A39379-8758-6689-027D-518BBFC4CCE0}"/>
                </a:ext>
              </a:extLst>
            </p:cNvPr>
            <p:cNvSpPr/>
            <p:nvPr/>
          </p:nvSpPr>
          <p:spPr bwMode="auto">
            <a:xfrm>
              <a:off x="8222096" y="190889"/>
              <a:ext cx="2788467" cy="2247511"/>
            </a:xfrm>
            <a:prstGeom prst="rect">
              <a:avLst/>
            </a:prstGeom>
            <a:solidFill>
              <a:srgbClr val="F5F5F5"/>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pic>
          <p:nvPicPr>
            <p:cNvPr id="1026" name="Picture 2" descr="https://i0.wp.com/www.fungusfactfriday.com/wp-content/uploads/2017/08/dicoumarol.png?ssl=1"/>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369" t="15053" r="4542" b="14295"/>
            <a:stretch/>
          </p:blipFill>
          <p:spPr bwMode="auto">
            <a:xfrm>
              <a:off x="8346329" y="384625"/>
              <a:ext cx="2540000" cy="14737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200664" y="1955488"/>
              <a:ext cx="2788466" cy="338554"/>
            </a:xfrm>
            <a:prstGeom prst="rect">
              <a:avLst/>
            </a:prstGeom>
            <a:noFill/>
          </p:spPr>
          <p:txBody>
            <a:bodyPr wrap="square" rtlCol="0">
              <a:spAutoFit/>
            </a:bodyPr>
            <a:lstStyle/>
            <a:p>
              <a:pPr algn="ctr"/>
              <a:r>
                <a:rPr lang="en-US" sz="1600" dirty="0"/>
                <a:t>Dicumarol</a:t>
              </a:r>
            </a:p>
          </p:txBody>
        </p:sp>
      </p:grpSp>
      <p:grpSp>
        <p:nvGrpSpPr>
          <p:cNvPr id="11" name="Group 10">
            <a:extLst>
              <a:ext uri="{FF2B5EF4-FFF2-40B4-BE49-F238E27FC236}">
                <a16:creationId xmlns:a16="http://schemas.microsoft.com/office/drawing/2014/main" id="{94EBE316-6575-4587-33A2-9BBBE287102D}"/>
              </a:ext>
            </a:extLst>
          </p:cNvPr>
          <p:cNvGrpSpPr/>
          <p:nvPr/>
        </p:nvGrpSpPr>
        <p:grpSpPr>
          <a:xfrm>
            <a:off x="9130475" y="3645565"/>
            <a:ext cx="2788467" cy="2247511"/>
            <a:chOff x="8222096" y="2695648"/>
            <a:chExt cx="2788467" cy="2247511"/>
          </a:xfrm>
        </p:grpSpPr>
        <p:sp>
          <p:nvSpPr>
            <p:cNvPr id="10" name="Rectangle 9">
              <a:extLst>
                <a:ext uri="{FF2B5EF4-FFF2-40B4-BE49-F238E27FC236}">
                  <a16:creationId xmlns:a16="http://schemas.microsoft.com/office/drawing/2014/main" id="{58052659-D0FB-1532-184C-5A053F3F48E1}"/>
                </a:ext>
              </a:extLst>
            </p:cNvPr>
            <p:cNvSpPr/>
            <p:nvPr/>
          </p:nvSpPr>
          <p:spPr bwMode="auto">
            <a:xfrm>
              <a:off x="8222096" y="2695648"/>
              <a:ext cx="2788467" cy="2247511"/>
            </a:xfrm>
            <a:prstGeom prst="rect">
              <a:avLst/>
            </a:prstGeom>
            <a:solidFill>
              <a:srgbClr val="F5F5F5"/>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pic>
          <p:nvPicPr>
            <p:cNvPr id="4" name="Picture 4" descr="https://i0.wp.com/www.fungusfactfriday.com/wp-content/uploads/2017/08/warfarin.png?ssl=1"/>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4527" t="14198" r="2906" b="10226"/>
            <a:stretch/>
          </p:blipFill>
          <p:spPr bwMode="auto">
            <a:xfrm>
              <a:off x="8346329" y="2855946"/>
              <a:ext cx="2540000" cy="155134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8222097" y="4495800"/>
              <a:ext cx="2767033" cy="338554"/>
            </a:xfrm>
            <a:prstGeom prst="rect">
              <a:avLst/>
            </a:prstGeom>
            <a:noFill/>
          </p:spPr>
          <p:txBody>
            <a:bodyPr wrap="square" rtlCol="0">
              <a:spAutoFit/>
            </a:bodyPr>
            <a:lstStyle/>
            <a:p>
              <a:pPr algn="ctr"/>
              <a:r>
                <a:rPr lang="en-US" sz="1600" dirty="0"/>
                <a:t>Warfarin</a:t>
              </a:r>
            </a:p>
          </p:txBody>
        </p:sp>
      </p:grpSp>
      <p:pic>
        <p:nvPicPr>
          <p:cNvPr id="1032" name="Picture 8" descr="Yellow Sweet Clover Organic – West Coast Seeds"/>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2632" b="2632"/>
          <a:stretch/>
        </p:blipFill>
        <p:spPr bwMode="auto">
          <a:xfrm>
            <a:off x="3476139" y="1110324"/>
            <a:ext cx="2351670" cy="2351670"/>
          </a:xfrm>
          <a:prstGeom prst="ellipse">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1C04C034-543A-61AE-A563-4936B874E3A0}"/>
              </a:ext>
            </a:extLst>
          </p:cNvPr>
          <p:cNvSpPr txBox="1">
            <a:spLocks/>
          </p:cNvSpPr>
          <p:nvPr/>
        </p:nvSpPr>
        <p:spPr bwMode="auto">
          <a:xfrm>
            <a:off x="6109020" y="1210318"/>
            <a:ext cx="3021456" cy="3495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spcCol="274320" anchor="t" anchorCtr="0" compatLnSpc="1">
            <a:prstTxWarp prst="textNoShape">
              <a:avLst/>
            </a:prstTxWarp>
          </a:bodyPr>
          <a:lstStyle>
            <a:lvl1pPr marL="346075" indent="-346075" algn="l" rtl="0" eaLnBrk="1" fontAlgn="base" hangingPunct="1">
              <a:spcBef>
                <a:spcPts val="1000"/>
              </a:spcBef>
              <a:spcAft>
                <a:spcPct val="0"/>
              </a:spcAft>
              <a:buClr>
                <a:schemeClr val="accent1"/>
              </a:buClr>
              <a:buSzPct val="150000"/>
              <a:buFont typeface="Times" panose="02020603050405020304" pitchFamily="18" charset="0"/>
              <a:buChar char="•"/>
              <a:defRPr sz="2600" b="1">
                <a:solidFill>
                  <a:srgbClr val="131313"/>
                </a:solidFill>
                <a:latin typeface="+mn-lt"/>
                <a:ea typeface="+mn-ea"/>
                <a:cs typeface="+mn-cs"/>
              </a:defRPr>
            </a:lvl1pPr>
            <a:lvl2pPr marL="685750" indent="-338114" algn="l" rtl="0" eaLnBrk="1" fontAlgn="base" hangingPunct="1">
              <a:spcBef>
                <a:spcPts val="1000"/>
              </a:spcBef>
              <a:spcAft>
                <a:spcPct val="0"/>
              </a:spcAft>
              <a:buClr>
                <a:schemeClr val="accent1"/>
              </a:buClr>
              <a:buSzPct val="70000"/>
              <a:buFont typeface="Wingdings" panose="05000000000000000000" pitchFamily="2" charset="2"/>
              <a:buChar char=""/>
              <a:defRPr sz="2000">
                <a:solidFill>
                  <a:srgbClr val="131313"/>
                </a:solidFill>
                <a:latin typeface="+mn-lt"/>
                <a:ea typeface="+mn-ea"/>
                <a:cs typeface="+mn-cs"/>
              </a:defRPr>
            </a:lvl2pPr>
            <a:lvl3pPr marL="1033385" indent="-338114" algn="l" rtl="0" eaLnBrk="1" fontAlgn="base" hangingPunct="1">
              <a:spcBef>
                <a:spcPts val="1000"/>
              </a:spcBef>
              <a:spcAft>
                <a:spcPct val="0"/>
              </a:spcAft>
              <a:buClr>
                <a:schemeClr val="accent1"/>
              </a:buClr>
              <a:buSzPct val="110000"/>
              <a:buFont typeface="Courier New" panose="02070309020205020404" pitchFamily="49" charset="0"/>
              <a:buChar char="o"/>
              <a:defRPr sz="1800">
                <a:solidFill>
                  <a:srgbClr val="131313"/>
                </a:solidFill>
                <a:latin typeface="+mn-lt"/>
                <a:ea typeface="+mn-ea"/>
                <a:cs typeface="+mn-cs"/>
              </a:defRPr>
            </a:lvl3pPr>
            <a:lvl4pPr marL="1371498" indent="-338114" algn="l" rtl="0" eaLnBrk="1" fontAlgn="base" hangingPunct="1">
              <a:spcBef>
                <a:spcPts val="1000"/>
              </a:spcBef>
              <a:spcAft>
                <a:spcPct val="0"/>
              </a:spcAft>
              <a:buClr>
                <a:schemeClr val="accent1"/>
              </a:buClr>
              <a:buSzPct val="75000"/>
              <a:buFont typeface="Wingdings" panose="05000000000000000000" pitchFamily="2" charset="2"/>
              <a:buChar char="¨"/>
              <a:defRPr sz="1600">
                <a:solidFill>
                  <a:srgbClr val="131313"/>
                </a:solidFill>
                <a:latin typeface="+mn-lt"/>
                <a:ea typeface="+mn-ea"/>
                <a:cs typeface="+mn-cs"/>
              </a:defRPr>
            </a:lvl4pPr>
            <a:lvl5pPr marL="1828664" indent="0" algn="l" rtl="0" eaLnBrk="1" fontAlgn="base" hangingPunct="1">
              <a:spcBef>
                <a:spcPts val="1000"/>
              </a:spcBef>
              <a:spcAft>
                <a:spcPct val="0"/>
              </a:spcAft>
              <a:buFont typeface="Times" panose="02020603050405020304" pitchFamily="18" charset="0"/>
              <a:buNone/>
              <a:defRPr>
                <a:solidFill>
                  <a:srgbClr val="131313"/>
                </a:solidFill>
                <a:latin typeface="+mn-lt"/>
                <a:ea typeface="+mn-ea"/>
                <a:cs typeface="+mn-cs"/>
              </a:defRPr>
            </a:lvl5pPr>
            <a:lvl6pPr marL="2514412"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6pPr>
            <a:lvl7pPr marL="2971578"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7pPr>
            <a:lvl8pPr marL="3428744"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8pPr>
            <a:lvl9pPr marL="3885910"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9pPr>
          </a:lstStyle>
          <a:p>
            <a:pPr marL="171450" indent="-171450">
              <a:spcBef>
                <a:spcPts val="2400"/>
              </a:spcBef>
              <a:buClr>
                <a:schemeClr val="tx2"/>
              </a:buClr>
              <a:buSzPct val="100000"/>
            </a:pPr>
            <a:r>
              <a:rPr lang="en-US" sz="1800" b="0" kern="0" dirty="0"/>
              <a:t>Contained the natural anticoagulant 3,3′-methylene-bis-(4-hydroxycoumarin) or </a:t>
            </a:r>
            <a:r>
              <a:rPr lang="en-US" sz="1800" kern="0" dirty="0"/>
              <a:t>di</a:t>
            </a:r>
            <a:r>
              <a:rPr lang="en-US" sz="1800" kern="0" dirty="0">
                <a:solidFill>
                  <a:schemeClr val="tx1"/>
                </a:solidFill>
              </a:rPr>
              <a:t>cumar</a:t>
            </a:r>
            <a:r>
              <a:rPr lang="en-US" sz="1800" kern="0" dirty="0"/>
              <a:t>ol</a:t>
            </a:r>
            <a:r>
              <a:rPr lang="en-US" sz="1800" b="0" kern="0" dirty="0"/>
              <a:t>. </a:t>
            </a:r>
            <a:br>
              <a:rPr lang="en-US" sz="1800" b="0" kern="0" dirty="0"/>
            </a:br>
            <a:br>
              <a:rPr lang="en-US" sz="1800" b="0" kern="0" dirty="0"/>
            </a:br>
            <a:br>
              <a:rPr lang="en-US" sz="1800" b="0" kern="0" dirty="0"/>
            </a:br>
            <a:endParaRPr lang="en-US" sz="1800" b="0" kern="0" dirty="0"/>
          </a:p>
          <a:p>
            <a:pPr marL="171450" indent="-171450">
              <a:spcBef>
                <a:spcPts val="2400"/>
              </a:spcBef>
              <a:buClr>
                <a:schemeClr val="tx2"/>
              </a:buClr>
              <a:buSzPct val="100000"/>
            </a:pPr>
            <a:r>
              <a:rPr lang="en-US" sz="1800" kern="0" dirty="0">
                <a:solidFill>
                  <a:schemeClr val="tx1"/>
                </a:solidFill>
              </a:rPr>
              <a:t>Dicum</a:t>
            </a:r>
            <a:r>
              <a:rPr lang="en-US" sz="1800" kern="0" dirty="0"/>
              <a:t>arol</a:t>
            </a:r>
            <a:r>
              <a:rPr lang="en-US" sz="1800" b="0" kern="0" dirty="0"/>
              <a:t> and </a:t>
            </a:r>
            <a:r>
              <a:rPr lang="en-US" sz="1800" kern="0" dirty="0"/>
              <a:t>warfarin</a:t>
            </a:r>
            <a:r>
              <a:rPr lang="en-US" sz="1800" b="0" kern="0" dirty="0"/>
              <a:t> </a:t>
            </a:r>
            <a:br>
              <a:rPr lang="en-US" sz="1800" b="0" kern="0" dirty="0"/>
            </a:br>
            <a:r>
              <a:rPr lang="en-US" sz="1800" b="0" kern="0" dirty="0"/>
              <a:t>(a potent synthetic congener) were introduced during the 1940s as rodenticides </a:t>
            </a:r>
            <a:br>
              <a:rPr lang="en-US" sz="1800" b="0" kern="0" dirty="0"/>
            </a:br>
            <a:r>
              <a:rPr lang="en-US" sz="1800" b="0" kern="0" dirty="0"/>
              <a:t>and as oral anticoagulants. </a:t>
            </a:r>
            <a:endParaRPr lang="en-US" sz="2800" kern="0" dirty="0"/>
          </a:p>
        </p:txBody>
      </p:sp>
    </p:spTree>
    <p:extLst>
      <p:ext uri="{BB962C8B-B14F-4D97-AF65-F5344CB8AC3E}">
        <p14:creationId xmlns:p14="http://schemas.microsoft.com/office/powerpoint/2010/main" val="2572750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human liver&#10;&#10;Description automatically generated">
            <a:extLst>
              <a:ext uri="{FF2B5EF4-FFF2-40B4-BE49-F238E27FC236}">
                <a16:creationId xmlns:a16="http://schemas.microsoft.com/office/drawing/2014/main" id="{9748BDCD-CC6F-623D-7E68-E763137ED2D9}"/>
              </a:ext>
            </a:extLst>
          </p:cNvPr>
          <p:cNvPicPr>
            <a:picLocks noChangeAspect="1"/>
          </p:cNvPicPr>
          <p:nvPr/>
        </p:nvPicPr>
        <p:blipFill rotWithShape="1">
          <a:blip r:embed="rId3">
            <a:extLst>
              <a:ext uri="{28A0092B-C50C-407E-A947-70E740481C1C}">
                <a14:useLocalDpi xmlns:a14="http://schemas.microsoft.com/office/drawing/2010/main" val="0"/>
              </a:ext>
            </a:extLst>
          </a:blip>
          <a:srcRect t="12700" b="-35789"/>
          <a:stretch>
            <a:fillRect/>
          </a:stretch>
        </p:blipFill>
        <p:spPr bwMode="auto">
          <a:xfrm>
            <a:off x="5932030" y="1057173"/>
            <a:ext cx="6259970" cy="5170590"/>
          </a:xfrm>
          <a:prstGeom prst="rect">
            <a:avLst/>
          </a:prstGeom>
          <a:solidFill>
            <a:schemeClr val="bg1"/>
          </a:solidFill>
          <a:ln>
            <a:noFill/>
          </a:ln>
        </p:spPr>
      </p:pic>
      <p:sp>
        <p:nvSpPr>
          <p:cNvPr id="2" name="Title 1"/>
          <p:cNvSpPr>
            <a:spLocks noGrp="1"/>
          </p:cNvSpPr>
          <p:nvPr>
            <p:ph type="title"/>
          </p:nvPr>
        </p:nvSpPr>
        <p:spPr>
          <a:xfrm>
            <a:off x="952499" y="167892"/>
            <a:ext cx="2438401" cy="670308"/>
          </a:xfrm>
        </p:spPr>
        <p:txBody>
          <a:bodyPr/>
          <a:lstStyle/>
          <a:p>
            <a:r>
              <a:rPr lang="en-US" dirty="0"/>
              <a:t>Warfarin</a:t>
            </a:r>
          </a:p>
        </p:txBody>
      </p:sp>
      <p:sp>
        <p:nvSpPr>
          <p:cNvPr id="3" name="Content Placeholder 2"/>
          <p:cNvSpPr>
            <a:spLocks noGrp="1"/>
          </p:cNvSpPr>
          <p:nvPr>
            <p:ph idx="1"/>
          </p:nvPr>
        </p:nvSpPr>
        <p:spPr>
          <a:xfrm>
            <a:off x="914398" y="1057173"/>
            <a:ext cx="4876801" cy="5076927"/>
          </a:xfrm>
        </p:spPr>
        <p:txBody>
          <a:bodyPr>
            <a:normAutofit/>
          </a:bodyPr>
          <a:lstStyle/>
          <a:p>
            <a:pPr marL="228600" indent="-228600">
              <a:spcBef>
                <a:spcPts val="1800"/>
              </a:spcBef>
            </a:pPr>
            <a:r>
              <a:rPr lang="en-US" sz="2000" b="0" kern="1200" dirty="0">
                <a:solidFill>
                  <a:schemeClr val="tx1"/>
                </a:solidFill>
              </a:rPr>
              <a:t>As you know, vitamin K is a necessary cofactor in the post-translational carboxylation of glutamate residues </a:t>
            </a:r>
            <a:br>
              <a:rPr lang="en-US" sz="2000" b="0" kern="1200" dirty="0">
                <a:solidFill>
                  <a:schemeClr val="tx1"/>
                </a:solidFill>
              </a:rPr>
            </a:br>
            <a:r>
              <a:rPr lang="en-US" sz="2000" b="0" kern="1200" dirty="0">
                <a:solidFill>
                  <a:schemeClr val="tx1"/>
                </a:solidFill>
              </a:rPr>
              <a:t>on factors II, VII, IX, X, proteins C &amp; S. </a:t>
            </a:r>
            <a:endParaRPr lang="en-US" sz="2000" dirty="0">
              <a:solidFill>
                <a:schemeClr val="tx1"/>
              </a:solidFill>
            </a:endParaRPr>
          </a:p>
          <a:p>
            <a:pPr marL="228600" indent="-228600">
              <a:spcBef>
                <a:spcPts val="1800"/>
              </a:spcBef>
            </a:pPr>
            <a:r>
              <a:rPr lang="en-US" sz="2000" b="0" kern="1200" dirty="0">
                <a:solidFill>
                  <a:schemeClr val="tx1"/>
                </a:solidFill>
              </a:rPr>
              <a:t>During the carboxylation reaction, </a:t>
            </a:r>
            <a:br>
              <a:rPr lang="en-US" sz="2000" b="0" kern="1200" dirty="0">
                <a:solidFill>
                  <a:schemeClr val="tx1"/>
                </a:solidFill>
              </a:rPr>
            </a:br>
            <a:r>
              <a:rPr lang="en-US" sz="2000" b="1" kern="1200" dirty="0">
                <a:solidFill>
                  <a:schemeClr val="tx1"/>
                </a:solidFill>
              </a:rPr>
              <a:t>vitamin K epoxide reductase (</a:t>
            </a:r>
            <a:r>
              <a:rPr lang="en-US" sz="2000" b="1" i="1" kern="1200" dirty="0">
                <a:solidFill>
                  <a:schemeClr val="tx1"/>
                </a:solidFill>
              </a:rPr>
              <a:t>VKORC1</a:t>
            </a:r>
            <a:r>
              <a:rPr lang="en-US" sz="2000" b="1" kern="1200" dirty="0">
                <a:solidFill>
                  <a:schemeClr val="tx1"/>
                </a:solidFill>
              </a:rPr>
              <a:t>) </a:t>
            </a:r>
            <a:r>
              <a:rPr lang="en-US" sz="2000" b="0" kern="1200" dirty="0">
                <a:solidFill>
                  <a:schemeClr val="tx1"/>
                </a:solidFill>
              </a:rPr>
              <a:t>converts inactive vitamin K 2,3-epoxide into the active, reduced form of vitamin K. </a:t>
            </a:r>
          </a:p>
          <a:p>
            <a:pPr marL="228600" indent="-228600">
              <a:spcBef>
                <a:spcPts val="1800"/>
              </a:spcBef>
            </a:pPr>
            <a:r>
              <a:rPr lang="en-US" sz="2000" b="1" dirty="0"/>
              <a:t>Warfarin competitively </a:t>
            </a:r>
            <a:br>
              <a:rPr lang="en-US" sz="2000" b="1" dirty="0"/>
            </a:br>
            <a:r>
              <a:rPr lang="en-US" sz="2000" b="1" dirty="0"/>
              <a:t>inhibits VKORC1</a:t>
            </a:r>
            <a:endParaRPr lang="en-US" sz="2000" b="1" dirty="0">
              <a:sym typeface="Wingdings" panose="05000000000000000000" pitchFamily="2" charset="2"/>
            </a:endParaRPr>
          </a:p>
          <a:p>
            <a:pPr marL="457200" lvl="1" indent="-228600">
              <a:buSzPct val="80000"/>
            </a:pPr>
            <a:r>
              <a:rPr lang="en-US" sz="2000" b="0" u="sng" dirty="0"/>
              <a:t>No effect on existing clotting factors</a:t>
            </a:r>
          </a:p>
          <a:p>
            <a:pPr marL="457200" lvl="1" indent="-228600">
              <a:buSzPct val="80000"/>
            </a:pPr>
            <a:r>
              <a:rPr lang="en-US" sz="2000" u="sng" dirty="0">
                <a:ea typeface="Times New Roman" panose="02020603050405020304" pitchFamily="18" charset="0"/>
              </a:rPr>
              <a:t>O</a:t>
            </a:r>
            <a:r>
              <a:rPr lang="en-US" sz="2000" u="sng" kern="0" dirty="0">
                <a:effectLst/>
                <a:ea typeface="Times New Roman" panose="02020603050405020304" pitchFamily="18" charset="0"/>
              </a:rPr>
              <a:t>nly blocks the generation </a:t>
            </a:r>
            <a:br>
              <a:rPr lang="en-US" sz="2000" u="sng" kern="0" dirty="0">
                <a:effectLst/>
                <a:ea typeface="Times New Roman" panose="02020603050405020304" pitchFamily="18" charset="0"/>
              </a:rPr>
            </a:br>
            <a:r>
              <a:rPr lang="en-US" sz="2000" u="sng" kern="0" dirty="0">
                <a:effectLst/>
                <a:ea typeface="Times New Roman" panose="02020603050405020304" pitchFamily="18" charset="0"/>
              </a:rPr>
              <a:t>of </a:t>
            </a:r>
            <a:r>
              <a:rPr lang="en-US" sz="2000" i="1" u="sng" kern="0" dirty="0">
                <a:effectLst/>
                <a:ea typeface="Times New Roman" panose="02020603050405020304" pitchFamily="18" charset="0"/>
              </a:rPr>
              <a:t>new clotting factors</a:t>
            </a:r>
            <a:endParaRPr lang="en-US" sz="2000" kern="0" dirty="0">
              <a:effectLst/>
              <a:ea typeface="Times New Roman" panose="02020603050405020304" pitchFamily="18" charset="0"/>
            </a:endParaRPr>
          </a:p>
          <a:p>
            <a:pPr marL="685165" lvl="1" indent="-337820"/>
            <a:endParaRPr lang="en-US" sz="2000" b="0" u="sng" dirty="0"/>
          </a:p>
          <a:p>
            <a:pPr marL="347345" indent="-347345"/>
            <a:endParaRPr lang="en-US" sz="2000" dirty="0"/>
          </a:p>
        </p:txBody>
      </p:sp>
      <p:sp>
        <p:nvSpPr>
          <p:cNvPr id="5" name="TextBox 4">
            <a:extLst>
              <a:ext uri="{FF2B5EF4-FFF2-40B4-BE49-F238E27FC236}">
                <a16:creationId xmlns:a16="http://schemas.microsoft.com/office/drawing/2014/main" id="{2402068D-A844-6782-2A0D-BCA2492A6D1E}"/>
              </a:ext>
            </a:extLst>
          </p:cNvPr>
          <p:cNvSpPr txBox="1"/>
          <p:nvPr/>
        </p:nvSpPr>
        <p:spPr>
          <a:xfrm>
            <a:off x="8359042" y="4049853"/>
            <a:ext cx="1485900" cy="369332"/>
          </a:xfrm>
          <a:prstGeom prst="rect">
            <a:avLst/>
          </a:prstGeom>
          <a:noFill/>
        </p:spPr>
        <p:txBody>
          <a:bodyPr wrap="square" rtlCol="0">
            <a:spAutoFit/>
          </a:bodyPr>
          <a:lstStyle/>
          <a:p>
            <a:r>
              <a:rPr lang="en-US" sz="1800" b="1" kern="1200" dirty="0">
                <a:solidFill>
                  <a:schemeClr val="tx1"/>
                </a:solidFill>
              </a:rPr>
              <a:t>Vitamin K</a:t>
            </a:r>
            <a:endParaRPr lang="en-US" b="1" dirty="0"/>
          </a:p>
        </p:txBody>
      </p:sp>
    </p:spTree>
    <p:extLst>
      <p:ext uri="{BB962C8B-B14F-4D97-AF65-F5344CB8AC3E}">
        <p14:creationId xmlns:p14="http://schemas.microsoft.com/office/powerpoint/2010/main" val="6040248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399" y="167892"/>
            <a:ext cx="10389241" cy="670308"/>
          </a:xfrm>
        </p:spPr>
        <p:txBody>
          <a:bodyPr/>
          <a:lstStyle/>
          <a:p>
            <a:r>
              <a:rPr lang="en-US" dirty="0"/>
              <a:t>Warfarin</a:t>
            </a:r>
          </a:p>
        </p:txBody>
      </p:sp>
      <p:sp>
        <p:nvSpPr>
          <p:cNvPr id="7" name="Content Placeholder 6"/>
          <p:cNvSpPr>
            <a:spLocks noGrp="1"/>
          </p:cNvSpPr>
          <p:nvPr>
            <p:ph idx="1"/>
          </p:nvPr>
        </p:nvSpPr>
        <p:spPr>
          <a:xfrm>
            <a:off x="914399" y="1295399"/>
            <a:ext cx="9563101" cy="4962525"/>
          </a:xfrm>
        </p:spPr>
        <p:txBody>
          <a:bodyPr>
            <a:normAutofit/>
          </a:bodyPr>
          <a:lstStyle/>
          <a:p>
            <a:pPr marL="228600" indent="-228600">
              <a:spcBef>
                <a:spcPts val="1800"/>
              </a:spcBef>
            </a:pPr>
            <a:r>
              <a:rPr lang="en-US" sz="2000" b="0" dirty="0"/>
              <a:t>99% bound to plasma protein (albumin)</a:t>
            </a:r>
          </a:p>
          <a:p>
            <a:pPr marL="228600" indent="-228600">
              <a:spcBef>
                <a:spcPts val="1800"/>
              </a:spcBef>
            </a:pPr>
            <a:r>
              <a:rPr lang="en-US" sz="2000" b="0" dirty="0"/>
              <a:t>Long elimination half-life (</a:t>
            </a:r>
            <a:r>
              <a:rPr lang="en-US" sz="2000" b="0" dirty="0" err="1"/>
              <a:t>e.g</a:t>
            </a:r>
            <a:r>
              <a:rPr lang="en-US" sz="2000" b="0" dirty="0"/>
              <a:t> 36 hours)</a:t>
            </a:r>
          </a:p>
          <a:p>
            <a:pPr marL="228600" indent="-228600">
              <a:spcBef>
                <a:spcPts val="1800"/>
              </a:spcBef>
            </a:pPr>
            <a:r>
              <a:rPr lang="en-US" sz="2000" b="0" dirty="0"/>
              <a:t>Hydroxylated by the CYP-450 </a:t>
            </a:r>
            <a:r>
              <a:rPr lang="en-US" sz="2000" b="0" dirty="0">
                <a:solidFill>
                  <a:schemeClr val="tx1"/>
                </a:solidFill>
              </a:rPr>
              <a:t>system, renal elimination  </a:t>
            </a:r>
          </a:p>
          <a:p>
            <a:pPr marL="228600" indent="-228600">
              <a:spcBef>
                <a:spcPts val="1800"/>
              </a:spcBef>
            </a:pPr>
            <a:r>
              <a:rPr lang="en-US" sz="2000" b="0" dirty="0"/>
              <a:t>Monitoring: PT/</a:t>
            </a:r>
            <a:r>
              <a:rPr lang="en-US" sz="2000" b="1" dirty="0"/>
              <a:t>INR </a:t>
            </a:r>
          </a:p>
          <a:p>
            <a:pPr marL="457200" lvl="1" indent="-228600">
              <a:buSzPct val="80000"/>
            </a:pPr>
            <a:r>
              <a:rPr lang="en-US" sz="2000" b="0" dirty="0"/>
              <a:t>The decrease in II, VII, IX, X (particularly VII) prolongs the prothrombin time (PT). The International Normalized Ratio (INR) is a ratio of the patient’s PT to a control sample. </a:t>
            </a:r>
          </a:p>
          <a:p>
            <a:pPr marL="457200" lvl="1" indent="-228600">
              <a:buSzPct val="80000"/>
            </a:pPr>
            <a:r>
              <a:rPr lang="en-US" sz="2000" kern="0" dirty="0">
                <a:solidFill>
                  <a:srgbClr val="000000"/>
                </a:solidFill>
                <a:effectLst/>
                <a:ea typeface="Times New Roman" panose="02020603050405020304" pitchFamily="18" charset="0"/>
                <a:cs typeface="Times New Roman" panose="02020603050405020304" pitchFamily="18" charset="0"/>
              </a:rPr>
              <a:t>Although INR tends to slowly increase in the first few days due to the short </a:t>
            </a:r>
            <a:br>
              <a:rPr lang="en-US" sz="2000" kern="0" dirty="0">
                <a:solidFill>
                  <a:srgbClr val="000000"/>
                </a:solidFill>
                <a:effectLst/>
                <a:ea typeface="Times New Roman" panose="02020603050405020304" pitchFamily="18" charset="0"/>
                <a:cs typeface="Times New Roman" panose="02020603050405020304" pitchFamily="18" charset="0"/>
              </a:rPr>
            </a:br>
            <a:r>
              <a:rPr lang="en-US" sz="2000" kern="0" dirty="0">
                <a:solidFill>
                  <a:srgbClr val="000000"/>
                </a:solidFill>
                <a:effectLst/>
                <a:ea typeface="Times New Roman" panose="02020603050405020304" pitchFamily="18" charset="0"/>
                <a:cs typeface="Times New Roman" panose="02020603050405020304" pitchFamily="18" charset="0"/>
              </a:rPr>
              <a:t>half-life of factor VII (4-6 hours), full therapeutic effect does not typically </a:t>
            </a:r>
            <a:br>
              <a:rPr lang="en-US" sz="2000" kern="0" dirty="0">
                <a:solidFill>
                  <a:srgbClr val="000000"/>
                </a:solidFill>
                <a:effectLst/>
                <a:ea typeface="Times New Roman" panose="02020603050405020304" pitchFamily="18" charset="0"/>
                <a:cs typeface="Times New Roman" panose="02020603050405020304" pitchFamily="18" charset="0"/>
              </a:rPr>
            </a:br>
            <a:r>
              <a:rPr lang="en-US" sz="2000" kern="0" dirty="0">
                <a:solidFill>
                  <a:srgbClr val="000000"/>
                </a:solidFill>
                <a:effectLst/>
                <a:ea typeface="Times New Roman" panose="02020603050405020304" pitchFamily="18" charset="0"/>
                <a:cs typeface="Times New Roman" panose="02020603050405020304" pitchFamily="18" charset="0"/>
              </a:rPr>
              <a:t>occur for 3 days due to the long half-life of factor II</a:t>
            </a:r>
            <a:r>
              <a:rPr lang="en-US" sz="20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228600" indent="-219075">
              <a:spcBef>
                <a:spcPts val="1800"/>
              </a:spcBef>
            </a:pPr>
            <a:r>
              <a:rPr lang="en-US" sz="2000" b="0" dirty="0"/>
              <a:t>Need to start an agent that works quickly (e.g., UFH or LMWH) </a:t>
            </a:r>
            <a:br>
              <a:rPr lang="en-US" sz="2000" b="0" dirty="0"/>
            </a:br>
            <a:r>
              <a:rPr lang="en-US" sz="2000" b="0" dirty="0"/>
              <a:t>until full effect</a:t>
            </a:r>
          </a:p>
        </p:txBody>
      </p:sp>
      <p:sp>
        <p:nvSpPr>
          <p:cNvPr id="5" name="Rectangle 4"/>
          <p:cNvSpPr/>
          <p:nvPr/>
        </p:nvSpPr>
        <p:spPr>
          <a:xfrm>
            <a:off x="7643980" y="5898922"/>
            <a:ext cx="4376570" cy="215444"/>
          </a:xfrm>
          <a:prstGeom prst="rect">
            <a:avLst/>
          </a:prstGeom>
        </p:spPr>
        <p:txBody>
          <a:bodyPr wrap="square">
            <a:spAutoFit/>
          </a:bodyPr>
          <a:lstStyle/>
          <a:p>
            <a:r>
              <a:rPr lang="en-US" sz="800" dirty="0"/>
              <a:t>Source: Jones DR, et al. </a:t>
            </a:r>
            <a:r>
              <a:rPr lang="da-DK" sz="800" dirty="0"/>
              <a:t>Drug Metab Rev. 2010 Feb;42(1):55-61. doi: 10.3109/03602530903209395. </a:t>
            </a:r>
            <a:endParaRPr lang="en-US" sz="800" dirty="0"/>
          </a:p>
        </p:txBody>
      </p:sp>
    </p:spTree>
    <p:extLst>
      <p:ext uri="{BB962C8B-B14F-4D97-AF65-F5344CB8AC3E}">
        <p14:creationId xmlns:p14="http://schemas.microsoft.com/office/powerpoint/2010/main" val="31636837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399" y="167892"/>
            <a:ext cx="10389241" cy="670308"/>
          </a:xfrm>
        </p:spPr>
        <p:txBody>
          <a:bodyPr/>
          <a:lstStyle/>
          <a:p>
            <a:r>
              <a:rPr lang="en-US" dirty="0"/>
              <a:t>Warfarin Pitfalls</a:t>
            </a:r>
          </a:p>
        </p:txBody>
      </p:sp>
      <p:sp>
        <p:nvSpPr>
          <p:cNvPr id="8" name="Content Placeholder 7"/>
          <p:cNvSpPr>
            <a:spLocks noGrp="1"/>
          </p:cNvSpPr>
          <p:nvPr>
            <p:ph idx="1"/>
          </p:nvPr>
        </p:nvSpPr>
        <p:spPr>
          <a:xfrm>
            <a:off x="914400" y="1127402"/>
            <a:ext cx="9010650" cy="5100361"/>
          </a:xfrm>
        </p:spPr>
        <p:txBody>
          <a:bodyPr>
            <a:normAutofit/>
          </a:bodyPr>
          <a:lstStyle/>
          <a:p>
            <a:pPr marL="171450" indent="-171450">
              <a:spcBef>
                <a:spcPts val="800"/>
              </a:spcBef>
              <a:spcAft>
                <a:spcPts val="300"/>
              </a:spcAft>
            </a:pPr>
            <a:r>
              <a:rPr lang="en-US" sz="2000" b="0" dirty="0"/>
              <a:t>Patient variability in dosing requirements</a:t>
            </a:r>
          </a:p>
          <a:p>
            <a:pPr marL="171450" indent="-171450">
              <a:spcBef>
                <a:spcPts val="1200"/>
              </a:spcBef>
              <a:spcAft>
                <a:spcPts val="300"/>
              </a:spcAft>
            </a:pPr>
            <a:r>
              <a:rPr lang="en-US" sz="2000" b="0" kern="1200" dirty="0">
                <a:solidFill>
                  <a:schemeClr val="tx1"/>
                </a:solidFill>
              </a:rPr>
              <a:t>Genetic variation in the </a:t>
            </a:r>
            <a:r>
              <a:rPr lang="en-US" sz="2000" b="0" i="1" kern="1200" dirty="0">
                <a:solidFill>
                  <a:schemeClr val="tx1"/>
                </a:solidFill>
              </a:rPr>
              <a:t>VKORC1</a:t>
            </a:r>
            <a:r>
              <a:rPr lang="en-US" sz="2000" b="0" kern="1200" dirty="0">
                <a:solidFill>
                  <a:schemeClr val="tx1"/>
                </a:solidFill>
              </a:rPr>
              <a:t> gene</a:t>
            </a:r>
          </a:p>
          <a:p>
            <a:pPr marL="342900" lvl="1" indent="-171450">
              <a:spcBef>
                <a:spcPts val="0"/>
              </a:spcBef>
              <a:spcAft>
                <a:spcPts val="300"/>
              </a:spcAft>
              <a:buSzPct val="80000"/>
            </a:pPr>
            <a:r>
              <a:rPr lang="en-US" sz="2000" b="0" kern="1200" dirty="0">
                <a:solidFill>
                  <a:schemeClr val="tx1"/>
                </a:solidFill>
              </a:rPr>
              <a:t>Associated with ~ 25–30% of the variance in warfarin maintenance dose</a:t>
            </a:r>
            <a:r>
              <a:rPr lang="en-US" sz="2000" kern="1200" dirty="0">
                <a:solidFill>
                  <a:schemeClr val="tx1"/>
                </a:solidFill>
              </a:rPr>
              <a:t> </a:t>
            </a:r>
            <a:endParaRPr lang="en-US" sz="2000" b="0" kern="1200" dirty="0">
              <a:solidFill>
                <a:schemeClr val="tx1"/>
              </a:solidFill>
            </a:endParaRPr>
          </a:p>
          <a:p>
            <a:pPr marL="171450" indent="-171450">
              <a:spcBef>
                <a:spcPts val="1200"/>
              </a:spcBef>
              <a:spcAft>
                <a:spcPts val="300"/>
              </a:spcAft>
            </a:pPr>
            <a:r>
              <a:rPr lang="en-US" sz="2000" b="0" dirty="0"/>
              <a:t>Frequent INR monitoring</a:t>
            </a:r>
          </a:p>
          <a:p>
            <a:pPr marL="171450" indent="-171450">
              <a:spcBef>
                <a:spcPts val="1200"/>
              </a:spcBef>
              <a:spcAft>
                <a:spcPts val="300"/>
              </a:spcAft>
            </a:pPr>
            <a:r>
              <a:rPr lang="en-US" sz="2000" b="0" dirty="0"/>
              <a:t>Food interactions</a:t>
            </a:r>
          </a:p>
          <a:p>
            <a:pPr marL="342900" lvl="1" indent="-171450">
              <a:spcBef>
                <a:spcPts val="0"/>
              </a:spcBef>
              <a:spcAft>
                <a:spcPts val="300"/>
              </a:spcAft>
              <a:buSzPct val="80000"/>
              <a:tabLst>
                <a:tab pos="114300" algn="l"/>
              </a:tabLst>
            </a:pPr>
            <a:r>
              <a:rPr lang="en-US" sz="2000" b="1" dirty="0"/>
              <a:t>E.g., green leafy veggies (vitamin K): </a:t>
            </a:r>
            <a:r>
              <a:rPr lang="en-US" sz="2000" dirty="0"/>
              <a:t>i</a:t>
            </a:r>
            <a:r>
              <a:rPr lang="en-US" sz="2000" kern="0" dirty="0">
                <a:solidFill>
                  <a:srgbClr val="000000"/>
                </a:solidFill>
                <a:effectLst/>
                <a:highlight>
                  <a:srgbClr val="FFFFFF"/>
                </a:highlight>
                <a:ea typeface="Times New Roman" panose="02020603050405020304" pitchFamily="18" charset="0"/>
                <a:cs typeface="Times New Roman" panose="02020603050405020304" pitchFamily="18" charset="0"/>
              </a:rPr>
              <a:t>ncrease in dietary vitamin K increases </a:t>
            </a:r>
            <a:br>
              <a:rPr lang="en-US" sz="2000" kern="0" dirty="0">
                <a:solidFill>
                  <a:srgbClr val="000000"/>
                </a:solidFill>
                <a:effectLst/>
                <a:highlight>
                  <a:srgbClr val="FFFFFF"/>
                </a:highlight>
                <a:ea typeface="Times New Roman" panose="02020603050405020304" pitchFamily="18" charset="0"/>
                <a:cs typeface="Times New Roman" panose="02020603050405020304" pitchFamily="18" charset="0"/>
              </a:rPr>
            </a:br>
            <a:r>
              <a:rPr lang="en-US" sz="2000" kern="0" dirty="0">
                <a:solidFill>
                  <a:srgbClr val="000000"/>
                </a:solidFill>
                <a:effectLst/>
                <a:highlight>
                  <a:srgbClr val="FFFFFF"/>
                </a:highlight>
                <a:ea typeface="Times New Roman" panose="02020603050405020304" pitchFamily="18" charset="0"/>
                <a:cs typeface="Times New Roman" panose="02020603050405020304" pitchFamily="18" charset="0"/>
              </a:rPr>
              <a:t>the availability of vitamin K in the liver, which counters the inhibitory effect of warfarin on epoxide reductase. </a:t>
            </a:r>
            <a:endParaRPr lang="en-US" sz="2000" b="0" dirty="0"/>
          </a:p>
          <a:p>
            <a:pPr marL="171450" indent="-171450">
              <a:spcBef>
                <a:spcPts val="1200"/>
              </a:spcBef>
              <a:spcAft>
                <a:spcPts val="300"/>
              </a:spcAft>
            </a:pPr>
            <a:r>
              <a:rPr lang="en-US" sz="2000" b="0" dirty="0"/>
              <a:t>Drug interactions, over-the-counter medications, alcohol</a:t>
            </a:r>
          </a:p>
          <a:p>
            <a:pPr marL="171450" indent="-171450">
              <a:spcBef>
                <a:spcPts val="1200"/>
              </a:spcBef>
            </a:pPr>
            <a:r>
              <a:rPr lang="en-US" sz="2000" b="0" dirty="0"/>
              <a:t>Contraindicated in pregnancy</a:t>
            </a:r>
            <a:r>
              <a:rPr lang="en-US" sz="2000" b="0" dirty="0">
                <a:sym typeface="Wingdings" panose="05000000000000000000" pitchFamily="2" charset="2"/>
              </a:rPr>
              <a:t> </a:t>
            </a:r>
            <a:r>
              <a:rPr lang="en-US" sz="2000" b="0" kern="1200" dirty="0">
                <a:solidFill>
                  <a:schemeClr val="tx1"/>
                </a:solidFill>
              </a:rPr>
              <a:t>crosses placenta; hemorrhagic disorder in the fetus</a:t>
            </a:r>
          </a:p>
          <a:p>
            <a:pPr marL="171450" indent="-171450">
              <a:spcBef>
                <a:spcPts val="1200"/>
              </a:spcBef>
            </a:pPr>
            <a:r>
              <a:rPr lang="en-US" sz="2000" b="0" kern="1200" dirty="0">
                <a:solidFill>
                  <a:schemeClr val="tx1"/>
                </a:solidFill>
              </a:rPr>
              <a:t>Adverse effects: microvascular thrombosis and skin necrosis</a:t>
            </a:r>
          </a:p>
        </p:txBody>
      </p:sp>
    </p:spTree>
    <p:extLst>
      <p:ext uri="{BB962C8B-B14F-4D97-AF65-F5344CB8AC3E}">
        <p14:creationId xmlns:p14="http://schemas.microsoft.com/office/powerpoint/2010/main" val="33940558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49413A8-3E9D-8646-FE99-2A75DCDEB000}"/>
              </a:ext>
            </a:extLst>
          </p:cNvPr>
          <p:cNvSpPr/>
          <p:nvPr/>
        </p:nvSpPr>
        <p:spPr>
          <a:xfrm>
            <a:off x="7029450" y="3352800"/>
            <a:ext cx="5162550" cy="287496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914399" y="167892"/>
            <a:ext cx="10389241" cy="670308"/>
          </a:xfrm>
        </p:spPr>
        <p:txBody>
          <a:bodyPr/>
          <a:lstStyle/>
          <a:p>
            <a:r>
              <a:rPr lang="en-US" dirty="0"/>
              <a:t>Selected Drug Interactions</a:t>
            </a:r>
          </a:p>
        </p:txBody>
      </p:sp>
      <p:sp>
        <p:nvSpPr>
          <p:cNvPr id="8" name="Content Placeholder 7"/>
          <p:cNvSpPr>
            <a:spLocks noGrp="1"/>
          </p:cNvSpPr>
          <p:nvPr>
            <p:ph idx="1"/>
          </p:nvPr>
        </p:nvSpPr>
        <p:spPr/>
        <p:txBody>
          <a:bodyPr>
            <a:normAutofit/>
          </a:bodyPr>
          <a:lstStyle/>
          <a:p>
            <a:endParaRPr lang="en-US" dirty="0"/>
          </a:p>
          <a:p>
            <a:endParaRPr lang="en-US" dirty="0"/>
          </a:p>
        </p:txBody>
      </p:sp>
      <p:graphicFrame>
        <p:nvGraphicFramePr>
          <p:cNvPr id="2" name="Table 1">
            <a:extLst>
              <a:ext uri="{FF2B5EF4-FFF2-40B4-BE49-F238E27FC236}">
                <a16:creationId xmlns:a16="http://schemas.microsoft.com/office/drawing/2014/main" id="{5F04CFB4-B282-6972-0086-0FC9D390D3C6}"/>
              </a:ext>
            </a:extLst>
          </p:cNvPr>
          <p:cNvGraphicFramePr>
            <a:graphicFrameLocks noGrp="1"/>
          </p:cNvGraphicFramePr>
          <p:nvPr>
            <p:extLst>
              <p:ext uri="{D42A27DB-BD31-4B8C-83A1-F6EECF244321}">
                <p14:modId xmlns:p14="http://schemas.microsoft.com/office/powerpoint/2010/main" val="2104711606"/>
              </p:ext>
            </p:extLst>
          </p:nvPr>
        </p:nvGraphicFramePr>
        <p:xfrm>
          <a:off x="1020192" y="1009715"/>
          <a:ext cx="10129022" cy="4945608"/>
        </p:xfrm>
        <a:graphic>
          <a:graphicData uri="http://schemas.openxmlformats.org/drawingml/2006/table">
            <a:tbl>
              <a:tblPr firstRow="1" firstCol="1" bandRow="1">
                <a:tableStyleId>{5C22544A-7EE6-4342-B048-85BDC9FD1C3A}</a:tableStyleId>
              </a:tblPr>
              <a:tblGrid>
                <a:gridCol w="2704083">
                  <a:extLst>
                    <a:ext uri="{9D8B030D-6E8A-4147-A177-3AD203B41FA5}">
                      <a16:colId xmlns:a16="http://schemas.microsoft.com/office/drawing/2014/main" val="1691458175"/>
                    </a:ext>
                  </a:extLst>
                </a:gridCol>
                <a:gridCol w="7424939">
                  <a:extLst>
                    <a:ext uri="{9D8B030D-6E8A-4147-A177-3AD203B41FA5}">
                      <a16:colId xmlns:a16="http://schemas.microsoft.com/office/drawing/2014/main" val="1339653229"/>
                    </a:ext>
                  </a:extLst>
                </a:gridCol>
              </a:tblGrid>
              <a:tr h="535943">
                <a:tc gridSpan="2">
                  <a:txBody>
                    <a:bodyPr/>
                    <a:lstStyle/>
                    <a:p>
                      <a:pPr marL="228600" marR="0" indent="0" algn="l">
                        <a:lnSpc>
                          <a:spcPct val="107000"/>
                        </a:lnSpc>
                        <a:spcBef>
                          <a:spcPts val="0"/>
                        </a:spcBef>
                        <a:spcAft>
                          <a:spcPts val="750"/>
                        </a:spcAft>
                      </a:pPr>
                      <a:r>
                        <a:rPr lang="en-US" sz="1800" kern="0" dirty="0">
                          <a:solidFill>
                            <a:srgbClr val="F5F5F5"/>
                          </a:solidFill>
                          <a:effectLst/>
                        </a:rPr>
                        <a:t>Drugs/supplements that affect warfarin metabolism (selected)</a:t>
                      </a:r>
                      <a:endParaRPr lang="en-US" sz="1800" kern="100" dirty="0">
                        <a:solidFill>
                          <a:srgbClr val="F5F5F5"/>
                        </a:solidFill>
                        <a:effectLst/>
                        <a:latin typeface="Aptos" panose="020B0004020202020204" pitchFamily="34" charset="0"/>
                        <a:ea typeface="Aptos" panose="020B0004020202020204" pitchFamily="34" charset="0"/>
                        <a:cs typeface="Times New Roman" panose="02020603050405020304" pitchFamily="18" charset="0"/>
                      </a:endParaRPr>
                    </a:p>
                  </a:txBody>
                  <a:tcPr marL="47625" marR="47625" marT="47625" marB="47625" anchor="ctr">
                    <a:lnB w="12700" cap="flat" cmpd="sng" algn="ctr">
                      <a:noFill/>
                      <a:prstDash val="solid"/>
                      <a:round/>
                      <a:headEnd type="none" w="med" len="med"/>
                      <a:tailEnd type="none" w="med" len="med"/>
                    </a:lnB>
                    <a:solidFill>
                      <a:schemeClr val="tx2"/>
                    </a:solidFill>
                  </a:tcPr>
                </a:tc>
                <a:tc hMerge="1">
                  <a:txBody>
                    <a:bodyPr/>
                    <a:lstStyle/>
                    <a:p>
                      <a:endParaRPr lang="en-US"/>
                    </a:p>
                  </a:txBody>
                  <a:tcPr/>
                </a:tc>
                <a:extLst>
                  <a:ext uri="{0D108BD9-81ED-4DB2-BD59-A6C34878D82A}">
                    <a16:rowId xmlns:a16="http://schemas.microsoft.com/office/drawing/2014/main" val="1060640053"/>
                  </a:ext>
                </a:extLst>
              </a:tr>
              <a:tr h="1613916">
                <a:tc>
                  <a:txBody>
                    <a:bodyPr/>
                    <a:lstStyle/>
                    <a:p>
                      <a:pPr marL="0" marR="0" algn="l">
                        <a:lnSpc>
                          <a:spcPts val="1700"/>
                        </a:lnSpc>
                        <a:spcBef>
                          <a:spcPts val="0"/>
                        </a:spcBef>
                        <a:spcAft>
                          <a:spcPts val="600"/>
                        </a:spcAft>
                      </a:pPr>
                      <a:r>
                        <a:rPr lang="en-US" sz="1800" kern="0" dirty="0">
                          <a:solidFill>
                            <a:srgbClr val="FFFFFF"/>
                          </a:solidFill>
                          <a:effectLst/>
                        </a:rPr>
                        <a:t>CYP450 </a:t>
                      </a:r>
                      <a:r>
                        <a:rPr lang="en-US" sz="1800" u="sng" kern="0" dirty="0">
                          <a:solidFill>
                            <a:srgbClr val="FFFFFF"/>
                          </a:solidFill>
                          <a:effectLst/>
                        </a:rPr>
                        <a:t>Inhibitors</a:t>
                      </a:r>
                      <a:endParaRPr lang="en-US" sz="1800" kern="100" dirty="0">
                        <a:solidFill>
                          <a:srgbClr val="FFFFFF"/>
                        </a:solidFill>
                        <a:effectLst/>
                      </a:endParaRPr>
                    </a:p>
                    <a:p>
                      <a:pPr marL="0" marR="0" algn="l">
                        <a:lnSpc>
                          <a:spcPts val="1700"/>
                        </a:lnSpc>
                        <a:spcBef>
                          <a:spcPts val="0"/>
                        </a:spcBef>
                        <a:spcAft>
                          <a:spcPts val="600"/>
                        </a:spcAft>
                      </a:pPr>
                      <a:r>
                        <a:rPr lang="en-US" sz="1800" kern="0" dirty="0">
                          <a:solidFill>
                            <a:srgbClr val="FFFFFF"/>
                          </a:solidFill>
                          <a:effectLst/>
                        </a:rPr>
                        <a:t>↑ Warfarin effect</a:t>
                      </a:r>
                      <a:endParaRPr lang="en-US" sz="1800" kern="100" dirty="0">
                        <a:solidFill>
                          <a:srgbClr val="FFFFFF"/>
                        </a:solidFill>
                        <a:effectLst/>
                      </a:endParaRPr>
                    </a:p>
                    <a:p>
                      <a:pPr marL="0" marR="0" algn="l">
                        <a:lnSpc>
                          <a:spcPts val="1700"/>
                        </a:lnSpc>
                        <a:spcBef>
                          <a:spcPts val="0"/>
                        </a:spcBef>
                        <a:spcAft>
                          <a:spcPts val="600"/>
                        </a:spcAft>
                      </a:pPr>
                      <a:r>
                        <a:rPr lang="en-US" sz="1800" kern="0" dirty="0">
                          <a:solidFill>
                            <a:srgbClr val="FFFFFF"/>
                          </a:solidFill>
                          <a:effectLst/>
                        </a:rPr>
                        <a:t>(↑ bleeding risk)</a:t>
                      </a:r>
                      <a:endParaRPr lang="en-US" sz="1800"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a:txBody>
                  <a:tcPr marL="274320"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tx1">
                        <a:lumMod val="65000"/>
                        <a:lumOff val="35000"/>
                      </a:schemeClr>
                    </a:solidFill>
                  </a:tcPr>
                </a:tc>
                <a:tc>
                  <a:txBody>
                    <a:bodyPr/>
                    <a:lstStyle/>
                    <a:p>
                      <a:pPr marL="171450" marR="0" lvl="0" indent="-171450">
                        <a:lnSpc>
                          <a:spcPct val="100000"/>
                        </a:lnSpc>
                        <a:spcBef>
                          <a:spcPts val="0"/>
                        </a:spcBef>
                        <a:spcAft>
                          <a:spcPts val="0"/>
                        </a:spcAft>
                        <a:buSzPts val="1000"/>
                        <a:buFont typeface="Symbol" panose="05050102010706020507" pitchFamily="18" charset="2"/>
                        <a:buChar char=""/>
                        <a:tabLst>
                          <a:tab pos="457200" algn="l"/>
                        </a:tabLst>
                      </a:pPr>
                      <a:r>
                        <a:rPr lang="en-US" sz="1600" kern="0" dirty="0">
                          <a:effectLst/>
                        </a:rPr>
                        <a:t>Antibiotics (e.g., metronidazole, macrolides)</a:t>
                      </a:r>
                      <a:endParaRPr lang="en-US" sz="1600" kern="100" dirty="0">
                        <a:effectLst/>
                      </a:endParaRPr>
                    </a:p>
                    <a:p>
                      <a:pPr marL="171450" marR="0" lvl="0" indent="-171450">
                        <a:lnSpc>
                          <a:spcPct val="100000"/>
                        </a:lnSpc>
                        <a:spcBef>
                          <a:spcPts val="0"/>
                        </a:spcBef>
                        <a:spcAft>
                          <a:spcPts val="0"/>
                        </a:spcAft>
                        <a:buSzPts val="1000"/>
                        <a:buFont typeface="Symbol" panose="05050102010706020507" pitchFamily="18" charset="2"/>
                        <a:buChar char=""/>
                        <a:tabLst>
                          <a:tab pos="457200" algn="l"/>
                        </a:tabLst>
                      </a:pPr>
                      <a:r>
                        <a:rPr lang="en-US" sz="1600" kern="0" dirty="0">
                          <a:effectLst/>
                        </a:rPr>
                        <a:t>Azole antifungals</a:t>
                      </a:r>
                      <a:endParaRPr lang="en-US" sz="1600" kern="100" dirty="0">
                        <a:effectLst/>
                      </a:endParaRPr>
                    </a:p>
                    <a:p>
                      <a:pPr marL="171450" marR="0" lvl="0" indent="-171450">
                        <a:lnSpc>
                          <a:spcPct val="100000"/>
                        </a:lnSpc>
                        <a:spcBef>
                          <a:spcPts val="0"/>
                        </a:spcBef>
                        <a:spcAft>
                          <a:spcPts val="0"/>
                        </a:spcAft>
                        <a:buSzPts val="1000"/>
                        <a:buFont typeface="Symbol" panose="05050102010706020507" pitchFamily="18" charset="2"/>
                        <a:buChar char=""/>
                        <a:tabLst>
                          <a:tab pos="457200" algn="l"/>
                        </a:tabLst>
                      </a:pPr>
                      <a:r>
                        <a:rPr lang="en-US" sz="1600" kern="0" dirty="0">
                          <a:effectLst/>
                        </a:rPr>
                        <a:t>Amiodarone</a:t>
                      </a:r>
                      <a:endParaRPr lang="en-US" sz="1600" kern="100" dirty="0">
                        <a:effectLst/>
                      </a:endParaRPr>
                    </a:p>
                    <a:p>
                      <a:pPr marL="171450" marR="0" lvl="0" indent="-171450">
                        <a:lnSpc>
                          <a:spcPct val="100000"/>
                        </a:lnSpc>
                        <a:spcBef>
                          <a:spcPts val="0"/>
                        </a:spcBef>
                        <a:spcAft>
                          <a:spcPts val="0"/>
                        </a:spcAft>
                        <a:buSzPts val="1000"/>
                        <a:buFont typeface="Symbol" panose="05050102010706020507" pitchFamily="18" charset="2"/>
                        <a:buChar char=""/>
                        <a:tabLst>
                          <a:tab pos="457200" algn="l"/>
                        </a:tabLst>
                      </a:pPr>
                      <a:r>
                        <a:rPr lang="en-US" sz="1600" kern="0" dirty="0">
                          <a:effectLst/>
                        </a:rPr>
                        <a:t>Cimetidine</a:t>
                      </a:r>
                      <a:endParaRPr lang="en-US" sz="1600" kern="100" dirty="0">
                        <a:effectLst/>
                      </a:endParaRPr>
                    </a:p>
                    <a:p>
                      <a:pPr marL="171450" marR="0" lvl="0" indent="-171450">
                        <a:lnSpc>
                          <a:spcPct val="100000"/>
                        </a:lnSpc>
                        <a:spcBef>
                          <a:spcPts val="0"/>
                        </a:spcBef>
                        <a:spcAft>
                          <a:spcPts val="0"/>
                        </a:spcAft>
                        <a:buSzPts val="1000"/>
                        <a:buFont typeface="Symbol" panose="05050102010706020507" pitchFamily="18" charset="2"/>
                        <a:buChar char=""/>
                        <a:tabLst>
                          <a:tab pos="457200" algn="l"/>
                        </a:tabLst>
                      </a:pPr>
                      <a:r>
                        <a:rPr lang="en-US" sz="1600" kern="0" dirty="0">
                          <a:effectLst/>
                        </a:rPr>
                        <a:t>Grapefruit juice</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82880" marR="0" marT="91440" marB="9144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56894170"/>
                  </a:ext>
                </a:extLst>
              </a:tr>
              <a:tr h="1729960">
                <a:tc>
                  <a:txBody>
                    <a:bodyPr/>
                    <a:lstStyle/>
                    <a:p>
                      <a:pPr marL="0" marR="0" algn="l">
                        <a:lnSpc>
                          <a:spcPts val="1700"/>
                        </a:lnSpc>
                        <a:spcBef>
                          <a:spcPts val="0"/>
                        </a:spcBef>
                        <a:spcAft>
                          <a:spcPts val="600"/>
                        </a:spcAft>
                      </a:pPr>
                      <a:r>
                        <a:rPr lang="en-US" sz="1800" kern="0" dirty="0">
                          <a:solidFill>
                            <a:srgbClr val="FFFFFF"/>
                          </a:solidFill>
                          <a:effectLst/>
                          <a:latin typeface="+mn-lt"/>
                        </a:rPr>
                        <a:t>CYP450 </a:t>
                      </a:r>
                      <a:r>
                        <a:rPr lang="en-US" sz="1800" u="sng" kern="0" dirty="0">
                          <a:solidFill>
                            <a:srgbClr val="FFFFFF"/>
                          </a:solidFill>
                          <a:effectLst/>
                          <a:latin typeface="+mn-lt"/>
                        </a:rPr>
                        <a:t>Inducers</a:t>
                      </a:r>
                      <a:endParaRPr lang="en-US" sz="1800" kern="100" dirty="0">
                        <a:solidFill>
                          <a:srgbClr val="FFFFFF"/>
                        </a:solidFill>
                        <a:effectLst/>
                        <a:latin typeface="+mn-lt"/>
                      </a:endParaRPr>
                    </a:p>
                    <a:p>
                      <a:pPr marL="0" marR="0" algn="l">
                        <a:lnSpc>
                          <a:spcPts val="1700"/>
                        </a:lnSpc>
                        <a:spcBef>
                          <a:spcPts val="0"/>
                        </a:spcBef>
                        <a:spcAft>
                          <a:spcPts val="600"/>
                        </a:spcAft>
                      </a:pPr>
                      <a:r>
                        <a:rPr lang="en-US" sz="1800" kern="0" dirty="0">
                          <a:solidFill>
                            <a:srgbClr val="FFFFFF"/>
                          </a:solidFill>
                          <a:effectLst/>
                          <a:latin typeface="+mn-lt"/>
                        </a:rPr>
                        <a:t>↓ Warfarin effect</a:t>
                      </a:r>
                      <a:endParaRPr lang="en-US" sz="1800" kern="100" dirty="0">
                        <a:solidFill>
                          <a:srgbClr val="FFFFFF"/>
                        </a:solidFill>
                        <a:effectLst/>
                        <a:latin typeface="+mn-lt"/>
                      </a:endParaRPr>
                    </a:p>
                    <a:p>
                      <a:pPr marL="0" marR="0" algn="l">
                        <a:lnSpc>
                          <a:spcPts val="1700"/>
                        </a:lnSpc>
                        <a:spcBef>
                          <a:spcPts val="0"/>
                        </a:spcBef>
                        <a:spcAft>
                          <a:spcPts val="600"/>
                        </a:spcAft>
                      </a:pPr>
                      <a:r>
                        <a:rPr lang="en-US" sz="1800" kern="0" dirty="0">
                          <a:solidFill>
                            <a:srgbClr val="FFFFFF"/>
                          </a:solidFill>
                          <a:effectLst/>
                          <a:latin typeface="+mn-lt"/>
                        </a:rPr>
                        <a:t>(↓ in efficacy)</a:t>
                      </a:r>
                      <a:endParaRPr lang="en-US" sz="1800" kern="100" dirty="0">
                        <a:solidFill>
                          <a:srgbClr val="FFFFFF"/>
                        </a:solidFill>
                        <a:effectLst/>
                        <a:latin typeface="+mn-lt"/>
                        <a:ea typeface="Aptos" panose="020B0004020202020204" pitchFamily="34" charset="0"/>
                        <a:cs typeface="Times New Roman" panose="02020603050405020304" pitchFamily="18" charset="0"/>
                      </a:endParaRPr>
                    </a:p>
                  </a:txBody>
                  <a:tcPr marL="274320"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696969"/>
                    </a:solidFill>
                  </a:tcPr>
                </a:tc>
                <a:tc>
                  <a:txBody>
                    <a:bodyPr/>
                    <a:lstStyle/>
                    <a:p>
                      <a:pPr marL="171450" marR="0" lvl="0" indent="-171450" algn="l" defTabSz="457167" rtl="0" eaLnBrk="1" latinLnBrk="0" hangingPunct="1">
                        <a:lnSpc>
                          <a:spcPct val="100000"/>
                        </a:lnSpc>
                        <a:spcBef>
                          <a:spcPts val="0"/>
                        </a:spcBef>
                        <a:spcAft>
                          <a:spcPts val="0"/>
                        </a:spcAft>
                        <a:buSzPts val="1000"/>
                        <a:buFont typeface="Symbol" panose="05050102010706020507" pitchFamily="18" charset="2"/>
                        <a:buChar char=""/>
                        <a:tabLst>
                          <a:tab pos="457200" algn="l"/>
                        </a:tabLst>
                      </a:pPr>
                      <a:r>
                        <a:rPr lang="en-US" sz="1600" kern="0" dirty="0">
                          <a:solidFill>
                            <a:schemeClr val="dk1"/>
                          </a:solidFill>
                          <a:effectLst/>
                          <a:latin typeface="+mn-lt"/>
                          <a:ea typeface="+mn-ea"/>
                          <a:cs typeface="+mn-cs"/>
                        </a:rPr>
                        <a:t>Carbamazepine</a:t>
                      </a:r>
                    </a:p>
                    <a:p>
                      <a:pPr marL="171450" marR="0" lvl="0" indent="-171450" algn="l" defTabSz="457167" rtl="0" eaLnBrk="1" latinLnBrk="0" hangingPunct="1">
                        <a:lnSpc>
                          <a:spcPct val="100000"/>
                        </a:lnSpc>
                        <a:spcBef>
                          <a:spcPts val="0"/>
                        </a:spcBef>
                        <a:spcAft>
                          <a:spcPts val="0"/>
                        </a:spcAft>
                        <a:buSzPts val="1000"/>
                        <a:buFont typeface="Symbol" panose="05050102010706020507" pitchFamily="18" charset="2"/>
                        <a:buChar char=""/>
                        <a:tabLst>
                          <a:tab pos="457200" algn="l"/>
                        </a:tabLst>
                      </a:pPr>
                      <a:r>
                        <a:rPr lang="en-US" sz="1600" kern="0" dirty="0">
                          <a:solidFill>
                            <a:schemeClr val="dk1"/>
                          </a:solidFill>
                          <a:effectLst/>
                          <a:latin typeface="+mn-lt"/>
                          <a:ea typeface="+mn-ea"/>
                          <a:cs typeface="+mn-cs"/>
                        </a:rPr>
                        <a:t>Phenytoin</a:t>
                      </a:r>
                    </a:p>
                    <a:p>
                      <a:pPr marL="171450" marR="0" lvl="0" indent="-171450" algn="l" defTabSz="457167" rtl="0" eaLnBrk="1" latinLnBrk="0" hangingPunct="1">
                        <a:lnSpc>
                          <a:spcPct val="100000"/>
                        </a:lnSpc>
                        <a:spcBef>
                          <a:spcPts val="0"/>
                        </a:spcBef>
                        <a:spcAft>
                          <a:spcPts val="0"/>
                        </a:spcAft>
                        <a:buSzPts val="1000"/>
                        <a:buFont typeface="Symbol" panose="05050102010706020507" pitchFamily="18" charset="2"/>
                        <a:buChar char=""/>
                        <a:tabLst>
                          <a:tab pos="457200" algn="l"/>
                        </a:tabLst>
                      </a:pPr>
                      <a:r>
                        <a:rPr lang="en-US" sz="1600" kern="0" dirty="0">
                          <a:solidFill>
                            <a:schemeClr val="dk1"/>
                          </a:solidFill>
                          <a:effectLst/>
                          <a:latin typeface="+mn-lt"/>
                          <a:ea typeface="+mn-ea"/>
                          <a:cs typeface="+mn-cs"/>
                        </a:rPr>
                        <a:t>Phenobarbital</a:t>
                      </a:r>
                    </a:p>
                    <a:p>
                      <a:pPr marL="171450" marR="0" lvl="0" indent="-171450" algn="l" defTabSz="457167" rtl="0" eaLnBrk="1" latinLnBrk="0" hangingPunct="1">
                        <a:lnSpc>
                          <a:spcPct val="100000"/>
                        </a:lnSpc>
                        <a:spcBef>
                          <a:spcPts val="0"/>
                        </a:spcBef>
                        <a:spcAft>
                          <a:spcPts val="0"/>
                        </a:spcAft>
                        <a:buSzPts val="1000"/>
                        <a:buFont typeface="Symbol" panose="05050102010706020507" pitchFamily="18" charset="2"/>
                        <a:buChar char=""/>
                        <a:tabLst>
                          <a:tab pos="457200" algn="l"/>
                        </a:tabLst>
                      </a:pPr>
                      <a:r>
                        <a:rPr lang="en-US" sz="1600" kern="0" dirty="0">
                          <a:solidFill>
                            <a:schemeClr val="dk1"/>
                          </a:solidFill>
                          <a:effectLst/>
                          <a:latin typeface="+mn-lt"/>
                          <a:ea typeface="+mn-ea"/>
                          <a:cs typeface="+mn-cs"/>
                        </a:rPr>
                        <a:t>Rifampin</a:t>
                      </a:r>
                    </a:p>
                    <a:p>
                      <a:pPr marL="171450" marR="0" lvl="0" indent="-171450" algn="l" defTabSz="457167" rtl="0" eaLnBrk="1" latinLnBrk="0" hangingPunct="1">
                        <a:lnSpc>
                          <a:spcPct val="100000"/>
                        </a:lnSpc>
                        <a:spcBef>
                          <a:spcPts val="0"/>
                        </a:spcBef>
                        <a:spcAft>
                          <a:spcPts val="0"/>
                        </a:spcAft>
                        <a:buSzPts val="1000"/>
                        <a:buFont typeface="Symbol" panose="05050102010706020507" pitchFamily="18" charset="2"/>
                        <a:buChar char=""/>
                        <a:tabLst>
                          <a:tab pos="457200" algn="l"/>
                        </a:tabLst>
                      </a:pPr>
                      <a:r>
                        <a:rPr lang="en-US" sz="1600" kern="0" dirty="0">
                          <a:solidFill>
                            <a:schemeClr val="dk1"/>
                          </a:solidFill>
                          <a:effectLst/>
                          <a:latin typeface="+mn-lt"/>
                          <a:ea typeface="+mn-ea"/>
                          <a:cs typeface="+mn-cs"/>
                        </a:rPr>
                        <a:t>St. John’s wort</a:t>
                      </a:r>
                    </a:p>
                  </a:txBody>
                  <a:tcPr marL="182880" marR="0" marT="91440" marB="9144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19542971"/>
                  </a:ext>
                </a:extLst>
              </a:tr>
              <a:tr h="1065789">
                <a:tc>
                  <a:txBody>
                    <a:bodyPr/>
                    <a:lstStyle/>
                    <a:p>
                      <a:pPr marL="0" marR="0" algn="l">
                        <a:lnSpc>
                          <a:spcPts val="1700"/>
                        </a:lnSpc>
                        <a:spcBef>
                          <a:spcPts val="0"/>
                        </a:spcBef>
                        <a:spcAft>
                          <a:spcPts val="600"/>
                        </a:spcAft>
                      </a:pPr>
                      <a:r>
                        <a:rPr lang="en-US" sz="1800" kern="100" dirty="0">
                          <a:solidFill>
                            <a:srgbClr val="FFFFFF"/>
                          </a:solidFill>
                          <a:effectLst/>
                          <a:latin typeface="+mn-lt"/>
                          <a:ea typeface="Aptos" panose="020B0004020202020204" pitchFamily="34" charset="0"/>
                          <a:cs typeface="Times New Roman" panose="02020603050405020304" pitchFamily="18" charset="0"/>
                        </a:rPr>
                        <a:t>Antibiotics </a:t>
                      </a:r>
                    </a:p>
                    <a:p>
                      <a:pPr marL="0" marR="0" algn="l">
                        <a:lnSpc>
                          <a:spcPts val="1700"/>
                        </a:lnSpc>
                        <a:spcBef>
                          <a:spcPts val="0"/>
                        </a:spcBef>
                        <a:spcAft>
                          <a:spcPts val="600"/>
                        </a:spcAft>
                      </a:pPr>
                      <a:r>
                        <a:rPr lang="en-US" sz="1800" kern="0" dirty="0">
                          <a:solidFill>
                            <a:srgbClr val="FFFFFF"/>
                          </a:solidFill>
                          <a:effectLst/>
                        </a:rPr>
                        <a:t>↑ Warfarin effect</a:t>
                      </a:r>
                      <a:endParaRPr lang="en-US" sz="1800" kern="100" dirty="0">
                        <a:solidFill>
                          <a:srgbClr val="FFFFFF"/>
                        </a:solidFill>
                        <a:effectLst/>
                      </a:endParaRPr>
                    </a:p>
                    <a:p>
                      <a:pPr marL="0" marR="0" algn="l">
                        <a:lnSpc>
                          <a:spcPts val="1700"/>
                        </a:lnSpc>
                        <a:spcBef>
                          <a:spcPts val="0"/>
                        </a:spcBef>
                        <a:spcAft>
                          <a:spcPts val="600"/>
                        </a:spcAft>
                      </a:pPr>
                      <a:r>
                        <a:rPr lang="en-US" sz="1800" kern="0" dirty="0">
                          <a:solidFill>
                            <a:srgbClr val="FFFFFF"/>
                          </a:solidFill>
                          <a:effectLst/>
                        </a:rPr>
                        <a:t>(↑ bleeding risk)</a:t>
                      </a:r>
                      <a:endParaRPr lang="en-US" sz="1800" kern="100" dirty="0">
                        <a:solidFill>
                          <a:srgbClr val="FFFFFF"/>
                        </a:solidFill>
                        <a:effectLst/>
                        <a:latin typeface="+mn-lt"/>
                        <a:ea typeface="Aptos" panose="020B0004020202020204" pitchFamily="34" charset="0"/>
                        <a:cs typeface="Times New Roman" panose="02020603050405020304" pitchFamily="18" charset="0"/>
                      </a:endParaRPr>
                    </a:p>
                  </a:txBody>
                  <a:tcPr marL="274320"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tx1">
                        <a:lumMod val="65000"/>
                        <a:lumOff val="35000"/>
                      </a:schemeClr>
                    </a:solidFill>
                  </a:tcPr>
                </a:tc>
                <a:tc>
                  <a:txBody>
                    <a:bodyPr/>
                    <a:lstStyle/>
                    <a:p>
                      <a:pPr marL="0">
                        <a:lnSpc>
                          <a:spcPts val="1700"/>
                        </a:lnSpc>
                      </a:pPr>
                      <a:r>
                        <a:rPr lang="en-US" sz="1600" kern="0" dirty="0">
                          <a:effectLst/>
                          <a:latin typeface="+mn-lt"/>
                          <a:ea typeface="Times New Roman" panose="02020603050405020304" pitchFamily="18" charset="0"/>
                        </a:rPr>
                        <a:t>Antibiotics that target gram-negative microorganisms (</a:t>
                      </a:r>
                      <a:r>
                        <a:rPr lang="en-US" sz="1600" kern="0" dirty="0" err="1">
                          <a:effectLst/>
                          <a:latin typeface="+mn-lt"/>
                          <a:ea typeface="Times New Roman" panose="02020603050405020304" pitchFamily="18" charset="0"/>
                        </a:rPr>
                        <a:t>eg</a:t>
                      </a:r>
                      <a:r>
                        <a:rPr lang="en-US" sz="1600" kern="0" dirty="0">
                          <a:effectLst/>
                          <a:latin typeface="+mn-lt"/>
                          <a:ea typeface="Times New Roman" panose="02020603050405020304" pitchFamily="18" charset="0"/>
                        </a:rPr>
                        <a:t>, metronidazole, macrolides, fluroquinolones) disrupt vitamin K–producing intestinal flora</a:t>
                      </a:r>
                      <a:endParaRPr lang="en-US" sz="1600" b="0" i="0" kern="1200" dirty="0">
                        <a:solidFill>
                          <a:schemeClr val="tx1"/>
                        </a:solidFill>
                        <a:effectLst/>
                        <a:latin typeface="+mn-lt"/>
                        <a:ea typeface="+mn-ea"/>
                        <a:cs typeface="+mn-cs"/>
                      </a:endParaRPr>
                    </a:p>
                  </a:txBody>
                  <a:tcPr marL="182880" marR="274320" marT="91440" marB="9144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46145777"/>
                  </a:ext>
                </a:extLst>
              </a:tr>
            </a:tbl>
          </a:graphicData>
        </a:graphic>
      </p:graphicFrame>
      <p:grpSp>
        <p:nvGrpSpPr>
          <p:cNvPr id="5" name="Group 4">
            <a:extLst>
              <a:ext uri="{FF2B5EF4-FFF2-40B4-BE49-F238E27FC236}">
                <a16:creationId xmlns:a16="http://schemas.microsoft.com/office/drawing/2014/main" id="{66081D7F-A6E1-8344-6532-A5280A5A7728}"/>
              </a:ext>
            </a:extLst>
          </p:cNvPr>
          <p:cNvGrpSpPr/>
          <p:nvPr/>
        </p:nvGrpSpPr>
        <p:grpSpPr>
          <a:xfrm>
            <a:off x="7734301" y="2671868"/>
            <a:ext cx="3725284" cy="1524000"/>
            <a:chOff x="6419400" y="1543816"/>
            <a:chExt cx="4320904" cy="1669597"/>
          </a:xfrm>
        </p:grpSpPr>
        <p:sp>
          <p:nvSpPr>
            <p:cNvPr id="7" name="Rectangle: Rounded Corners 6">
              <a:extLst>
                <a:ext uri="{FF2B5EF4-FFF2-40B4-BE49-F238E27FC236}">
                  <a16:creationId xmlns:a16="http://schemas.microsoft.com/office/drawing/2014/main" id="{3C9921EB-7A38-9FD3-AE30-5372548D4CA0}"/>
                </a:ext>
              </a:extLst>
            </p:cNvPr>
            <p:cNvSpPr/>
            <p:nvPr/>
          </p:nvSpPr>
          <p:spPr bwMode="auto">
            <a:xfrm>
              <a:off x="6419400" y="1543816"/>
              <a:ext cx="4320904" cy="1669597"/>
            </a:xfrm>
            <a:prstGeom prst="round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9" name="TextBox 8">
              <a:extLst>
                <a:ext uri="{FF2B5EF4-FFF2-40B4-BE49-F238E27FC236}">
                  <a16:creationId xmlns:a16="http://schemas.microsoft.com/office/drawing/2014/main" id="{742E7406-4B73-4E2C-445E-F55C61BD89A9}"/>
                </a:ext>
              </a:extLst>
            </p:cNvPr>
            <p:cNvSpPr txBox="1"/>
            <p:nvPr/>
          </p:nvSpPr>
          <p:spPr>
            <a:xfrm>
              <a:off x="6905508" y="1727576"/>
              <a:ext cx="3653918" cy="1302078"/>
            </a:xfrm>
            <a:prstGeom prst="rect">
              <a:avLst/>
            </a:prstGeom>
            <a:noFill/>
            <a:ln>
              <a:noFill/>
            </a:ln>
          </p:spPr>
          <p:txBody>
            <a:bodyPr wrap="square">
              <a:spAutoFit/>
            </a:bodyPr>
            <a:lstStyle/>
            <a:p>
              <a:pPr>
                <a:lnSpc>
                  <a:spcPts val="2900"/>
                </a:lnSpc>
                <a:spcBef>
                  <a:spcPts val="0"/>
                </a:spcBef>
              </a:pPr>
              <a:r>
                <a:rPr lang="en-US" sz="2200" kern="0" dirty="0">
                  <a:solidFill>
                    <a:srgbClr val="FFFFFF"/>
                  </a:solidFill>
                  <a:effectLst/>
                  <a:latin typeface="Source Sans Pro Semibold" panose="020B0603030403020204" pitchFamily="34" charset="0"/>
                  <a:ea typeface="Source Sans Pro Semibold" panose="020B0603030403020204" pitchFamily="34" charset="0"/>
                </a:rPr>
                <a:t>You do not need to memorize specific drug names for Module 2.</a:t>
              </a:r>
            </a:p>
          </p:txBody>
        </p:sp>
      </p:grpSp>
    </p:spTree>
    <p:extLst>
      <p:ext uri="{BB962C8B-B14F-4D97-AF65-F5344CB8AC3E}">
        <p14:creationId xmlns:p14="http://schemas.microsoft.com/office/powerpoint/2010/main" val="11878797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2209D-13CA-48F1-2C17-EAA277E92152}"/>
              </a:ext>
            </a:extLst>
          </p:cNvPr>
          <p:cNvSpPr>
            <a:spLocks noGrp="1"/>
          </p:cNvSpPr>
          <p:nvPr>
            <p:ph type="title"/>
          </p:nvPr>
        </p:nvSpPr>
        <p:spPr>
          <a:xfrm>
            <a:off x="942974" y="279372"/>
            <a:ext cx="10389241" cy="1123022"/>
          </a:xfrm>
        </p:spPr>
        <p:txBody>
          <a:bodyPr/>
          <a:lstStyle/>
          <a:p>
            <a:r>
              <a:rPr lang="en-US" dirty="0"/>
              <a:t>Anticoagulant Mechanisms: </a:t>
            </a:r>
            <a:br>
              <a:rPr lang="en-US" dirty="0"/>
            </a:br>
            <a:r>
              <a:rPr lang="en-US" dirty="0"/>
              <a:t>Direct Thrombin Inhibitors</a:t>
            </a:r>
          </a:p>
        </p:txBody>
      </p:sp>
      <p:pic>
        <p:nvPicPr>
          <p:cNvPr id="6" name="Content Placeholder 5" descr="A diagram of a path&#10;&#10;Description automatically generated">
            <a:extLst>
              <a:ext uri="{FF2B5EF4-FFF2-40B4-BE49-F238E27FC236}">
                <a16:creationId xmlns:a16="http://schemas.microsoft.com/office/drawing/2014/main" id="{D0303B9D-0242-EE50-9597-F27245EA798F}"/>
              </a:ext>
            </a:extLst>
          </p:cNvPr>
          <p:cNvPicPr>
            <a:picLocks noGrp="1" noChangeAspect="1"/>
          </p:cNvPicPr>
          <p:nvPr>
            <p:ph idx="1"/>
          </p:nvPr>
        </p:nvPicPr>
        <p:blipFill>
          <a:blip r:embed="rId3"/>
          <a:stretch>
            <a:fillRect/>
          </a:stretch>
        </p:blipFill>
        <p:spPr>
          <a:xfrm>
            <a:off x="2589545" y="1384377"/>
            <a:ext cx="6108806" cy="4543425"/>
          </a:xfrm>
        </p:spPr>
      </p:pic>
      <p:sp>
        <p:nvSpPr>
          <p:cNvPr id="19" name="Rectangle 18">
            <a:extLst>
              <a:ext uri="{FF2B5EF4-FFF2-40B4-BE49-F238E27FC236}">
                <a16:creationId xmlns:a16="http://schemas.microsoft.com/office/drawing/2014/main" id="{98CB044D-E897-DD82-BBE5-C5D3A5F91B6E}"/>
              </a:ext>
            </a:extLst>
          </p:cNvPr>
          <p:cNvSpPr/>
          <p:nvPr/>
        </p:nvSpPr>
        <p:spPr bwMode="auto">
          <a:xfrm>
            <a:off x="7244808" y="2050199"/>
            <a:ext cx="1592765" cy="914400"/>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21" name="Rectangle 20">
            <a:extLst>
              <a:ext uri="{FF2B5EF4-FFF2-40B4-BE49-F238E27FC236}">
                <a16:creationId xmlns:a16="http://schemas.microsoft.com/office/drawing/2014/main" id="{F55FC294-69A5-F132-A326-95BAC2D3796C}"/>
              </a:ext>
            </a:extLst>
          </p:cNvPr>
          <p:cNvSpPr/>
          <p:nvPr/>
        </p:nvSpPr>
        <p:spPr bwMode="auto">
          <a:xfrm>
            <a:off x="2205619" y="1685925"/>
            <a:ext cx="1592765" cy="914400"/>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
        <p:nvSpPr>
          <p:cNvPr id="22" name="Rectangle 21">
            <a:extLst>
              <a:ext uri="{FF2B5EF4-FFF2-40B4-BE49-F238E27FC236}">
                <a16:creationId xmlns:a16="http://schemas.microsoft.com/office/drawing/2014/main" id="{FCBC0A25-2CF1-F38E-7F8C-D414FEA42258}"/>
              </a:ext>
            </a:extLst>
          </p:cNvPr>
          <p:cNvSpPr/>
          <p:nvPr/>
        </p:nvSpPr>
        <p:spPr bwMode="auto">
          <a:xfrm>
            <a:off x="3508452" y="3750061"/>
            <a:ext cx="1592765" cy="914400"/>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grpSp>
        <p:nvGrpSpPr>
          <p:cNvPr id="4" name="Group 3">
            <a:extLst>
              <a:ext uri="{FF2B5EF4-FFF2-40B4-BE49-F238E27FC236}">
                <a16:creationId xmlns:a16="http://schemas.microsoft.com/office/drawing/2014/main" id="{158C064E-E298-2F70-6782-E85726D4CA55}"/>
              </a:ext>
            </a:extLst>
          </p:cNvPr>
          <p:cNvGrpSpPr/>
          <p:nvPr/>
        </p:nvGrpSpPr>
        <p:grpSpPr>
          <a:xfrm>
            <a:off x="6203429" y="3256056"/>
            <a:ext cx="4450540" cy="1904601"/>
            <a:chOff x="7201164" y="661873"/>
            <a:chExt cx="4450540" cy="1904601"/>
          </a:xfrm>
        </p:grpSpPr>
        <p:cxnSp>
          <p:nvCxnSpPr>
            <p:cNvPr id="7" name="Straight Arrow Connector 6">
              <a:extLst>
                <a:ext uri="{FF2B5EF4-FFF2-40B4-BE49-F238E27FC236}">
                  <a16:creationId xmlns:a16="http://schemas.microsoft.com/office/drawing/2014/main" id="{126E84AC-69DB-32A3-F468-54D31E2E5E84}"/>
                </a:ext>
              </a:extLst>
            </p:cNvPr>
            <p:cNvCxnSpPr>
              <a:cxnSpLocks/>
            </p:cNvCxnSpPr>
            <p:nvPr/>
          </p:nvCxnSpPr>
          <p:spPr bwMode="auto">
            <a:xfrm flipH="1">
              <a:off x="7201164" y="1574081"/>
              <a:ext cx="1907787" cy="992393"/>
            </a:xfrm>
            <a:prstGeom prst="straightConnector1">
              <a:avLst/>
            </a:prstGeom>
            <a:solidFill>
              <a:schemeClr val="accent1"/>
            </a:solidFill>
            <a:ln w="50800" cap="flat" cmpd="sng" algn="ctr">
              <a:solidFill>
                <a:schemeClr val="tx2"/>
              </a:solidFill>
              <a:prstDash val="solid"/>
              <a:round/>
              <a:headEnd type="none" w="med" len="med"/>
              <a:tailEnd type="triangle"/>
            </a:ln>
            <a:effectLst/>
          </p:spPr>
        </p:cxnSp>
        <p:grpSp>
          <p:nvGrpSpPr>
            <p:cNvPr id="8" name="Group 7">
              <a:extLst>
                <a:ext uri="{FF2B5EF4-FFF2-40B4-BE49-F238E27FC236}">
                  <a16:creationId xmlns:a16="http://schemas.microsoft.com/office/drawing/2014/main" id="{EEA07250-200E-A0E5-391B-AB83AFCE050B}"/>
                </a:ext>
              </a:extLst>
            </p:cNvPr>
            <p:cNvGrpSpPr/>
            <p:nvPr/>
          </p:nvGrpSpPr>
          <p:grpSpPr>
            <a:xfrm>
              <a:off x="9013647" y="661873"/>
              <a:ext cx="2638057" cy="1706468"/>
              <a:chOff x="6939349" y="-164810"/>
              <a:chExt cx="4250070" cy="1017424"/>
            </a:xfrm>
          </p:grpSpPr>
          <p:sp>
            <p:nvSpPr>
              <p:cNvPr id="9" name="Rectangle: Rounded Corners 8">
                <a:extLst>
                  <a:ext uri="{FF2B5EF4-FFF2-40B4-BE49-F238E27FC236}">
                    <a16:creationId xmlns:a16="http://schemas.microsoft.com/office/drawing/2014/main" id="{350467C4-96CA-8339-37C4-48BCEB893DB5}"/>
                  </a:ext>
                </a:extLst>
              </p:cNvPr>
              <p:cNvSpPr/>
              <p:nvPr/>
            </p:nvSpPr>
            <p:spPr bwMode="auto">
              <a:xfrm>
                <a:off x="6939349" y="-164810"/>
                <a:ext cx="4250070" cy="1017424"/>
              </a:xfrm>
              <a:prstGeom prst="roundRect">
                <a:avLst>
                  <a:gd name="adj" fmla="val 11085"/>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ts val="19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10" name="TextBox 9">
                <a:extLst>
                  <a:ext uri="{FF2B5EF4-FFF2-40B4-BE49-F238E27FC236}">
                    <a16:creationId xmlns:a16="http://schemas.microsoft.com/office/drawing/2014/main" id="{3EC998E7-2945-88E5-977D-2D8774B8F181}"/>
                  </a:ext>
                </a:extLst>
              </p:cNvPr>
              <p:cNvSpPr txBox="1"/>
              <p:nvPr/>
            </p:nvSpPr>
            <p:spPr>
              <a:xfrm>
                <a:off x="7170952" y="-73573"/>
                <a:ext cx="3786867" cy="850223"/>
              </a:xfrm>
              <a:prstGeom prst="rect">
                <a:avLst/>
              </a:prstGeom>
              <a:noFill/>
              <a:ln>
                <a:noFill/>
              </a:ln>
            </p:spPr>
            <p:txBody>
              <a:bodyPr wrap="square">
                <a:spAutoFit/>
              </a:bodyPr>
              <a:lstStyle/>
              <a:p>
                <a:pPr>
                  <a:lnSpc>
                    <a:spcPts val="2300"/>
                  </a:lnSpc>
                  <a:spcBef>
                    <a:spcPts val="0"/>
                  </a:spcBef>
                </a:pPr>
                <a:r>
                  <a:rPr lang="en-US" sz="2000" kern="0" dirty="0">
                    <a:solidFill>
                      <a:srgbClr val="FFFFFF"/>
                    </a:solidFill>
                    <a:effectLst/>
                    <a:latin typeface="Source Sans Pro Semibold" panose="020B0603030403020204" pitchFamily="34" charset="0"/>
                    <a:ea typeface="Source Sans Pro Semibold" panose="020B0603030403020204" pitchFamily="34" charset="0"/>
                  </a:rPr>
                  <a:t>Dabigatran, </a:t>
                </a:r>
                <a:r>
                  <a:rPr lang="en-US" sz="2000" kern="0" dirty="0" err="1">
                    <a:solidFill>
                      <a:srgbClr val="FFFFFF"/>
                    </a:solidFill>
                    <a:effectLst/>
                    <a:latin typeface="Source Sans Pro Semibold" panose="020B0603030403020204" pitchFamily="34" charset="0"/>
                    <a:ea typeface="Source Sans Pro Semibold" panose="020B0603030403020204" pitchFamily="34" charset="0"/>
                  </a:rPr>
                  <a:t>Argatroban</a:t>
                </a:r>
                <a:r>
                  <a:rPr lang="en-US" sz="2000" kern="0" dirty="0">
                    <a:solidFill>
                      <a:srgbClr val="FFFFFF"/>
                    </a:solidFill>
                    <a:effectLst/>
                    <a:latin typeface="Source Sans Pro Semibold" panose="020B0603030403020204" pitchFamily="34" charset="0"/>
                    <a:ea typeface="Source Sans Pro Semibold" panose="020B0603030403020204" pitchFamily="34" charset="0"/>
                  </a:rPr>
                  <a:t>, Bivalirudin</a:t>
                </a:r>
              </a:p>
              <a:p>
                <a:pPr>
                  <a:lnSpc>
                    <a:spcPts val="2300"/>
                  </a:lnSpc>
                  <a:spcBef>
                    <a:spcPts val="1200"/>
                  </a:spcBef>
                </a:pPr>
                <a:r>
                  <a:rPr lang="en-US" sz="2000" kern="0" dirty="0">
                    <a:solidFill>
                      <a:srgbClr val="FFFFFF"/>
                    </a:solidFill>
                    <a:effectLst/>
                    <a:latin typeface="Source Sans Pro Semibold" panose="020B0603030403020204" pitchFamily="34" charset="0"/>
                    <a:ea typeface="Source Sans Pro Semibold" panose="020B0603030403020204" pitchFamily="34" charset="0"/>
                  </a:rPr>
                  <a:t>Inhibit </a:t>
                </a:r>
                <a:r>
                  <a:rPr lang="en-US" sz="2000" kern="0" dirty="0" err="1">
                    <a:solidFill>
                      <a:srgbClr val="FFFFFF"/>
                    </a:solidFill>
                    <a:effectLst/>
                    <a:latin typeface="Source Sans Pro Semibold" panose="020B0603030403020204" pitchFamily="34" charset="0"/>
                    <a:ea typeface="Source Sans Pro Semibold" panose="020B0603030403020204" pitchFamily="34" charset="0"/>
                  </a:rPr>
                  <a:t>IIa</a:t>
                </a:r>
                <a:r>
                  <a:rPr lang="en-US" sz="2000" kern="0" dirty="0">
                    <a:solidFill>
                      <a:srgbClr val="FFFFFF"/>
                    </a:solidFill>
                    <a:effectLst/>
                    <a:latin typeface="Source Sans Pro Semibold" panose="020B0603030403020204" pitchFamily="34" charset="0"/>
                    <a:ea typeface="Source Sans Pro Semibold" panose="020B0603030403020204" pitchFamily="34" charset="0"/>
                  </a:rPr>
                  <a:t> directly</a:t>
                </a:r>
              </a:p>
            </p:txBody>
          </p:sp>
        </p:grpSp>
      </p:grpSp>
    </p:spTree>
    <p:extLst>
      <p:ext uri="{BB962C8B-B14F-4D97-AF65-F5344CB8AC3E}">
        <p14:creationId xmlns:p14="http://schemas.microsoft.com/office/powerpoint/2010/main" val="259533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399" y="167892"/>
            <a:ext cx="10389241" cy="670308"/>
          </a:xfrm>
        </p:spPr>
        <p:txBody>
          <a:bodyPr/>
          <a:lstStyle/>
          <a:p>
            <a:r>
              <a:rPr lang="en-US" dirty="0"/>
              <a:t>Direct Thrombin Inhibitors</a:t>
            </a:r>
          </a:p>
        </p:txBody>
      </p:sp>
      <p:sp>
        <p:nvSpPr>
          <p:cNvPr id="3" name="Content Placeholder 2"/>
          <p:cNvSpPr>
            <a:spLocks noGrp="1"/>
          </p:cNvSpPr>
          <p:nvPr>
            <p:ph idx="1"/>
          </p:nvPr>
        </p:nvSpPr>
        <p:spPr>
          <a:xfrm>
            <a:off x="914399" y="1219199"/>
            <a:ext cx="10896601" cy="4419601"/>
          </a:xfrm>
        </p:spPr>
        <p:txBody>
          <a:bodyPr numCol="3" spcCol="182880">
            <a:noAutofit/>
          </a:bodyPr>
          <a:lstStyle/>
          <a:p>
            <a:pPr marL="0" indent="0">
              <a:spcAft>
                <a:spcPts val="600"/>
              </a:spcAft>
              <a:buNone/>
            </a:pPr>
            <a:r>
              <a:rPr lang="en-US" sz="2600" b="1" dirty="0">
                <a:solidFill>
                  <a:schemeClr val="tx2"/>
                </a:solidFill>
              </a:rPr>
              <a:t>Dabigatran</a:t>
            </a:r>
          </a:p>
          <a:p>
            <a:pPr marL="228600" lvl="1" indent="-228600">
              <a:spcBef>
                <a:spcPts val="700"/>
              </a:spcBef>
              <a:buFont typeface="Arial" panose="020B0604020202020204" pitchFamily="34" charset="0"/>
              <a:buChar char="•"/>
            </a:pPr>
            <a:r>
              <a:rPr lang="en-US" sz="2400" dirty="0"/>
              <a:t>Oral administration</a:t>
            </a:r>
          </a:p>
          <a:p>
            <a:pPr marL="228600" lvl="1" indent="-228600">
              <a:spcBef>
                <a:spcPts val="700"/>
              </a:spcBef>
              <a:spcAft>
                <a:spcPts val="600"/>
              </a:spcAft>
              <a:buFont typeface="Arial" panose="020B0604020202020204" pitchFamily="34" charset="0"/>
              <a:buChar char="•"/>
            </a:pPr>
            <a:r>
              <a:rPr lang="en-US" sz="2400" dirty="0">
                <a:solidFill>
                  <a:schemeClr val="tx1"/>
                </a:solidFill>
              </a:rPr>
              <a:t>Renally excreted</a:t>
            </a:r>
          </a:p>
          <a:p>
            <a:pPr marL="228600" lvl="1" indent="-228600">
              <a:spcBef>
                <a:spcPts val="700"/>
              </a:spcBef>
              <a:spcAft>
                <a:spcPts val="600"/>
              </a:spcAft>
              <a:buFont typeface="Arial" panose="020B0604020202020204" pitchFamily="34" charset="0"/>
              <a:buChar char="•"/>
            </a:pPr>
            <a:r>
              <a:rPr lang="en-US" sz="2400" dirty="0">
                <a:solidFill>
                  <a:schemeClr val="tx1"/>
                </a:solidFill>
              </a:rPr>
              <a:t>Long half-life </a:t>
            </a:r>
            <a:br>
              <a:rPr lang="en-US" sz="2400" dirty="0">
                <a:solidFill>
                  <a:schemeClr val="tx1"/>
                </a:solidFill>
              </a:rPr>
            </a:br>
            <a:r>
              <a:rPr lang="en-US" sz="2400" dirty="0">
                <a:solidFill>
                  <a:schemeClr val="tx1"/>
                </a:solidFill>
              </a:rPr>
              <a:t>(e.g</a:t>
            </a:r>
            <a:r>
              <a:rPr lang="en-US" sz="2400" dirty="0"/>
              <a:t>.,</a:t>
            </a:r>
            <a:r>
              <a:rPr lang="en-US" sz="2400" dirty="0">
                <a:solidFill>
                  <a:schemeClr val="tx1"/>
                </a:solidFill>
              </a:rPr>
              <a:t> 12-17 hours)</a:t>
            </a:r>
          </a:p>
          <a:p>
            <a:pPr marL="228600" lvl="1" indent="-228600">
              <a:spcBef>
                <a:spcPts val="700"/>
              </a:spcBef>
              <a:spcAft>
                <a:spcPts val="600"/>
              </a:spcAft>
              <a:buFont typeface="Arial" panose="020B0604020202020204" pitchFamily="34" charset="0"/>
              <a:buChar char="•"/>
            </a:pPr>
            <a:r>
              <a:rPr lang="en-US" sz="2400" b="1" kern="1200" dirty="0">
                <a:solidFill>
                  <a:schemeClr val="tx1"/>
                </a:solidFill>
              </a:rPr>
              <a:t>Prodrug</a:t>
            </a:r>
            <a:r>
              <a:rPr lang="en-US" sz="2400" kern="1200" dirty="0">
                <a:solidFill>
                  <a:schemeClr val="tx1"/>
                </a:solidFill>
              </a:rPr>
              <a:t> that is metabolized to an </a:t>
            </a:r>
            <a:br>
              <a:rPr lang="en-US" sz="2400" kern="1200" dirty="0">
                <a:solidFill>
                  <a:schemeClr val="tx1"/>
                </a:solidFill>
              </a:rPr>
            </a:br>
            <a:r>
              <a:rPr lang="en-US" sz="2400" kern="1200" dirty="0">
                <a:solidFill>
                  <a:schemeClr val="tx1"/>
                </a:solidFill>
              </a:rPr>
              <a:t>active species </a:t>
            </a:r>
          </a:p>
          <a:p>
            <a:pPr marL="228600" indent="-228600">
              <a:spcBef>
                <a:spcPts val="2400"/>
              </a:spcBef>
              <a:buFont typeface="Arial" panose="020B0604020202020204" pitchFamily="34" charset="0"/>
              <a:buChar char="•"/>
            </a:pPr>
            <a:endParaRPr lang="en-US" sz="2400" dirty="0"/>
          </a:p>
          <a:p>
            <a:pPr marL="228600" indent="-228600">
              <a:spcBef>
                <a:spcPts val="2400"/>
              </a:spcBef>
              <a:spcAft>
                <a:spcPts val="600"/>
              </a:spcAft>
              <a:buNone/>
            </a:pPr>
            <a:r>
              <a:rPr lang="en-US" sz="2600" b="1" dirty="0">
                <a:solidFill>
                  <a:schemeClr val="tx2"/>
                </a:solidFill>
              </a:rPr>
              <a:t>Bivalirudin</a:t>
            </a:r>
          </a:p>
          <a:p>
            <a:pPr marL="228600" lvl="1" indent="-228600">
              <a:spcBef>
                <a:spcPts val="700"/>
              </a:spcBef>
              <a:spcAft>
                <a:spcPts val="600"/>
              </a:spcAft>
              <a:buFont typeface="Arial" panose="020B0604020202020204" pitchFamily="34" charset="0"/>
              <a:buChar char="•"/>
            </a:pPr>
            <a:r>
              <a:rPr lang="en-US" sz="2400" b="1" dirty="0">
                <a:ea typeface="Verdana"/>
              </a:rPr>
              <a:t>Intravenous administration </a:t>
            </a:r>
            <a:endParaRPr lang="en-US" sz="2400" b="1" dirty="0"/>
          </a:p>
          <a:p>
            <a:pPr marL="228600" lvl="1" indent="-228600">
              <a:spcBef>
                <a:spcPts val="700"/>
              </a:spcBef>
              <a:spcAft>
                <a:spcPts val="600"/>
              </a:spcAft>
              <a:buFont typeface="Arial" panose="020B0604020202020204" pitchFamily="34" charset="0"/>
              <a:buChar char="•"/>
            </a:pPr>
            <a:r>
              <a:rPr lang="en-US" sz="2400" dirty="0"/>
              <a:t>Renally excreted</a:t>
            </a:r>
          </a:p>
          <a:p>
            <a:pPr marL="228600" lvl="1" indent="-228600">
              <a:spcBef>
                <a:spcPts val="700"/>
              </a:spcBef>
              <a:spcAft>
                <a:spcPts val="600"/>
              </a:spcAft>
              <a:buFont typeface="Arial" panose="020B0604020202020204" pitchFamily="34" charset="0"/>
              <a:buChar char="•"/>
            </a:pPr>
            <a:r>
              <a:rPr lang="en-US" sz="2400" dirty="0"/>
              <a:t>Short half-life</a:t>
            </a:r>
            <a:r>
              <a:rPr lang="en-US" sz="2400" b="0" dirty="0"/>
              <a:t> </a:t>
            </a:r>
            <a:br>
              <a:rPr lang="en-US" sz="2400" b="0" dirty="0"/>
            </a:br>
            <a:r>
              <a:rPr lang="en-US" sz="2400" dirty="0"/>
              <a:t>(e.g., </a:t>
            </a:r>
            <a:r>
              <a:rPr lang="en-US" sz="2400" b="0" dirty="0"/>
              <a:t>25 minutes)</a:t>
            </a:r>
          </a:p>
          <a:p>
            <a:pPr marL="228600" indent="-228600">
              <a:spcBef>
                <a:spcPts val="2400"/>
              </a:spcBef>
              <a:buFont typeface="Arial" panose="020B0604020202020204" pitchFamily="34" charset="0"/>
              <a:buChar char="•"/>
            </a:pPr>
            <a:endParaRPr lang="en-US" sz="2400" dirty="0"/>
          </a:p>
          <a:p>
            <a:pPr marL="228600" indent="-228600">
              <a:spcBef>
                <a:spcPts val="2400"/>
              </a:spcBef>
              <a:buFont typeface="Arial" panose="020B0604020202020204" pitchFamily="34" charset="0"/>
              <a:buChar char="•"/>
            </a:pPr>
            <a:endParaRPr lang="en-US" sz="2400" dirty="0"/>
          </a:p>
          <a:p>
            <a:pPr marL="228600" indent="-228600">
              <a:spcBef>
                <a:spcPts val="2400"/>
              </a:spcBef>
              <a:spcAft>
                <a:spcPts val="600"/>
              </a:spcAft>
              <a:buNone/>
            </a:pPr>
            <a:r>
              <a:rPr lang="en-US" sz="2600" b="1" dirty="0" err="1">
                <a:solidFill>
                  <a:schemeClr val="tx2"/>
                </a:solidFill>
              </a:rPr>
              <a:t>Argatroban</a:t>
            </a:r>
            <a:endParaRPr lang="en-US" sz="2600" b="1" dirty="0">
              <a:solidFill>
                <a:schemeClr val="tx2"/>
              </a:solidFill>
            </a:endParaRPr>
          </a:p>
          <a:p>
            <a:pPr marL="228600" lvl="1" indent="-228600">
              <a:spcBef>
                <a:spcPts val="700"/>
              </a:spcBef>
              <a:spcAft>
                <a:spcPts val="600"/>
              </a:spcAft>
              <a:buFont typeface="Arial" panose="020B0604020202020204" pitchFamily="34" charset="0"/>
              <a:buChar char="•"/>
            </a:pPr>
            <a:r>
              <a:rPr lang="en-US" sz="2400" b="1" dirty="0">
                <a:solidFill>
                  <a:schemeClr val="tx1"/>
                </a:solidFill>
                <a:ea typeface="Verdana"/>
              </a:rPr>
              <a:t>Intravenous administration </a:t>
            </a:r>
            <a:endParaRPr lang="en-US" sz="2400" b="1" dirty="0">
              <a:solidFill>
                <a:schemeClr val="tx1"/>
              </a:solidFill>
            </a:endParaRPr>
          </a:p>
          <a:p>
            <a:pPr marL="228600" lvl="1" indent="-228600">
              <a:spcBef>
                <a:spcPts val="700"/>
              </a:spcBef>
              <a:spcAft>
                <a:spcPts val="600"/>
              </a:spcAft>
              <a:buFont typeface="Arial" panose="020B0604020202020204" pitchFamily="34" charset="0"/>
              <a:buChar char="•"/>
            </a:pPr>
            <a:r>
              <a:rPr lang="en-US" sz="2400" kern="1200" dirty="0">
                <a:solidFill>
                  <a:schemeClr val="tx1"/>
                </a:solidFill>
              </a:rPr>
              <a:t>Excreted by biliary secretion </a:t>
            </a:r>
          </a:p>
          <a:p>
            <a:pPr marL="228600" lvl="1" indent="-228600">
              <a:spcBef>
                <a:spcPts val="700"/>
              </a:spcBef>
              <a:spcAft>
                <a:spcPts val="600"/>
              </a:spcAft>
              <a:buFont typeface="Arial" panose="020B0604020202020204" pitchFamily="34" charset="0"/>
              <a:buChar char="•"/>
            </a:pPr>
            <a:r>
              <a:rPr lang="en-US" sz="2400" kern="1200" dirty="0">
                <a:solidFill>
                  <a:schemeClr val="tx1"/>
                </a:solidFill>
              </a:rPr>
              <a:t>Short - Intermediate </a:t>
            </a:r>
            <a:br>
              <a:rPr lang="en-US" sz="2400" kern="1200" dirty="0">
                <a:solidFill>
                  <a:schemeClr val="tx1"/>
                </a:solidFill>
              </a:rPr>
            </a:br>
            <a:r>
              <a:rPr lang="en-US" sz="2400" kern="1200" dirty="0">
                <a:solidFill>
                  <a:schemeClr val="tx1"/>
                </a:solidFill>
              </a:rPr>
              <a:t>half-life </a:t>
            </a:r>
            <a:br>
              <a:rPr lang="en-US" sz="2400" kern="1200" dirty="0">
                <a:solidFill>
                  <a:schemeClr val="tx1"/>
                </a:solidFill>
              </a:rPr>
            </a:br>
            <a:r>
              <a:rPr lang="en-US" sz="2400" kern="1200" dirty="0">
                <a:solidFill>
                  <a:schemeClr val="tx1"/>
                </a:solidFill>
              </a:rPr>
              <a:t>(e.g., 45 minutes)</a:t>
            </a:r>
          </a:p>
        </p:txBody>
      </p:sp>
    </p:spTree>
    <p:extLst>
      <p:ext uri="{BB962C8B-B14F-4D97-AF65-F5344CB8AC3E}">
        <p14:creationId xmlns:p14="http://schemas.microsoft.com/office/powerpoint/2010/main" val="10617030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diagram of a path&#10;&#10;Description automatically generated">
            <a:extLst>
              <a:ext uri="{FF2B5EF4-FFF2-40B4-BE49-F238E27FC236}">
                <a16:creationId xmlns:a16="http://schemas.microsoft.com/office/drawing/2014/main" id="{D0303B9D-0242-EE50-9597-F27245EA798F}"/>
              </a:ext>
            </a:extLst>
          </p:cNvPr>
          <p:cNvPicPr>
            <a:picLocks noGrp="1" noChangeAspect="1"/>
          </p:cNvPicPr>
          <p:nvPr>
            <p:ph idx="1"/>
          </p:nvPr>
        </p:nvPicPr>
        <p:blipFill>
          <a:blip r:embed="rId3"/>
          <a:stretch>
            <a:fillRect/>
          </a:stretch>
        </p:blipFill>
        <p:spPr>
          <a:xfrm>
            <a:off x="1565628" y="909056"/>
            <a:ext cx="6108806" cy="4543425"/>
          </a:xfrm>
        </p:spPr>
      </p:pic>
      <p:sp>
        <p:nvSpPr>
          <p:cNvPr id="21" name="Rectangle 20">
            <a:extLst>
              <a:ext uri="{FF2B5EF4-FFF2-40B4-BE49-F238E27FC236}">
                <a16:creationId xmlns:a16="http://schemas.microsoft.com/office/drawing/2014/main" id="{F55FC294-69A5-F132-A326-95BAC2D3796C}"/>
              </a:ext>
            </a:extLst>
          </p:cNvPr>
          <p:cNvSpPr/>
          <p:nvPr/>
        </p:nvSpPr>
        <p:spPr bwMode="auto">
          <a:xfrm>
            <a:off x="1028700" y="1082429"/>
            <a:ext cx="1592765" cy="914400"/>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
        <p:nvSpPr>
          <p:cNvPr id="22" name="Rectangle 21">
            <a:extLst>
              <a:ext uri="{FF2B5EF4-FFF2-40B4-BE49-F238E27FC236}">
                <a16:creationId xmlns:a16="http://schemas.microsoft.com/office/drawing/2014/main" id="{FCBC0A25-2CF1-F38E-7F8C-D414FEA42258}"/>
              </a:ext>
            </a:extLst>
          </p:cNvPr>
          <p:cNvSpPr/>
          <p:nvPr/>
        </p:nvSpPr>
        <p:spPr bwMode="auto">
          <a:xfrm>
            <a:off x="2597683" y="3401929"/>
            <a:ext cx="1479018" cy="914400"/>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
        <p:nvSpPr>
          <p:cNvPr id="2" name="Title 1">
            <a:extLst>
              <a:ext uri="{FF2B5EF4-FFF2-40B4-BE49-F238E27FC236}">
                <a16:creationId xmlns:a16="http://schemas.microsoft.com/office/drawing/2014/main" id="{9082209D-13CA-48F1-2C17-EAA277E92152}"/>
              </a:ext>
            </a:extLst>
          </p:cNvPr>
          <p:cNvSpPr>
            <a:spLocks noGrp="1"/>
          </p:cNvSpPr>
          <p:nvPr>
            <p:ph type="title"/>
          </p:nvPr>
        </p:nvSpPr>
        <p:spPr>
          <a:xfrm>
            <a:off x="952499" y="215517"/>
            <a:ext cx="10389241" cy="612725"/>
          </a:xfrm>
        </p:spPr>
        <p:txBody>
          <a:bodyPr/>
          <a:lstStyle/>
          <a:p>
            <a:r>
              <a:rPr lang="en-US" sz="3000" dirty="0"/>
              <a:t>Anticoagulant Mechanisms:  Direct </a:t>
            </a:r>
            <a:r>
              <a:rPr lang="en-US" sz="3000" dirty="0" err="1"/>
              <a:t>FXa</a:t>
            </a:r>
            <a:r>
              <a:rPr lang="en-US" sz="3000" dirty="0"/>
              <a:t> Inhibitors</a:t>
            </a:r>
            <a:endParaRPr lang="en-US" sz="3000" b="0" dirty="0"/>
          </a:p>
        </p:txBody>
      </p:sp>
      <p:sp>
        <p:nvSpPr>
          <p:cNvPr id="19" name="Rectangle 18">
            <a:extLst>
              <a:ext uri="{FF2B5EF4-FFF2-40B4-BE49-F238E27FC236}">
                <a16:creationId xmlns:a16="http://schemas.microsoft.com/office/drawing/2014/main" id="{98CB044D-E897-DD82-BBE5-C5D3A5F91B6E}"/>
              </a:ext>
            </a:extLst>
          </p:cNvPr>
          <p:cNvSpPr/>
          <p:nvPr/>
        </p:nvSpPr>
        <p:spPr bwMode="auto">
          <a:xfrm>
            <a:off x="6224804" y="1584000"/>
            <a:ext cx="1592765" cy="914400"/>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grpSp>
        <p:nvGrpSpPr>
          <p:cNvPr id="7" name="Group 6">
            <a:extLst>
              <a:ext uri="{FF2B5EF4-FFF2-40B4-BE49-F238E27FC236}">
                <a16:creationId xmlns:a16="http://schemas.microsoft.com/office/drawing/2014/main" id="{23AF09E4-075F-61D7-8FF7-25CF1F3D5CC4}"/>
              </a:ext>
            </a:extLst>
          </p:cNvPr>
          <p:cNvGrpSpPr/>
          <p:nvPr/>
        </p:nvGrpSpPr>
        <p:grpSpPr>
          <a:xfrm>
            <a:off x="5200650" y="2550639"/>
            <a:ext cx="4770933" cy="1902409"/>
            <a:chOff x="6881394" y="507217"/>
            <a:chExt cx="4770933" cy="1902409"/>
          </a:xfrm>
        </p:grpSpPr>
        <p:cxnSp>
          <p:nvCxnSpPr>
            <p:cNvPr id="8" name="Straight Arrow Connector 7">
              <a:extLst>
                <a:ext uri="{FF2B5EF4-FFF2-40B4-BE49-F238E27FC236}">
                  <a16:creationId xmlns:a16="http://schemas.microsoft.com/office/drawing/2014/main" id="{C16B0418-57CB-F943-AD94-86D08B874858}"/>
                </a:ext>
              </a:extLst>
            </p:cNvPr>
            <p:cNvCxnSpPr>
              <a:cxnSpLocks/>
            </p:cNvCxnSpPr>
            <p:nvPr/>
          </p:nvCxnSpPr>
          <p:spPr bwMode="auto">
            <a:xfrm flipH="1" flipV="1">
              <a:off x="6881394" y="1613543"/>
              <a:ext cx="2276011" cy="247484"/>
            </a:xfrm>
            <a:prstGeom prst="straightConnector1">
              <a:avLst/>
            </a:prstGeom>
            <a:solidFill>
              <a:schemeClr val="accent1"/>
            </a:solidFill>
            <a:ln w="50800" cap="flat" cmpd="sng" algn="ctr">
              <a:solidFill>
                <a:schemeClr val="tx2"/>
              </a:solidFill>
              <a:prstDash val="solid"/>
              <a:round/>
              <a:headEnd type="none" w="med" len="med"/>
              <a:tailEnd type="triangle"/>
            </a:ln>
            <a:effectLst/>
          </p:spPr>
        </p:cxnSp>
        <p:grpSp>
          <p:nvGrpSpPr>
            <p:cNvPr id="9" name="Group 8">
              <a:extLst>
                <a:ext uri="{FF2B5EF4-FFF2-40B4-BE49-F238E27FC236}">
                  <a16:creationId xmlns:a16="http://schemas.microsoft.com/office/drawing/2014/main" id="{B59EA707-76F9-C0E3-C5FD-1F1214CAB967}"/>
                </a:ext>
              </a:extLst>
            </p:cNvPr>
            <p:cNvGrpSpPr/>
            <p:nvPr/>
          </p:nvGrpSpPr>
          <p:grpSpPr>
            <a:xfrm>
              <a:off x="9014270" y="507217"/>
              <a:ext cx="2638057" cy="1902409"/>
              <a:chOff x="6940353" y="-257018"/>
              <a:chExt cx="4250070" cy="1134247"/>
            </a:xfrm>
          </p:grpSpPr>
          <p:sp>
            <p:nvSpPr>
              <p:cNvPr id="10" name="Rectangle: Rounded Corners 9">
                <a:extLst>
                  <a:ext uri="{FF2B5EF4-FFF2-40B4-BE49-F238E27FC236}">
                    <a16:creationId xmlns:a16="http://schemas.microsoft.com/office/drawing/2014/main" id="{E06A8F91-AF59-2D1B-7A3F-FF20A2EF2A1B}"/>
                  </a:ext>
                </a:extLst>
              </p:cNvPr>
              <p:cNvSpPr/>
              <p:nvPr/>
            </p:nvSpPr>
            <p:spPr bwMode="auto">
              <a:xfrm>
                <a:off x="6940353" y="-257018"/>
                <a:ext cx="4250070" cy="1134247"/>
              </a:xfrm>
              <a:prstGeom prst="round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ts val="19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11" name="TextBox 10">
                <a:extLst>
                  <a:ext uri="{FF2B5EF4-FFF2-40B4-BE49-F238E27FC236}">
                    <a16:creationId xmlns:a16="http://schemas.microsoft.com/office/drawing/2014/main" id="{2E40A9DB-6C3C-797F-8A9C-F1ACA52598D7}"/>
                  </a:ext>
                </a:extLst>
              </p:cNvPr>
              <p:cNvSpPr txBox="1"/>
              <p:nvPr/>
            </p:nvSpPr>
            <p:spPr>
              <a:xfrm>
                <a:off x="7258845" y="-146328"/>
                <a:ext cx="3786867" cy="850223"/>
              </a:xfrm>
              <a:prstGeom prst="rect">
                <a:avLst/>
              </a:prstGeom>
              <a:noFill/>
              <a:ln>
                <a:noFill/>
              </a:ln>
            </p:spPr>
            <p:txBody>
              <a:bodyPr wrap="square">
                <a:spAutoFit/>
              </a:bodyPr>
              <a:lstStyle/>
              <a:p>
                <a:pPr>
                  <a:lnSpc>
                    <a:spcPts val="2300"/>
                  </a:lnSpc>
                  <a:spcBef>
                    <a:spcPts val="0"/>
                  </a:spcBef>
                </a:pPr>
                <a:r>
                  <a:rPr lang="en-US" sz="2000" kern="0" dirty="0">
                    <a:solidFill>
                      <a:srgbClr val="FFFFFF"/>
                    </a:solidFill>
                    <a:effectLst/>
                    <a:latin typeface="Source Sans Pro Semibold" panose="020B0603030403020204" pitchFamily="34" charset="0"/>
                    <a:ea typeface="Source Sans Pro Semibold" panose="020B0603030403020204" pitchFamily="34" charset="0"/>
                  </a:rPr>
                  <a:t>Rivaroxaban, apixaban, </a:t>
                </a:r>
                <a:r>
                  <a:rPr lang="en-US" sz="2000" kern="0" dirty="0" err="1">
                    <a:solidFill>
                      <a:srgbClr val="FFFFFF"/>
                    </a:solidFill>
                    <a:effectLst/>
                    <a:latin typeface="Source Sans Pro Semibold" panose="020B0603030403020204" pitchFamily="34" charset="0"/>
                    <a:ea typeface="Source Sans Pro Semibold" panose="020B0603030403020204" pitchFamily="34" charset="0"/>
                  </a:rPr>
                  <a:t>edoxaban</a:t>
                </a:r>
                <a:endParaRPr lang="en-US" sz="2000" kern="0" dirty="0">
                  <a:solidFill>
                    <a:srgbClr val="FFFFFF"/>
                  </a:solidFill>
                  <a:effectLst/>
                  <a:latin typeface="Source Sans Pro Semibold" panose="020B0603030403020204" pitchFamily="34" charset="0"/>
                  <a:ea typeface="Source Sans Pro Semibold" panose="020B0603030403020204" pitchFamily="34" charset="0"/>
                </a:endParaRPr>
              </a:p>
              <a:p>
                <a:pPr>
                  <a:lnSpc>
                    <a:spcPts val="2300"/>
                  </a:lnSpc>
                  <a:spcBef>
                    <a:spcPts val="1200"/>
                  </a:spcBef>
                </a:pPr>
                <a:r>
                  <a:rPr lang="en-US" sz="2000" kern="0" dirty="0">
                    <a:solidFill>
                      <a:srgbClr val="FFFFFF"/>
                    </a:solidFill>
                    <a:effectLst/>
                    <a:latin typeface="Source Sans Pro Semibold" panose="020B0603030403020204" pitchFamily="34" charset="0"/>
                    <a:ea typeface="Source Sans Pro Semibold" panose="020B0603030403020204" pitchFamily="34" charset="0"/>
                  </a:rPr>
                  <a:t>Inhibit Xa directly</a:t>
                </a:r>
              </a:p>
            </p:txBody>
          </p:sp>
        </p:grpSp>
      </p:grpSp>
      <p:grpSp>
        <p:nvGrpSpPr>
          <p:cNvPr id="23" name="Group 22">
            <a:extLst>
              <a:ext uri="{FF2B5EF4-FFF2-40B4-BE49-F238E27FC236}">
                <a16:creationId xmlns:a16="http://schemas.microsoft.com/office/drawing/2014/main" id="{070612AA-1441-B436-6AC8-1A4506E2C9B8}"/>
              </a:ext>
            </a:extLst>
          </p:cNvPr>
          <p:cNvGrpSpPr/>
          <p:nvPr/>
        </p:nvGrpSpPr>
        <p:grpSpPr>
          <a:xfrm>
            <a:off x="8211362" y="4785530"/>
            <a:ext cx="3439249" cy="1245184"/>
            <a:chOff x="6940353" y="-158853"/>
            <a:chExt cx="4250070" cy="1134247"/>
          </a:xfrm>
        </p:grpSpPr>
        <p:sp>
          <p:nvSpPr>
            <p:cNvPr id="24" name="Rectangle: Rounded Corners 23">
              <a:extLst>
                <a:ext uri="{FF2B5EF4-FFF2-40B4-BE49-F238E27FC236}">
                  <a16:creationId xmlns:a16="http://schemas.microsoft.com/office/drawing/2014/main" id="{DEB4A80B-D728-E398-79F0-CAE5BFDBDDC6}"/>
                </a:ext>
              </a:extLst>
            </p:cNvPr>
            <p:cNvSpPr/>
            <p:nvPr/>
          </p:nvSpPr>
          <p:spPr bwMode="auto">
            <a:xfrm>
              <a:off x="6940353" y="-158853"/>
              <a:ext cx="4250070" cy="1134247"/>
            </a:xfrm>
            <a:prstGeom prst="round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ts val="19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25" name="TextBox 24">
              <a:extLst>
                <a:ext uri="{FF2B5EF4-FFF2-40B4-BE49-F238E27FC236}">
                  <a16:creationId xmlns:a16="http://schemas.microsoft.com/office/drawing/2014/main" id="{1C260F60-92A9-5D03-7B25-F858E44516C4}"/>
                </a:ext>
              </a:extLst>
            </p:cNvPr>
            <p:cNvSpPr txBox="1"/>
            <p:nvPr/>
          </p:nvSpPr>
          <p:spPr>
            <a:xfrm>
              <a:off x="7170952" y="-87182"/>
              <a:ext cx="3786867" cy="934328"/>
            </a:xfrm>
            <a:prstGeom prst="rect">
              <a:avLst/>
            </a:prstGeom>
            <a:noFill/>
            <a:ln>
              <a:noFill/>
            </a:ln>
          </p:spPr>
          <p:txBody>
            <a:bodyPr wrap="square">
              <a:spAutoFit/>
            </a:bodyPr>
            <a:lstStyle/>
            <a:p>
              <a:pPr>
                <a:lnSpc>
                  <a:spcPts val="2300"/>
                </a:lnSpc>
                <a:spcBef>
                  <a:spcPts val="0"/>
                </a:spcBef>
              </a:pPr>
              <a:r>
                <a:rPr lang="en-US" sz="2000" kern="0" dirty="0">
                  <a:solidFill>
                    <a:srgbClr val="FFFFFF"/>
                  </a:solidFill>
                  <a:effectLst/>
                  <a:latin typeface="Source Sans Pro Semibold" panose="020B0603030403020204" pitchFamily="34" charset="0"/>
                  <a:ea typeface="Source Sans Pro Semibold" panose="020B0603030403020204" pitchFamily="34" charset="0"/>
                </a:rPr>
                <a:t>Reminder: *Fondaparinux also inhibits factors Xa indirectly through AT</a:t>
              </a:r>
            </a:p>
          </p:txBody>
        </p:sp>
      </p:grpSp>
    </p:spTree>
    <p:extLst>
      <p:ext uri="{BB962C8B-B14F-4D97-AF65-F5344CB8AC3E}">
        <p14:creationId xmlns:p14="http://schemas.microsoft.com/office/powerpoint/2010/main" val="11463109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53930AD-7326-07E5-0239-7D8AA9731B85}"/>
              </a:ext>
            </a:extLst>
          </p:cNvPr>
          <p:cNvSpPr/>
          <p:nvPr/>
        </p:nvSpPr>
        <p:spPr bwMode="auto">
          <a:xfrm>
            <a:off x="6403734" y="952107"/>
            <a:ext cx="4873867" cy="4345757"/>
          </a:xfrm>
          <a:prstGeom prst="rect">
            <a:avLst/>
          </a:prstGeom>
          <a:solidFill>
            <a:schemeClr val="bg1"/>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
        <p:nvSpPr>
          <p:cNvPr id="2" name="Title 1"/>
          <p:cNvSpPr>
            <a:spLocks noGrp="1"/>
          </p:cNvSpPr>
          <p:nvPr>
            <p:ph type="title"/>
          </p:nvPr>
        </p:nvSpPr>
        <p:spPr>
          <a:xfrm>
            <a:off x="914399" y="167892"/>
            <a:ext cx="10389241" cy="670308"/>
          </a:xfrm>
        </p:spPr>
        <p:txBody>
          <a:bodyPr/>
          <a:lstStyle/>
          <a:p>
            <a:r>
              <a:rPr lang="en-US" dirty="0"/>
              <a:t>Direct Factor Xa Inhibitors</a:t>
            </a:r>
          </a:p>
        </p:txBody>
      </p:sp>
      <p:sp>
        <p:nvSpPr>
          <p:cNvPr id="3" name="Content Placeholder 2"/>
          <p:cNvSpPr>
            <a:spLocks noGrp="1"/>
          </p:cNvSpPr>
          <p:nvPr>
            <p:ph idx="1"/>
          </p:nvPr>
        </p:nvSpPr>
        <p:spPr>
          <a:xfrm>
            <a:off x="914400" y="1290914"/>
            <a:ext cx="4873868" cy="4591412"/>
          </a:xfrm>
        </p:spPr>
        <p:txBody>
          <a:bodyPr>
            <a:normAutofit/>
          </a:bodyPr>
          <a:lstStyle/>
          <a:p>
            <a:pPr marL="228600" indent="-228600">
              <a:spcBef>
                <a:spcPts val="1800"/>
              </a:spcBef>
            </a:pPr>
            <a:r>
              <a:rPr lang="en-US" sz="2200" b="0" kern="1200" dirty="0" err="1">
                <a:solidFill>
                  <a:schemeClr val="tx1"/>
                </a:solidFill>
              </a:rPr>
              <a:t>Rivaro</a:t>
            </a:r>
            <a:r>
              <a:rPr lang="en-US" sz="2200" b="1" kern="1200" dirty="0" err="1">
                <a:solidFill>
                  <a:schemeClr val="tx1"/>
                </a:solidFill>
              </a:rPr>
              <a:t>Xa</a:t>
            </a:r>
            <a:r>
              <a:rPr lang="en-US" sz="2200" b="0" kern="1200" dirty="0" err="1">
                <a:solidFill>
                  <a:schemeClr val="tx1"/>
                </a:solidFill>
              </a:rPr>
              <a:t>ban</a:t>
            </a:r>
            <a:r>
              <a:rPr lang="en-US" sz="2200" b="0" kern="1200" dirty="0">
                <a:solidFill>
                  <a:schemeClr val="tx1"/>
                </a:solidFill>
              </a:rPr>
              <a:t>, </a:t>
            </a:r>
            <a:r>
              <a:rPr lang="en-US" sz="2200" b="0" kern="1200" dirty="0" err="1">
                <a:solidFill>
                  <a:schemeClr val="tx1"/>
                </a:solidFill>
              </a:rPr>
              <a:t>api</a:t>
            </a:r>
            <a:r>
              <a:rPr lang="en-US" sz="2200" b="1" kern="1200" dirty="0" err="1">
                <a:solidFill>
                  <a:schemeClr val="tx1"/>
                </a:solidFill>
              </a:rPr>
              <a:t>Xa</a:t>
            </a:r>
            <a:r>
              <a:rPr lang="en-US" sz="2200" b="0" kern="1200" dirty="0" err="1">
                <a:solidFill>
                  <a:schemeClr val="tx1"/>
                </a:solidFill>
              </a:rPr>
              <a:t>ban</a:t>
            </a:r>
            <a:r>
              <a:rPr lang="en-US" sz="2200" b="0" kern="1200" dirty="0">
                <a:solidFill>
                  <a:schemeClr val="tx1"/>
                </a:solidFill>
              </a:rPr>
              <a:t>, </a:t>
            </a:r>
            <a:r>
              <a:rPr lang="en-US" sz="2200" b="0" kern="1200" dirty="0" err="1">
                <a:solidFill>
                  <a:schemeClr val="tx1"/>
                </a:solidFill>
              </a:rPr>
              <a:t>edo</a:t>
            </a:r>
            <a:r>
              <a:rPr lang="en-US" sz="2200" b="1" kern="1200" dirty="0" err="1">
                <a:solidFill>
                  <a:schemeClr val="tx1"/>
                </a:solidFill>
              </a:rPr>
              <a:t>Xa</a:t>
            </a:r>
            <a:r>
              <a:rPr lang="en-US" sz="2200" b="0" kern="1200" dirty="0" err="1">
                <a:solidFill>
                  <a:schemeClr val="tx1"/>
                </a:solidFill>
              </a:rPr>
              <a:t>ban</a:t>
            </a:r>
            <a:endParaRPr lang="en-US" sz="2200" b="0" kern="1200" dirty="0">
              <a:solidFill>
                <a:schemeClr val="tx1"/>
              </a:solidFill>
            </a:endParaRPr>
          </a:p>
          <a:p>
            <a:pPr marL="228600" indent="-228600">
              <a:spcBef>
                <a:spcPts val="1800"/>
              </a:spcBef>
            </a:pPr>
            <a:r>
              <a:rPr lang="en-US" sz="2200" b="0" kern="1200" dirty="0">
                <a:solidFill>
                  <a:schemeClr val="tx1"/>
                </a:solidFill>
              </a:rPr>
              <a:t>Competitively inhibit factor Xa </a:t>
            </a:r>
            <a:br>
              <a:rPr lang="en-US" sz="2200" b="0" kern="1200" dirty="0">
                <a:solidFill>
                  <a:schemeClr val="tx1"/>
                </a:solidFill>
              </a:rPr>
            </a:br>
            <a:r>
              <a:rPr lang="en-US" sz="2200" b="0" kern="1200" dirty="0">
                <a:solidFill>
                  <a:schemeClr val="tx1"/>
                </a:solidFill>
              </a:rPr>
              <a:t>by binding to the active site </a:t>
            </a:r>
            <a:br>
              <a:rPr lang="en-US" sz="2200" b="0" kern="1200" dirty="0">
                <a:solidFill>
                  <a:schemeClr val="tx1"/>
                </a:solidFill>
              </a:rPr>
            </a:br>
            <a:r>
              <a:rPr lang="en-US" sz="2200" b="0" kern="1200" dirty="0">
                <a:solidFill>
                  <a:schemeClr val="tx1"/>
                </a:solidFill>
              </a:rPr>
              <a:t>of the enzyme</a:t>
            </a:r>
          </a:p>
          <a:p>
            <a:pPr marL="228600" indent="-228600">
              <a:spcBef>
                <a:spcPts val="1800"/>
              </a:spcBef>
            </a:pPr>
            <a:r>
              <a:rPr lang="en-US" sz="2200" b="0" kern="1200" dirty="0">
                <a:solidFill>
                  <a:schemeClr val="tx1"/>
                </a:solidFill>
              </a:rPr>
              <a:t>Do not inactivate thrombin</a:t>
            </a:r>
          </a:p>
          <a:p>
            <a:pPr marL="228600" indent="-228600">
              <a:spcBef>
                <a:spcPts val="1800"/>
              </a:spcBef>
            </a:pPr>
            <a:r>
              <a:rPr lang="en-US" sz="2200" b="0" kern="1200" dirty="0">
                <a:solidFill>
                  <a:schemeClr val="tx1"/>
                </a:solidFill>
              </a:rPr>
              <a:t>All administered orally</a:t>
            </a:r>
          </a:p>
          <a:p>
            <a:pPr marL="228600" indent="-228600">
              <a:spcBef>
                <a:spcPts val="1800"/>
              </a:spcBef>
            </a:pPr>
            <a:r>
              <a:rPr lang="en-US" sz="2200" b="0" kern="1200" dirty="0">
                <a:solidFill>
                  <a:schemeClr val="tx1"/>
                </a:solidFill>
              </a:rPr>
              <a:t>Cleared by both metabolism in the liver and excretion in the kidney</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39785" y="1094443"/>
            <a:ext cx="4463338" cy="4044280"/>
          </a:xfrm>
          <a:prstGeom prst="rect">
            <a:avLst/>
          </a:prstGeom>
        </p:spPr>
      </p:pic>
      <p:grpSp>
        <p:nvGrpSpPr>
          <p:cNvPr id="8" name="Group 7">
            <a:extLst>
              <a:ext uri="{FF2B5EF4-FFF2-40B4-BE49-F238E27FC236}">
                <a16:creationId xmlns:a16="http://schemas.microsoft.com/office/drawing/2014/main" id="{085A37EE-D8EE-AD78-8359-E68F4BEB7B92}"/>
              </a:ext>
            </a:extLst>
          </p:cNvPr>
          <p:cNvGrpSpPr/>
          <p:nvPr/>
        </p:nvGrpSpPr>
        <p:grpSpPr>
          <a:xfrm>
            <a:off x="7200709" y="5404275"/>
            <a:ext cx="3625855" cy="571729"/>
            <a:chOff x="6940353" y="-158853"/>
            <a:chExt cx="4480669" cy="520792"/>
          </a:xfrm>
        </p:grpSpPr>
        <p:sp>
          <p:nvSpPr>
            <p:cNvPr id="9" name="Rectangle: Rounded Corners 8">
              <a:extLst>
                <a:ext uri="{FF2B5EF4-FFF2-40B4-BE49-F238E27FC236}">
                  <a16:creationId xmlns:a16="http://schemas.microsoft.com/office/drawing/2014/main" id="{208CE1F7-89DC-5B19-4A1F-BB74B1041396}"/>
                </a:ext>
              </a:extLst>
            </p:cNvPr>
            <p:cNvSpPr/>
            <p:nvPr/>
          </p:nvSpPr>
          <p:spPr bwMode="auto">
            <a:xfrm>
              <a:off x="6940353" y="-158853"/>
              <a:ext cx="4250069" cy="520792"/>
            </a:xfrm>
            <a:prstGeom prst="round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ts val="19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10" name="TextBox 9">
              <a:extLst>
                <a:ext uri="{FF2B5EF4-FFF2-40B4-BE49-F238E27FC236}">
                  <a16:creationId xmlns:a16="http://schemas.microsoft.com/office/drawing/2014/main" id="{BCFDBFA9-2BCB-FB16-9836-0BE7EB28C2E1}"/>
                </a:ext>
              </a:extLst>
            </p:cNvPr>
            <p:cNvSpPr txBox="1"/>
            <p:nvPr/>
          </p:nvSpPr>
          <p:spPr>
            <a:xfrm>
              <a:off x="7170952" y="-87182"/>
              <a:ext cx="4250070" cy="352782"/>
            </a:xfrm>
            <a:prstGeom prst="rect">
              <a:avLst/>
            </a:prstGeom>
            <a:noFill/>
            <a:ln>
              <a:noFill/>
            </a:ln>
          </p:spPr>
          <p:txBody>
            <a:bodyPr wrap="square">
              <a:spAutoFit/>
            </a:bodyPr>
            <a:lstStyle/>
            <a:p>
              <a:pPr>
                <a:lnSpc>
                  <a:spcPts val="2300"/>
                </a:lnSpc>
                <a:spcBef>
                  <a:spcPts val="0"/>
                </a:spcBef>
              </a:pPr>
              <a:r>
                <a:rPr lang="en-US" sz="2000" kern="0" dirty="0">
                  <a:solidFill>
                    <a:srgbClr val="FFFFFF"/>
                  </a:solidFill>
                  <a:effectLst/>
                  <a:latin typeface="Source Sans Pro Semibold" panose="020B0603030403020204" pitchFamily="34" charset="0"/>
                  <a:ea typeface="Source Sans Pro Semibold" panose="020B0603030403020204" pitchFamily="34" charset="0"/>
                </a:rPr>
                <a:t>*Note the general similarity</a:t>
              </a:r>
            </a:p>
          </p:txBody>
        </p:sp>
      </p:grpSp>
    </p:spTree>
    <p:extLst>
      <p:ext uri="{BB962C8B-B14F-4D97-AF65-F5344CB8AC3E}">
        <p14:creationId xmlns:p14="http://schemas.microsoft.com/office/powerpoint/2010/main" val="11036403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3951D-36A4-DD37-F403-B1C6F057B5A0}"/>
              </a:ext>
            </a:extLst>
          </p:cNvPr>
          <p:cNvSpPr>
            <a:spLocks noGrp="1"/>
          </p:cNvSpPr>
          <p:nvPr>
            <p:ph type="title"/>
          </p:nvPr>
        </p:nvSpPr>
        <p:spPr>
          <a:xfrm>
            <a:off x="1028700" y="503046"/>
            <a:ext cx="10389241" cy="670308"/>
          </a:xfrm>
        </p:spPr>
        <p:txBody>
          <a:bodyPr/>
          <a:lstStyle/>
          <a:p>
            <a:r>
              <a:rPr lang="en-US" dirty="0"/>
              <a:t>Direct Oral Anticoagulants (DOAC) </a:t>
            </a:r>
            <a:br>
              <a:rPr lang="en-US" dirty="0"/>
            </a:br>
            <a:r>
              <a:rPr lang="en-US" dirty="0"/>
              <a:t>versus Warfarin </a:t>
            </a:r>
          </a:p>
        </p:txBody>
      </p:sp>
      <p:graphicFrame>
        <p:nvGraphicFramePr>
          <p:cNvPr id="4" name="Content Placeholder 3">
            <a:extLst>
              <a:ext uri="{FF2B5EF4-FFF2-40B4-BE49-F238E27FC236}">
                <a16:creationId xmlns:a16="http://schemas.microsoft.com/office/drawing/2014/main" id="{26D759A7-18FE-548B-20BF-9B927F8C74B3}"/>
              </a:ext>
            </a:extLst>
          </p:cNvPr>
          <p:cNvGraphicFramePr>
            <a:graphicFrameLocks noGrp="1"/>
          </p:cNvGraphicFramePr>
          <p:nvPr>
            <p:ph idx="1"/>
            <p:extLst>
              <p:ext uri="{D42A27DB-BD31-4B8C-83A1-F6EECF244321}">
                <p14:modId xmlns:p14="http://schemas.microsoft.com/office/powerpoint/2010/main" val="3329157498"/>
              </p:ext>
            </p:extLst>
          </p:nvPr>
        </p:nvGraphicFramePr>
        <p:xfrm>
          <a:off x="1028700" y="1290914"/>
          <a:ext cx="10607725" cy="3953978"/>
        </p:xfrm>
        <a:graphic>
          <a:graphicData uri="http://schemas.openxmlformats.org/drawingml/2006/table">
            <a:tbl>
              <a:tblPr firstRow="1" firstCol="1" bandRow="1">
                <a:tableStyleId>{5C22544A-7EE6-4342-B048-85BDC9FD1C3A}</a:tableStyleId>
              </a:tblPr>
              <a:tblGrid>
                <a:gridCol w="3066510">
                  <a:extLst>
                    <a:ext uri="{9D8B030D-6E8A-4147-A177-3AD203B41FA5}">
                      <a16:colId xmlns:a16="http://schemas.microsoft.com/office/drawing/2014/main" val="108485904"/>
                    </a:ext>
                  </a:extLst>
                </a:gridCol>
                <a:gridCol w="4379072">
                  <a:extLst>
                    <a:ext uri="{9D8B030D-6E8A-4147-A177-3AD203B41FA5}">
                      <a16:colId xmlns:a16="http://schemas.microsoft.com/office/drawing/2014/main" val="3384391223"/>
                    </a:ext>
                  </a:extLst>
                </a:gridCol>
                <a:gridCol w="3162143">
                  <a:extLst>
                    <a:ext uri="{9D8B030D-6E8A-4147-A177-3AD203B41FA5}">
                      <a16:colId xmlns:a16="http://schemas.microsoft.com/office/drawing/2014/main" val="2143901972"/>
                    </a:ext>
                  </a:extLst>
                </a:gridCol>
              </a:tblGrid>
              <a:tr h="624034">
                <a:tc>
                  <a:txBody>
                    <a:bodyPr/>
                    <a:lstStyle/>
                    <a:p>
                      <a:pPr>
                        <a:lnSpc>
                          <a:spcPct val="107000"/>
                        </a:lnSpc>
                      </a:pPr>
                      <a:endParaRPr lang="en-US" sz="1800" kern="100" dirty="0">
                        <a:effectLst/>
                        <a:latin typeface="+mn-lt"/>
                      </a:endParaRPr>
                    </a:p>
                  </a:txBody>
                  <a:tcPr marL="47625" marR="47625" marT="47625" marB="47625">
                    <a:lnL w="12700" cap="flat" cmpd="sng" algn="ctr">
                      <a:solidFill>
                        <a:schemeClr val="bg1">
                          <a:lumMod val="50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2"/>
                    </a:solidFill>
                  </a:tcPr>
                </a:tc>
                <a:tc>
                  <a:txBody>
                    <a:bodyPr/>
                    <a:lstStyle/>
                    <a:p>
                      <a:pPr marL="0" marR="0" algn="ctr">
                        <a:lnSpc>
                          <a:spcPct val="107000"/>
                        </a:lnSpc>
                        <a:spcBef>
                          <a:spcPts val="0"/>
                        </a:spcBef>
                        <a:spcAft>
                          <a:spcPts val="750"/>
                        </a:spcAft>
                      </a:pPr>
                      <a:r>
                        <a:rPr lang="en-US" sz="1800" kern="0" dirty="0">
                          <a:solidFill>
                            <a:srgbClr val="FFFFFF"/>
                          </a:solidFill>
                          <a:effectLst/>
                          <a:latin typeface="+mn-lt"/>
                        </a:rPr>
                        <a:t>DOACs</a:t>
                      </a:r>
                      <a:endParaRPr lang="en-US" sz="1800" kern="100" dirty="0">
                        <a:solidFill>
                          <a:srgbClr val="FFFFFF"/>
                        </a:solidFill>
                        <a:effectLst/>
                        <a:latin typeface="+mn-lt"/>
                        <a:ea typeface="Aptos" panose="020B0004020202020204" pitchFamily="34" charset="0"/>
                        <a:cs typeface="Times New Roman" panose="02020603050405020304" pitchFamily="18" charset="0"/>
                      </a:endParaRPr>
                    </a:p>
                  </a:txBody>
                  <a:tcPr marL="47625"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solidFill>
                      <a:schemeClr val="tx2"/>
                    </a:solidFill>
                  </a:tcPr>
                </a:tc>
                <a:tc>
                  <a:txBody>
                    <a:bodyPr/>
                    <a:lstStyle/>
                    <a:p>
                      <a:pPr marL="0" marR="0" algn="ctr">
                        <a:lnSpc>
                          <a:spcPct val="107000"/>
                        </a:lnSpc>
                        <a:spcBef>
                          <a:spcPts val="0"/>
                        </a:spcBef>
                        <a:spcAft>
                          <a:spcPts val="750"/>
                        </a:spcAft>
                      </a:pPr>
                      <a:r>
                        <a:rPr lang="en-US" sz="1800" kern="0" dirty="0">
                          <a:solidFill>
                            <a:srgbClr val="FFFFFF"/>
                          </a:solidFill>
                          <a:effectLst/>
                          <a:latin typeface="+mn-lt"/>
                        </a:rPr>
                        <a:t>Warfarin</a:t>
                      </a:r>
                      <a:endParaRPr lang="en-US" sz="1800" kern="100" dirty="0">
                        <a:solidFill>
                          <a:srgbClr val="FFFFFF"/>
                        </a:solidFill>
                        <a:effectLst/>
                        <a:latin typeface="+mn-lt"/>
                        <a:ea typeface="Aptos" panose="020B0004020202020204" pitchFamily="34" charset="0"/>
                        <a:cs typeface="Times New Roman" panose="02020603050405020304" pitchFamily="18" charset="0"/>
                      </a:endParaRPr>
                    </a:p>
                  </a:txBody>
                  <a:tcPr marL="47625"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solidFill>
                      <a:schemeClr val="tx2"/>
                    </a:solidFill>
                  </a:tcPr>
                </a:tc>
                <a:extLst>
                  <a:ext uri="{0D108BD9-81ED-4DB2-BD59-A6C34878D82A}">
                    <a16:rowId xmlns:a16="http://schemas.microsoft.com/office/drawing/2014/main" val="3063683790"/>
                  </a:ext>
                </a:extLst>
              </a:tr>
              <a:tr h="696457">
                <a:tc>
                  <a:txBody>
                    <a:bodyPr/>
                    <a:lstStyle/>
                    <a:p>
                      <a:pPr marL="0" marR="0" algn="l">
                        <a:lnSpc>
                          <a:spcPct val="107000"/>
                        </a:lnSpc>
                        <a:spcBef>
                          <a:spcPts val="0"/>
                        </a:spcBef>
                        <a:spcAft>
                          <a:spcPts val="750"/>
                        </a:spcAft>
                      </a:pPr>
                      <a:r>
                        <a:rPr lang="en-US" sz="1800" kern="0" dirty="0">
                          <a:solidFill>
                            <a:srgbClr val="FFFFFF"/>
                          </a:solidFill>
                          <a:effectLst/>
                          <a:latin typeface="+mn-lt"/>
                        </a:rPr>
                        <a:t>Dosing</a:t>
                      </a:r>
                      <a:endParaRPr lang="en-US" sz="1800" kern="100" dirty="0">
                        <a:solidFill>
                          <a:srgbClr val="FFFFFF"/>
                        </a:solidFill>
                        <a:effectLst/>
                        <a:latin typeface="+mn-lt"/>
                        <a:ea typeface="Aptos" panose="020B0004020202020204" pitchFamily="34" charset="0"/>
                        <a:cs typeface="Times New Roman" panose="02020603050405020304" pitchFamily="18" charset="0"/>
                      </a:endParaRPr>
                    </a:p>
                  </a:txBody>
                  <a:tcPr marL="182880" marR="47625" marT="47625" marB="4762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1">
                        <a:lumMod val="65000"/>
                        <a:lumOff val="35000"/>
                      </a:schemeClr>
                    </a:solidFill>
                  </a:tcPr>
                </a:tc>
                <a:tc>
                  <a:txBody>
                    <a:bodyPr/>
                    <a:lstStyle/>
                    <a:p>
                      <a:pPr marL="0" marR="0" algn="ctr">
                        <a:lnSpc>
                          <a:spcPct val="107000"/>
                        </a:lnSpc>
                        <a:spcBef>
                          <a:spcPts val="0"/>
                        </a:spcBef>
                        <a:spcAft>
                          <a:spcPts val="750"/>
                        </a:spcAft>
                      </a:pPr>
                      <a:r>
                        <a:rPr lang="en-US" sz="1800" kern="0" dirty="0">
                          <a:effectLst/>
                          <a:latin typeface="+mn-lt"/>
                        </a:rPr>
                        <a:t>&gt;1 dose daily may be required (fixed)</a:t>
                      </a:r>
                      <a:endParaRPr lang="en-US" sz="1800" kern="100" dirty="0">
                        <a:effectLst/>
                        <a:latin typeface="+mn-lt"/>
                        <a:ea typeface="Aptos" panose="020B0004020202020204" pitchFamily="34" charset="0"/>
                        <a:cs typeface="Times New Roman" panose="02020603050405020304" pitchFamily="18" charset="0"/>
                      </a:endParaRPr>
                    </a:p>
                  </a:txBody>
                  <a:tcPr marL="47625"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85000"/>
                      </a:schemeClr>
                    </a:solidFill>
                  </a:tcPr>
                </a:tc>
                <a:tc>
                  <a:txBody>
                    <a:bodyPr/>
                    <a:lstStyle/>
                    <a:p>
                      <a:pPr marL="0" marR="0" algn="ctr">
                        <a:lnSpc>
                          <a:spcPct val="107000"/>
                        </a:lnSpc>
                        <a:spcBef>
                          <a:spcPts val="0"/>
                        </a:spcBef>
                        <a:spcAft>
                          <a:spcPts val="0"/>
                        </a:spcAft>
                      </a:pPr>
                      <a:r>
                        <a:rPr lang="en-US" sz="1800" kern="0" dirty="0">
                          <a:effectLst/>
                          <a:latin typeface="+mn-lt"/>
                        </a:rPr>
                        <a:t>Once daily </a:t>
                      </a:r>
                    </a:p>
                    <a:p>
                      <a:pPr marL="0" marR="0" algn="ctr">
                        <a:lnSpc>
                          <a:spcPct val="107000"/>
                        </a:lnSpc>
                        <a:spcBef>
                          <a:spcPts val="0"/>
                        </a:spcBef>
                        <a:spcAft>
                          <a:spcPts val="0"/>
                        </a:spcAft>
                      </a:pPr>
                      <a:r>
                        <a:rPr lang="en-US" sz="1800" kern="0" dirty="0">
                          <a:effectLst/>
                          <a:latin typeface="+mn-lt"/>
                        </a:rPr>
                        <a:t>(requires titration)</a:t>
                      </a:r>
                      <a:endParaRPr lang="en-US" sz="1800" kern="100" dirty="0">
                        <a:effectLst/>
                        <a:latin typeface="+mn-lt"/>
                        <a:ea typeface="Aptos" panose="020B0004020202020204" pitchFamily="34" charset="0"/>
                        <a:cs typeface="Times New Roman" panose="02020603050405020304" pitchFamily="18" charset="0"/>
                      </a:endParaRPr>
                    </a:p>
                  </a:txBody>
                  <a:tcPr marL="47625"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65290553"/>
                  </a:ext>
                </a:extLst>
              </a:tr>
              <a:tr h="707812">
                <a:tc>
                  <a:txBody>
                    <a:bodyPr/>
                    <a:lstStyle/>
                    <a:p>
                      <a:pPr marL="0" marR="0" algn="l">
                        <a:lnSpc>
                          <a:spcPct val="107000"/>
                        </a:lnSpc>
                        <a:spcBef>
                          <a:spcPts val="0"/>
                        </a:spcBef>
                        <a:spcAft>
                          <a:spcPts val="750"/>
                        </a:spcAft>
                      </a:pPr>
                      <a:r>
                        <a:rPr lang="en-US" sz="1800" kern="0" dirty="0">
                          <a:solidFill>
                            <a:srgbClr val="FFFFFF"/>
                          </a:solidFill>
                          <a:effectLst/>
                          <a:latin typeface="+mn-lt"/>
                        </a:rPr>
                        <a:t>Dietary restrictions</a:t>
                      </a:r>
                      <a:endParaRPr lang="en-US" sz="1800" kern="100" dirty="0">
                        <a:solidFill>
                          <a:srgbClr val="FFFFFF"/>
                        </a:solidFill>
                        <a:effectLst/>
                        <a:latin typeface="+mn-lt"/>
                        <a:ea typeface="Aptos" panose="020B0004020202020204" pitchFamily="34" charset="0"/>
                        <a:cs typeface="Times New Roman" panose="02020603050405020304" pitchFamily="18" charset="0"/>
                      </a:endParaRPr>
                    </a:p>
                  </a:txBody>
                  <a:tcPr marL="182880" marR="47625" marT="47625" marB="4762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696969"/>
                    </a:solidFill>
                  </a:tcPr>
                </a:tc>
                <a:tc>
                  <a:txBody>
                    <a:bodyPr/>
                    <a:lstStyle/>
                    <a:p>
                      <a:pPr marL="0" marR="0" algn="ctr">
                        <a:lnSpc>
                          <a:spcPct val="107000"/>
                        </a:lnSpc>
                        <a:spcBef>
                          <a:spcPts val="0"/>
                        </a:spcBef>
                        <a:spcAft>
                          <a:spcPts val="750"/>
                        </a:spcAft>
                      </a:pPr>
                      <a:r>
                        <a:rPr lang="en-US" sz="1800" kern="0" dirty="0">
                          <a:effectLst/>
                          <a:latin typeface="+mn-lt"/>
                        </a:rPr>
                        <a:t>None</a:t>
                      </a:r>
                      <a:endParaRPr lang="en-US" sz="1800" kern="100" dirty="0">
                        <a:effectLst/>
                        <a:latin typeface="+mn-lt"/>
                        <a:ea typeface="Aptos" panose="020B0004020202020204" pitchFamily="34" charset="0"/>
                        <a:cs typeface="Times New Roman" panose="02020603050405020304" pitchFamily="18" charset="0"/>
                      </a:endParaRPr>
                    </a:p>
                  </a:txBody>
                  <a:tcPr marL="47625"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marR="0" algn="ctr">
                        <a:lnSpc>
                          <a:spcPct val="107000"/>
                        </a:lnSpc>
                        <a:spcBef>
                          <a:spcPts val="0"/>
                        </a:spcBef>
                        <a:spcAft>
                          <a:spcPts val="750"/>
                        </a:spcAft>
                      </a:pPr>
                      <a:r>
                        <a:rPr lang="en-US" sz="1800" kern="0" dirty="0">
                          <a:effectLst/>
                          <a:latin typeface="+mn-lt"/>
                        </a:rPr>
                        <a:t>Stable vitamin K </a:t>
                      </a:r>
                      <a:br>
                        <a:rPr lang="en-US" sz="1800" kern="0" dirty="0">
                          <a:effectLst/>
                          <a:latin typeface="+mn-lt"/>
                        </a:rPr>
                      </a:br>
                      <a:r>
                        <a:rPr lang="en-US" sz="1800" kern="0" dirty="0">
                          <a:effectLst/>
                          <a:latin typeface="+mn-lt"/>
                        </a:rPr>
                        <a:t>intake required</a:t>
                      </a:r>
                      <a:endParaRPr lang="en-US" sz="1800" kern="100" dirty="0">
                        <a:effectLst/>
                        <a:latin typeface="+mn-lt"/>
                        <a:ea typeface="Aptos" panose="020B0004020202020204" pitchFamily="34" charset="0"/>
                        <a:cs typeface="Times New Roman" panose="02020603050405020304" pitchFamily="18" charset="0"/>
                      </a:endParaRPr>
                    </a:p>
                  </a:txBody>
                  <a:tcPr marL="47625"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22724927"/>
                  </a:ext>
                </a:extLst>
              </a:tr>
              <a:tr h="624034">
                <a:tc>
                  <a:txBody>
                    <a:bodyPr/>
                    <a:lstStyle/>
                    <a:p>
                      <a:pPr marL="0" marR="0" algn="l">
                        <a:lnSpc>
                          <a:spcPct val="107000"/>
                        </a:lnSpc>
                        <a:spcBef>
                          <a:spcPts val="0"/>
                        </a:spcBef>
                        <a:spcAft>
                          <a:spcPts val="750"/>
                        </a:spcAft>
                      </a:pPr>
                      <a:r>
                        <a:rPr lang="en-US" sz="1800" kern="0" dirty="0">
                          <a:solidFill>
                            <a:srgbClr val="FFFFFF"/>
                          </a:solidFill>
                          <a:effectLst/>
                          <a:latin typeface="+mn-lt"/>
                        </a:rPr>
                        <a:t>Drug interactions</a:t>
                      </a:r>
                      <a:endParaRPr lang="en-US" sz="1800" kern="100" dirty="0">
                        <a:solidFill>
                          <a:srgbClr val="FFFFFF"/>
                        </a:solidFill>
                        <a:effectLst/>
                        <a:latin typeface="+mn-lt"/>
                        <a:ea typeface="Aptos" panose="020B0004020202020204" pitchFamily="34" charset="0"/>
                        <a:cs typeface="Times New Roman" panose="02020603050405020304" pitchFamily="18" charset="0"/>
                      </a:endParaRPr>
                    </a:p>
                  </a:txBody>
                  <a:tcPr marL="182880" marR="47625" marT="47625" marB="4762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1">
                        <a:lumMod val="65000"/>
                        <a:lumOff val="35000"/>
                      </a:schemeClr>
                    </a:solidFill>
                  </a:tcPr>
                </a:tc>
                <a:tc>
                  <a:txBody>
                    <a:bodyPr/>
                    <a:lstStyle/>
                    <a:p>
                      <a:pPr marL="0" marR="0" algn="ctr">
                        <a:lnSpc>
                          <a:spcPct val="107000"/>
                        </a:lnSpc>
                        <a:spcBef>
                          <a:spcPts val="0"/>
                        </a:spcBef>
                        <a:spcAft>
                          <a:spcPts val="750"/>
                        </a:spcAft>
                      </a:pPr>
                      <a:r>
                        <a:rPr lang="en-US" sz="1800" kern="0" dirty="0">
                          <a:effectLst/>
                          <a:latin typeface="+mn-lt"/>
                        </a:rPr>
                        <a:t>Few</a:t>
                      </a:r>
                      <a:endParaRPr lang="en-US" sz="1800" kern="100" dirty="0">
                        <a:effectLst/>
                        <a:latin typeface="+mn-lt"/>
                        <a:ea typeface="Aptos" panose="020B0004020202020204" pitchFamily="34" charset="0"/>
                        <a:cs typeface="Times New Roman" panose="02020603050405020304" pitchFamily="18" charset="0"/>
                      </a:endParaRPr>
                    </a:p>
                  </a:txBody>
                  <a:tcPr marL="47625"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85000"/>
                      </a:schemeClr>
                    </a:solidFill>
                  </a:tcPr>
                </a:tc>
                <a:tc>
                  <a:txBody>
                    <a:bodyPr/>
                    <a:lstStyle/>
                    <a:p>
                      <a:pPr marL="0" marR="0" algn="ctr">
                        <a:lnSpc>
                          <a:spcPct val="107000"/>
                        </a:lnSpc>
                        <a:spcBef>
                          <a:spcPts val="0"/>
                        </a:spcBef>
                        <a:spcAft>
                          <a:spcPts val="750"/>
                        </a:spcAft>
                      </a:pPr>
                      <a:r>
                        <a:rPr lang="en-US" sz="1800" kern="0" dirty="0">
                          <a:effectLst/>
                          <a:latin typeface="+mn-lt"/>
                        </a:rPr>
                        <a:t>Many</a:t>
                      </a:r>
                      <a:endParaRPr lang="en-US" sz="1800" kern="100" dirty="0">
                        <a:effectLst/>
                        <a:latin typeface="+mn-lt"/>
                        <a:ea typeface="Aptos" panose="020B0004020202020204" pitchFamily="34" charset="0"/>
                        <a:cs typeface="Times New Roman" panose="02020603050405020304" pitchFamily="18" charset="0"/>
                      </a:endParaRPr>
                    </a:p>
                  </a:txBody>
                  <a:tcPr marL="47625"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11151898"/>
                  </a:ext>
                </a:extLst>
              </a:tr>
              <a:tr h="605184">
                <a:tc>
                  <a:txBody>
                    <a:bodyPr/>
                    <a:lstStyle/>
                    <a:p>
                      <a:pPr marL="0" marR="0" algn="l">
                        <a:lnSpc>
                          <a:spcPct val="107000"/>
                        </a:lnSpc>
                        <a:spcBef>
                          <a:spcPts val="0"/>
                        </a:spcBef>
                        <a:spcAft>
                          <a:spcPts val="750"/>
                        </a:spcAft>
                      </a:pPr>
                      <a:r>
                        <a:rPr lang="en-US" sz="1800" kern="0" dirty="0">
                          <a:solidFill>
                            <a:srgbClr val="FFFFFF"/>
                          </a:solidFill>
                          <a:effectLst/>
                          <a:latin typeface="+mn-lt"/>
                        </a:rPr>
                        <a:t>Required monitoring</a:t>
                      </a:r>
                      <a:endParaRPr lang="en-US" sz="1800" kern="100" dirty="0">
                        <a:solidFill>
                          <a:srgbClr val="FFFFFF"/>
                        </a:solidFill>
                        <a:effectLst/>
                        <a:latin typeface="+mn-lt"/>
                        <a:ea typeface="Aptos" panose="020B0004020202020204" pitchFamily="34" charset="0"/>
                        <a:cs typeface="Times New Roman" panose="02020603050405020304" pitchFamily="18" charset="0"/>
                      </a:endParaRPr>
                    </a:p>
                  </a:txBody>
                  <a:tcPr marL="182880" marR="47625" marT="47625" marB="4762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696969"/>
                    </a:solidFill>
                  </a:tcPr>
                </a:tc>
                <a:tc>
                  <a:txBody>
                    <a:bodyPr/>
                    <a:lstStyle/>
                    <a:p>
                      <a:pPr marL="0" marR="0" algn="ctr">
                        <a:lnSpc>
                          <a:spcPct val="107000"/>
                        </a:lnSpc>
                        <a:spcBef>
                          <a:spcPts val="0"/>
                        </a:spcBef>
                        <a:spcAft>
                          <a:spcPts val="750"/>
                        </a:spcAft>
                      </a:pPr>
                      <a:r>
                        <a:rPr lang="en-US" sz="1800" kern="0" dirty="0">
                          <a:effectLst/>
                          <a:latin typeface="+mn-lt"/>
                        </a:rPr>
                        <a:t>None</a:t>
                      </a:r>
                      <a:endParaRPr lang="en-US" sz="1800" kern="100" dirty="0">
                        <a:effectLst/>
                        <a:latin typeface="+mn-lt"/>
                        <a:ea typeface="Aptos" panose="020B0004020202020204" pitchFamily="34" charset="0"/>
                        <a:cs typeface="Times New Roman" panose="02020603050405020304" pitchFamily="18" charset="0"/>
                      </a:endParaRPr>
                    </a:p>
                  </a:txBody>
                  <a:tcPr marL="47625"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marR="0" algn="ctr">
                        <a:lnSpc>
                          <a:spcPct val="107000"/>
                        </a:lnSpc>
                        <a:spcBef>
                          <a:spcPts val="0"/>
                        </a:spcBef>
                        <a:spcAft>
                          <a:spcPts val="750"/>
                        </a:spcAft>
                      </a:pPr>
                      <a:r>
                        <a:rPr lang="en-US" sz="1800" kern="0" dirty="0">
                          <a:effectLst/>
                          <a:latin typeface="+mn-lt"/>
                        </a:rPr>
                        <a:t>INR</a:t>
                      </a:r>
                      <a:endParaRPr lang="en-US" sz="1800" kern="100" dirty="0">
                        <a:effectLst/>
                        <a:latin typeface="+mn-lt"/>
                        <a:ea typeface="Aptos" panose="020B0004020202020204" pitchFamily="34" charset="0"/>
                        <a:cs typeface="Times New Roman" panose="02020603050405020304" pitchFamily="18" charset="0"/>
                      </a:endParaRPr>
                    </a:p>
                  </a:txBody>
                  <a:tcPr marL="47625"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59243414"/>
                  </a:ext>
                </a:extLst>
              </a:tr>
              <a:tr h="696457">
                <a:tc>
                  <a:txBody>
                    <a:bodyPr/>
                    <a:lstStyle/>
                    <a:p>
                      <a:pPr marL="0" marR="0" algn="l">
                        <a:lnSpc>
                          <a:spcPct val="107000"/>
                        </a:lnSpc>
                        <a:spcBef>
                          <a:spcPts val="0"/>
                        </a:spcBef>
                        <a:spcAft>
                          <a:spcPts val="750"/>
                        </a:spcAft>
                      </a:pPr>
                      <a:r>
                        <a:rPr lang="en-US" sz="1800" kern="0" dirty="0">
                          <a:solidFill>
                            <a:srgbClr val="FFFFFF"/>
                          </a:solidFill>
                          <a:effectLst/>
                          <a:latin typeface="+mn-lt"/>
                        </a:rPr>
                        <a:t>Comorbid conditions</a:t>
                      </a:r>
                      <a:endParaRPr lang="en-US" sz="1800" kern="100" dirty="0">
                        <a:solidFill>
                          <a:srgbClr val="FFFFFF"/>
                        </a:solidFill>
                        <a:effectLst/>
                        <a:latin typeface="+mn-lt"/>
                        <a:ea typeface="Aptos" panose="020B0004020202020204" pitchFamily="34" charset="0"/>
                        <a:cs typeface="Times New Roman" panose="02020603050405020304" pitchFamily="18" charset="0"/>
                      </a:endParaRPr>
                    </a:p>
                  </a:txBody>
                  <a:tcPr marL="182880" marR="47625" marT="47625" marB="47625"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1">
                        <a:lumMod val="65000"/>
                        <a:lumOff val="35000"/>
                      </a:schemeClr>
                    </a:solidFill>
                  </a:tcPr>
                </a:tc>
                <a:tc>
                  <a:txBody>
                    <a:bodyPr/>
                    <a:lstStyle/>
                    <a:p>
                      <a:pPr marL="0" marR="0" algn="ctr">
                        <a:lnSpc>
                          <a:spcPct val="107000"/>
                        </a:lnSpc>
                        <a:spcBef>
                          <a:spcPts val="0"/>
                        </a:spcBef>
                        <a:spcAft>
                          <a:spcPts val="750"/>
                        </a:spcAft>
                      </a:pPr>
                      <a:r>
                        <a:rPr lang="en-US" sz="1800" kern="0" dirty="0">
                          <a:effectLst/>
                          <a:latin typeface="+mn-lt"/>
                        </a:rPr>
                        <a:t>Renal failure may prohibit use</a:t>
                      </a:r>
                      <a:endParaRPr lang="en-US" sz="1800" kern="100" dirty="0">
                        <a:effectLst/>
                        <a:latin typeface="+mn-lt"/>
                        <a:ea typeface="Aptos" panose="020B0004020202020204" pitchFamily="34" charset="0"/>
                        <a:cs typeface="Times New Roman" panose="02020603050405020304" pitchFamily="18" charset="0"/>
                      </a:endParaRPr>
                    </a:p>
                  </a:txBody>
                  <a:tcPr marL="47625"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algn="ctr">
                        <a:lnSpc>
                          <a:spcPct val="107000"/>
                        </a:lnSpc>
                        <a:spcBef>
                          <a:spcPts val="0"/>
                        </a:spcBef>
                        <a:spcAft>
                          <a:spcPts val="750"/>
                        </a:spcAft>
                      </a:pPr>
                      <a:r>
                        <a:rPr lang="en-US" sz="1800" kern="0" dirty="0">
                          <a:effectLst/>
                          <a:latin typeface="+mn-lt"/>
                        </a:rPr>
                        <a:t>Liver failure may prohibit use</a:t>
                      </a:r>
                      <a:endParaRPr lang="en-US" sz="1800" kern="100" dirty="0">
                        <a:effectLst/>
                        <a:latin typeface="+mn-lt"/>
                        <a:ea typeface="Aptos" panose="020B0004020202020204" pitchFamily="34" charset="0"/>
                        <a:cs typeface="Times New Roman" panose="02020603050405020304" pitchFamily="18" charset="0"/>
                      </a:endParaRPr>
                    </a:p>
                  </a:txBody>
                  <a:tcPr marL="47625" marR="47625" marT="47625" marB="47625"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82088642"/>
                  </a:ext>
                </a:extLst>
              </a:tr>
            </a:tbl>
          </a:graphicData>
        </a:graphic>
      </p:graphicFrame>
    </p:spTree>
    <p:extLst>
      <p:ext uri="{BB962C8B-B14F-4D97-AF65-F5344CB8AC3E}">
        <p14:creationId xmlns:p14="http://schemas.microsoft.com/office/powerpoint/2010/main" val="6021146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824" y="628650"/>
            <a:ext cx="3159288" cy="768414"/>
          </a:xfrm>
        </p:spPr>
        <p:txBody>
          <a:bodyPr/>
          <a:lstStyle/>
          <a:p>
            <a:r>
              <a:rPr lang="en-US" dirty="0"/>
              <a:t>Summary of </a:t>
            </a:r>
            <a:br>
              <a:rPr lang="en-US" dirty="0"/>
            </a:br>
            <a:r>
              <a:rPr lang="en-US" dirty="0"/>
              <a:t>Mechanisms</a:t>
            </a:r>
            <a:endParaRPr lang="en-US" b="1" dirty="0">
              <a:solidFill>
                <a:srgbClr val="002060"/>
              </a:solidFill>
            </a:endParaRPr>
          </a:p>
        </p:txBody>
      </p:sp>
      <p:grpSp>
        <p:nvGrpSpPr>
          <p:cNvPr id="6" name="Group 5">
            <a:extLst>
              <a:ext uri="{FF2B5EF4-FFF2-40B4-BE49-F238E27FC236}">
                <a16:creationId xmlns:a16="http://schemas.microsoft.com/office/drawing/2014/main" id="{C373AC41-8F03-289C-ADE8-4FEC9FCFADE6}"/>
              </a:ext>
            </a:extLst>
          </p:cNvPr>
          <p:cNvGrpSpPr/>
          <p:nvPr/>
        </p:nvGrpSpPr>
        <p:grpSpPr>
          <a:xfrm>
            <a:off x="4668641" y="192504"/>
            <a:ext cx="6713333" cy="5900287"/>
            <a:chOff x="4788856" y="86627"/>
            <a:chExt cx="6713333" cy="5900287"/>
          </a:xfrm>
        </p:grpSpPr>
        <p:sp>
          <p:nvSpPr>
            <p:cNvPr id="4" name="Rectangle 3">
              <a:extLst>
                <a:ext uri="{FF2B5EF4-FFF2-40B4-BE49-F238E27FC236}">
                  <a16:creationId xmlns:a16="http://schemas.microsoft.com/office/drawing/2014/main" id="{2478D027-095F-E372-1F71-028447F8DD4B}"/>
                </a:ext>
              </a:extLst>
            </p:cNvPr>
            <p:cNvSpPr/>
            <p:nvPr/>
          </p:nvSpPr>
          <p:spPr bwMode="auto">
            <a:xfrm>
              <a:off x="4788856" y="86627"/>
              <a:ext cx="6713333" cy="5900287"/>
            </a:xfrm>
            <a:prstGeom prst="rect">
              <a:avLst/>
            </a:prstGeom>
            <a:solidFill>
              <a:schemeClr val="bg1"/>
            </a:solidFill>
            <a:ln w="9525" cap="flat" cmpd="sng" algn="ctr">
              <a:solidFill>
                <a:schemeClr val="bg1">
                  <a:lumMod val="50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pic>
          <p:nvPicPr>
            <p:cNvPr id="5" name="Picture 4" descr="A diagram of a mechanism&#10;&#10;Description automatically generated">
              <a:extLst>
                <a:ext uri="{FF2B5EF4-FFF2-40B4-BE49-F238E27FC236}">
                  <a16:creationId xmlns:a16="http://schemas.microsoft.com/office/drawing/2014/main" id="{852EADF3-30F3-C65A-98D0-5F406F0B25CF}"/>
                </a:ext>
              </a:extLst>
            </p:cNvPr>
            <p:cNvPicPr>
              <a:picLocks noChangeAspect="1"/>
            </p:cNvPicPr>
            <p:nvPr/>
          </p:nvPicPr>
          <p:blipFill>
            <a:blip r:embed="rId3">
              <a:extLst>
                <a:ext uri="{28A0092B-C50C-407E-A947-70E740481C1C}">
                  <a14:useLocalDpi xmlns:a14="http://schemas.microsoft.com/office/drawing/2010/main" val="0"/>
                </a:ext>
              </a:extLst>
            </a:blip>
            <a:srcRect t="2371"/>
            <a:stretch>
              <a:fillRect/>
            </a:stretch>
          </p:blipFill>
          <p:spPr bwMode="auto">
            <a:xfrm>
              <a:off x="4875589" y="122722"/>
              <a:ext cx="6488746" cy="5844941"/>
            </a:xfrm>
            <a:prstGeom prst="rect">
              <a:avLst/>
            </a:prstGeom>
            <a:noFill/>
            <a:ln>
              <a:noFill/>
            </a:ln>
          </p:spPr>
        </p:pic>
      </p:grpSp>
    </p:spTree>
    <p:extLst>
      <p:ext uri="{BB962C8B-B14F-4D97-AF65-F5344CB8AC3E}">
        <p14:creationId xmlns:p14="http://schemas.microsoft.com/office/powerpoint/2010/main" val="29796415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28247" y="167892"/>
            <a:ext cx="10375394" cy="670308"/>
          </a:xfrm>
        </p:spPr>
        <p:txBody>
          <a:bodyPr/>
          <a:lstStyle/>
          <a:p>
            <a:r>
              <a:rPr lang="en-US" dirty="0"/>
              <a:t>Question 2</a:t>
            </a:r>
          </a:p>
        </p:txBody>
      </p:sp>
      <p:sp>
        <p:nvSpPr>
          <p:cNvPr id="3" name="Content Placeholder 2"/>
          <p:cNvSpPr>
            <a:spLocks noGrp="1"/>
          </p:cNvSpPr>
          <p:nvPr>
            <p:ph idx="1"/>
          </p:nvPr>
        </p:nvSpPr>
        <p:spPr>
          <a:xfrm>
            <a:off x="928247" y="1255909"/>
            <a:ext cx="7063228" cy="1200443"/>
          </a:xfrm>
        </p:spPr>
        <p:txBody>
          <a:bodyPr/>
          <a:lstStyle/>
          <a:p>
            <a:pPr marL="0" indent="0">
              <a:lnSpc>
                <a:spcPts val="3700"/>
              </a:lnSpc>
              <a:buNone/>
            </a:pPr>
            <a:r>
              <a:rPr lang="en-US" b="0" dirty="0"/>
              <a:t>A.B. is a 60-year-old male who was just diagnosed with a pulmonary embolus.</a:t>
            </a:r>
            <a:endParaRPr lang="en-US" dirty="0"/>
          </a:p>
        </p:txBody>
      </p:sp>
      <p:sp>
        <p:nvSpPr>
          <p:cNvPr id="2" name="Content Placeholder 2">
            <a:extLst>
              <a:ext uri="{FF2B5EF4-FFF2-40B4-BE49-F238E27FC236}">
                <a16:creationId xmlns:a16="http://schemas.microsoft.com/office/drawing/2014/main" id="{5B703C9C-CB1D-23C8-FC24-B38C4321D61F}"/>
              </a:ext>
            </a:extLst>
          </p:cNvPr>
          <p:cNvSpPr txBox="1">
            <a:spLocks/>
          </p:cNvSpPr>
          <p:nvPr/>
        </p:nvSpPr>
        <p:spPr bwMode="auto">
          <a:xfrm>
            <a:off x="928246" y="2823820"/>
            <a:ext cx="8511029" cy="1744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6075" indent="-346075" algn="l" rtl="0" eaLnBrk="1" fontAlgn="base" hangingPunct="1">
              <a:spcBef>
                <a:spcPts val="1000"/>
              </a:spcBef>
              <a:spcAft>
                <a:spcPct val="0"/>
              </a:spcAft>
              <a:buClr>
                <a:schemeClr val="accent1"/>
              </a:buClr>
              <a:buSzPct val="150000"/>
              <a:buFont typeface="Times" panose="02020603050405020304" pitchFamily="18" charset="0"/>
              <a:buChar char="•"/>
              <a:defRPr sz="2600" b="1">
                <a:solidFill>
                  <a:srgbClr val="131313"/>
                </a:solidFill>
                <a:latin typeface="+mn-lt"/>
                <a:ea typeface="+mn-ea"/>
                <a:cs typeface="+mn-cs"/>
              </a:defRPr>
            </a:lvl1pPr>
            <a:lvl2pPr marL="685750" indent="-338114" algn="l" rtl="0" eaLnBrk="1" fontAlgn="base" hangingPunct="1">
              <a:spcBef>
                <a:spcPts val="1000"/>
              </a:spcBef>
              <a:spcAft>
                <a:spcPct val="0"/>
              </a:spcAft>
              <a:buClr>
                <a:schemeClr val="accent1"/>
              </a:buClr>
              <a:buSzPct val="70000"/>
              <a:buFont typeface="Wingdings" panose="05000000000000000000" pitchFamily="2" charset="2"/>
              <a:buChar char=""/>
              <a:defRPr sz="2000">
                <a:solidFill>
                  <a:srgbClr val="131313"/>
                </a:solidFill>
                <a:latin typeface="+mn-lt"/>
                <a:ea typeface="+mn-ea"/>
                <a:cs typeface="+mn-cs"/>
              </a:defRPr>
            </a:lvl2pPr>
            <a:lvl3pPr marL="1033385" indent="-338114" algn="l" rtl="0" eaLnBrk="1" fontAlgn="base" hangingPunct="1">
              <a:spcBef>
                <a:spcPts val="1000"/>
              </a:spcBef>
              <a:spcAft>
                <a:spcPct val="0"/>
              </a:spcAft>
              <a:buClr>
                <a:schemeClr val="accent1"/>
              </a:buClr>
              <a:buSzPct val="110000"/>
              <a:buFont typeface="Courier New" panose="02070309020205020404" pitchFamily="49" charset="0"/>
              <a:buChar char="o"/>
              <a:defRPr sz="1800">
                <a:solidFill>
                  <a:srgbClr val="131313"/>
                </a:solidFill>
                <a:latin typeface="+mn-lt"/>
                <a:ea typeface="+mn-ea"/>
                <a:cs typeface="+mn-cs"/>
              </a:defRPr>
            </a:lvl3pPr>
            <a:lvl4pPr marL="1371498" indent="-338114" algn="l" rtl="0" eaLnBrk="1" fontAlgn="base" hangingPunct="1">
              <a:spcBef>
                <a:spcPts val="1000"/>
              </a:spcBef>
              <a:spcAft>
                <a:spcPct val="0"/>
              </a:spcAft>
              <a:buClr>
                <a:schemeClr val="accent1"/>
              </a:buClr>
              <a:buSzPct val="75000"/>
              <a:buFont typeface="Wingdings" panose="05000000000000000000" pitchFamily="2" charset="2"/>
              <a:buChar char="¨"/>
              <a:defRPr sz="1600">
                <a:solidFill>
                  <a:srgbClr val="131313"/>
                </a:solidFill>
                <a:latin typeface="+mn-lt"/>
                <a:ea typeface="+mn-ea"/>
                <a:cs typeface="+mn-cs"/>
              </a:defRPr>
            </a:lvl4pPr>
            <a:lvl5pPr marL="1828664" indent="0" algn="l" rtl="0" eaLnBrk="1" fontAlgn="base" hangingPunct="1">
              <a:spcBef>
                <a:spcPts val="1000"/>
              </a:spcBef>
              <a:spcAft>
                <a:spcPct val="0"/>
              </a:spcAft>
              <a:buFont typeface="Times" panose="02020603050405020304" pitchFamily="18" charset="0"/>
              <a:buNone/>
              <a:defRPr>
                <a:solidFill>
                  <a:srgbClr val="131313"/>
                </a:solidFill>
                <a:latin typeface="+mn-lt"/>
                <a:ea typeface="+mn-ea"/>
                <a:cs typeface="+mn-cs"/>
              </a:defRPr>
            </a:lvl5pPr>
            <a:lvl6pPr marL="2514412"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6pPr>
            <a:lvl7pPr marL="2971578"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7pPr>
            <a:lvl8pPr marL="3428744"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8pPr>
            <a:lvl9pPr marL="3885910"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9pPr>
          </a:lstStyle>
          <a:p>
            <a:pPr marL="1139825" indent="0">
              <a:lnSpc>
                <a:spcPts val="3700"/>
              </a:lnSpc>
              <a:buFont typeface="Times" panose="02020603050405020304" pitchFamily="18" charset="0"/>
              <a:buNone/>
            </a:pPr>
            <a:r>
              <a:rPr lang="en-US" kern="0" dirty="0">
                <a:solidFill>
                  <a:schemeClr val="tx1"/>
                </a:solidFill>
              </a:rPr>
              <a:t>When thinking about different anticoagulant agents available, what patient factors will be important to assess before choosing a specific agent? </a:t>
            </a:r>
          </a:p>
        </p:txBody>
      </p:sp>
      <p:pic>
        <p:nvPicPr>
          <p:cNvPr id="4" name="Picture 3">
            <a:extLst>
              <a:ext uri="{FF2B5EF4-FFF2-40B4-BE49-F238E27FC236}">
                <a16:creationId xmlns:a16="http://schemas.microsoft.com/office/drawing/2014/main" id="{750A5CBB-EB75-4C02-E0A4-09C6317A4EA0}"/>
              </a:ext>
            </a:extLst>
          </p:cNvPr>
          <p:cNvPicPr>
            <a:picLocks noChangeAspect="1"/>
          </p:cNvPicPr>
          <p:nvPr/>
        </p:nvPicPr>
        <p:blipFill>
          <a:blip r:embed="rId3"/>
          <a:stretch>
            <a:fillRect/>
          </a:stretch>
        </p:blipFill>
        <p:spPr>
          <a:xfrm>
            <a:off x="902524" y="2767588"/>
            <a:ext cx="1242527" cy="1489620"/>
          </a:xfrm>
          <a:prstGeom prst="rect">
            <a:avLst/>
          </a:prstGeom>
        </p:spPr>
      </p:pic>
    </p:spTree>
    <p:extLst>
      <p:ext uri="{BB962C8B-B14F-4D97-AF65-F5344CB8AC3E}">
        <p14:creationId xmlns:p14="http://schemas.microsoft.com/office/powerpoint/2010/main" val="41013423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20139266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098" y="177417"/>
            <a:ext cx="10401117" cy="670308"/>
          </a:xfrm>
        </p:spPr>
        <p:txBody>
          <a:bodyPr/>
          <a:lstStyle/>
          <a:p>
            <a:r>
              <a:rPr lang="en-US" dirty="0"/>
              <a:t>Question 3</a:t>
            </a:r>
          </a:p>
        </p:txBody>
      </p:sp>
      <p:sp>
        <p:nvSpPr>
          <p:cNvPr id="3" name="Content Placeholder 2"/>
          <p:cNvSpPr>
            <a:spLocks noGrp="1"/>
          </p:cNvSpPr>
          <p:nvPr>
            <p:ph idx="1"/>
          </p:nvPr>
        </p:nvSpPr>
        <p:spPr>
          <a:xfrm>
            <a:off x="914400" y="1413258"/>
            <a:ext cx="10489824" cy="1790700"/>
          </a:xfrm>
        </p:spPr>
        <p:txBody>
          <a:bodyPr/>
          <a:lstStyle/>
          <a:p>
            <a:pPr marL="0" indent="0">
              <a:lnSpc>
                <a:spcPts val="3700"/>
              </a:lnSpc>
              <a:buNone/>
            </a:pPr>
            <a:r>
              <a:rPr lang="en-US" b="0" dirty="0"/>
              <a:t>A 53-year-old male is admitted to the emergency department after a motor vehicle accident. He is diagnosed with a head bleed and you see in his chart that he is taking warfarin. </a:t>
            </a:r>
          </a:p>
        </p:txBody>
      </p:sp>
      <p:sp>
        <p:nvSpPr>
          <p:cNvPr id="4" name="Content Placeholder 2">
            <a:extLst>
              <a:ext uri="{FF2B5EF4-FFF2-40B4-BE49-F238E27FC236}">
                <a16:creationId xmlns:a16="http://schemas.microsoft.com/office/drawing/2014/main" id="{A1911191-49AE-8EBB-905A-5A95F51318E1}"/>
              </a:ext>
            </a:extLst>
          </p:cNvPr>
          <p:cNvSpPr txBox="1">
            <a:spLocks/>
          </p:cNvSpPr>
          <p:nvPr/>
        </p:nvSpPr>
        <p:spPr bwMode="auto">
          <a:xfrm>
            <a:off x="2145052" y="3927868"/>
            <a:ext cx="9665948" cy="1158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6075" indent="-346075" algn="l" rtl="0" eaLnBrk="1" fontAlgn="base" hangingPunct="1">
              <a:spcBef>
                <a:spcPts val="1000"/>
              </a:spcBef>
              <a:spcAft>
                <a:spcPct val="0"/>
              </a:spcAft>
              <a:buClr>
                <a:schemeClr val="accent1"/>
              </a:buClr>
              <a:buSzPct val="150000"/>
              <a:buFont typeface="Times" panose="02020603050405020304" pitchFamily="18" charset="0"/>
              <a:buChar char="•"/>
              <a:defRPr sz="2600" b="1">
                <a:solidFill>
                  <a:srgbClr val="131313"/>
                </a:solidFill>
                <a:latin typeface="+mn-lt"/>
                <a:ea typeface="+mn-ea"/>
                <a:cs typeface="+mn-cs"/>
              </a:defRPr>
            </a:lvl1pPr>
            <a:lvl2pPr marL="685750" indent="-338114" algn="l" rtl="0" eaLnBrk="1" fontAlgn="base" hangingPunct="1">
              <a:spcBef>
                <a:spcPts val="1000"/>
              </a:spcBef>
              <a:spcAft>
                <a:spcPct val="0"/>
              </a:spcAft>
              <a:buClr>
                <a:schemeClr val="accent1"/>
              </a:buClr>
              <a:buSzPct val="70000"/>
              <a:buFont typeface="Wingdings" panose="05000000000000000000" pitchFamily="2" charset="2"/>
              <a:buChar char=""/>
              <a:defRPr sz="2000">
                <a:solidFill>
                  <a:srgbClr val="131313"/>
                </a:solidFill>
                <a:latin typeface="+mn-lt"/>
                <a:ea typeface="+mn-ea"/>
                <a:cs typeface="+mn-cs"/>
              </a:defRPr>
            </a:lvl2pPr>
            <a:lvl3pPr marL="1033385" indent="-338114" algn="l" rtl="0" eaLnBrk="1" fontAlgn="base" hangingPunct="1">
              <a:spcBef>
                <a:spcPts val="1000"/>
              </a:spcBef>
              <a:spcAft>
                <a:spcPct val="0"/>
              </a:spcAft>
              <a:buClr>
                <a:schemeClr val="accent1"/>
              </a:buClr>
              <a:buSzPct val="110000"/>
              <a:buFont typeface="Courier New" panose="02070309020205020404" pitchFamily="49" charset="0"/>
              <a:buChar char="o"/>
              <a:defRPr sz="1800">
                <a:solidFill>
                  <a:srgbClr val="131313"/>
                </a:solidFill>
                <a:latin typeface="+mn-lt"/>
                <a:ea typeface="+mn-ea"/>
                <a:cs typeface="+mn-cs"/>
              </a:defRPr>
            </a:lvl3pPr>
            <a:lvl4pPr marL="1371498" indent="-338114" algn="l" rtl="0" eaLnBrk="1" fontAlgn="base" hangingPunct="1">
              <a:spcBef>
                <a:spcPts val="1000"/>
              </a:spcBef>
              <a:spcAft>
                <a:spcPct val="0"/>
              </a:spcAft>
              <a:buClr>
                <a:schemeClr val="accent1"/>
              </a:buClr>
              <a:buSzPct val="75000"/>
              <a:buFont typeface="Wingdings" panose="05000000000000000000" pitchFamily="2" charset="2"/>
              <a:buChar char="¨"/>
              <a:defRPr sz="1600">
                <a:solidFill>
                  <a:srgbClr val="131313"/>
                </a:solidFill>
                <a:latin typeface="+mn-lt"/>
                <a:ea typeface="+mn-ea"/>
                <a:cs typeface="+mn-cs"/>
              </a:defRPr>
            </a:lvl4pPr>
            <a:lvl5pPr marL="1828664" indent="0" algn="l" rtl="0" eaLnBrk="1" fontAlgn="base" hangingPunct="1">
              <a:spcBef>
                <a:spcPts val="1000"/>
              </a:spcBef>
              <a:spcAft>
                <a:spcPct val="0"/>
              </a:spcAft>
              <a:buFont typeface="Times" panose="02020603050405020304" pitchFamily="18" charset="0"/>
              <a:buNone/>
              <a:defRPr>
                <a:solidFill>
                  <a:srgbClr val="131313"/>
                </a:solidFill>
                <a:latin typeface="+mn-lt"/>
                <a:ea typeface="+mn-ea"/>
                <a:cs typeface="+mn-cs"/>
              </a:defRPr>
            </a:lvl5pPr>
            <a:lvl6pPr marL="2514412"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6pPr>
            <a:lvl7pPr marL="2971578"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7pPr>
            <a:lvl8pPr marL="3428744"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8pPr>
            <a:lvl9pPr marL="3885910"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9pPr>
          </a:lstStyle>
          <a:p>
            <a:pPr marL="0" indent="0">
              <a:lnSpc>
                <a:spcPts val="3700"/>
              </a:lnSpc>
              <a:buNone/>
            </a:pPr>
            <a:r>
              <a:rPr lang="en-US" dirty="0"/>
              <a:t>Thinking about warfarin’s mechanism of action, what would you consider administering to this patient to help his bleed and why?</a:t>
            </a:r>
          </a:p>
        </p:txBody>
      </p:sp>
      <p:pic>
        <p:nvPicPr>
          <p:cNvPr id="5" name="Picture 4">
            <a:extLst>
              <a:ext uri="{FF2B5EF4-FFF2-40B4-BE49-F238E27FC236}">
                <a16:creationId xmlns:a16="http://schemas.microsoft.com/office/drawing/2014/main" id="{7D65D58E-A472-C18A-3CC0-61A95A644104}"/>
              </a:ext>
            </a:extLst>
          </p:cNvPr>
          <p:cNvPicPr>
            <a:picLocks noChangeAspect="1"/>
          </p:cNvPicPr>
          <p:nvPr/>
        </p:nvPicPr>
        <p:blipFill>
          <a:blip r:embed="rId3"/>
          <a:stretch>
            <a:fillRect/>
          </a:stretch>
        </p:blipFill>
        <p:spPr>
          <a:xfrm>
            <a:off x="902524" y="3776386"/>
            <a:ext cx="1242527" cy="1489620"/>
          </a:xfrm>
          <a:prstGeom prst="rect">
            <a:avLst/>
          </a:prstGeom>
        </p:spPr>
      </p:pic>
    </p:spTree>
    <p:extLst>
      <p:ext uri="{BB962C8B-B14F-4D97-AF65-F5344CB8AC3E}">
        <p14:creationId xmlns:p14="http://schemas.microsoft.com/office/powerpoint/2010/main" val="41535306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4196593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5124352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3911295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399" y="167892"/>
            <a:ext cx="10389241" cy="670308"/>
          </a:xfrm>
        </p:spPr>
        <p:txBody>
          <a:bodyPr/>
          <a:lstStyle/>
          <a:p>
            <a:r>
              <a:rPr lang="en-US" dirty="0"/>
              <a:t>Reversal Agents</a:t>
            </a:r>
          </a:p>
        </p:txBody>
      </p:sp>
      <p:sp>
        <p:nvSpPr>
          <p:cNvPr id="6" name="Content Placeholder 5"/>
          <p:cNvSpPr>
            <a:spLocks noGrp="1"/>
          </p:cNvSpPr>
          <p:nvPr>
            <p:ph idx="1"/>
          </p:nvPr>
        </p:nvSpPr>
        <p:spPr>
          <a:xfrm>
            <a:off x="914399" y="1069342"/>
            <a:ext cx="10572751" cy="5004199"/>
          </a:xfrm>
        </p:spPr>
        <p:txBody>
          <a:bodyPr numCol="2" spcCol="274320">
            <a:normAutofit lnSpcReduction="10000"/>
          </a:bodyPr>
          <a:lstStyle/>
          <a:p>
            <a:pPr marL="231775" indent="-230188">
              <a:lnSpc>
                <a:spcPct val="105000"/>
              </a:lnSpc>
              <a:spcBef>
                <a:spcPts val="1800"/>
              </a:spcBef>
            </a:pPr>
            <a:r>
              <a:rPr lang="en-US" sz="1800" b="1" dirty="0">
                <a:solidFill>
                  <a:schemeClr val="tx2"/>
                </a:solidFill>
              </a:rPr>
              <a:t>Protamine </a:t>
            </a:r>
            <a:r>
              <a:rPr lang="en-US" sz="1800" b="1" dirty="0">
                <a:sym typeface="Wingdings" panose="05000000000000000000" pitchFamily="2" charset="2"/>
              </a:rPr>
              <a:t></a:t>
            </a:r>
            <a:br>
              <a:rPr lang="en-US" sz="1700" b="1" dirty="0">
                <a:solidFill>
                  <a:schemeClr val="tx2"/>
                </a:solidFill>
                <a:sym typeface="Wingdings" panose="05000000000000000000" pitchFamily="2" charset="2"/>
              </a:rPr>
            </a:br>
            <a:r>
              <a:rPr lang="en-US" sz="1700" b="0" dirty="0">
                <a:sym typeface="Wingdings" panose="05000000000000000000" pitchFamily="2" charset="2"/>
              </a:rPr>
              <a:t>A </a:t>
            </a:r>
            <a:r>
              <a:rPr lang="en-US" sz="1700" b="0" kern="1200" dirty="0">
                <a:solidFill>
                  <a:schemeClr val="tx1"/>
                </a:solidFill>
              </a:rPr>
              <a:t>low-molecular-weight polycationic </a:t>
            </a:r>
            <a:br>
              <a:rPr lang="en-US" sz="1700" b="0" kern="1200" dirty="0">
                <a:solidFill>
                  <a:schemeClr val="tx1"/>
                </a:solidFill>
              </a:rPr>
            </a:br>
            <a:r>
              <a:rPr lang="en-US" sz="1700" b="0" kern="1200" dirty="0">
                <a:solidFill>
                  <a:schemeClr val="tx1"/>
                </a:solidFill>
              </a:rPr>
              <a:t>protein that is a chemical antagonist </a:t>
            </a:r>
            <a:br>
              <a:rPr lang="en-US" sz="1700" b="0" kern="1200" dirty="0">
                <a:solidFill>
                  <a:schemeClr val="tx1"/>
                </a:solidFill>
              </a:rPr>
            </a:br>
            <a:r>
              <a:rPr lang="en-US" sz="1700" b="0" kern="1200" dirty="0">
                <a:solidFill>
                  <a:schemeClr val="tx1"/>
                </a:solidFill>
              </a:rPr>
              <a:t>of heparin; </a:t>
            </a:r>
            <a:r>
              <a:rPr lang="en-US" sz="1700" b="0" kern="0" dirty="0">
                <a:effectLst/>
                <a:ea typeface="Times New Roman" panose="02020603050405020304" pitchFamily="18" charset="0"/>
              </a:rPr>
              <a:t>binds to heparin, causing chemical inactivation.  </a:t>
            </a:r>
            <a:endParaRPr lang="en-US" sz="1700" b="0" dirty="0"/>
          </a:p>
          <a:p>
            <a:pPr marL="231775" indent="-230188">
              <a:lnSpc>
                <a:spcPct val="105000"/>
              </a:lnSpc>
              <a:spcBef>
                <a:spcPts val="1800"/>
              </a:spcBef>
            </a:pPr>
            <a:r>
              <a:rPr lang="en-US" sz="1800" b="1" dirty="0">
                <a:solidFill>
                  <a:schemeClr val="tx2"/>
                </a:solidFill>
              </a:rPr>
              <a:t>Phytonadione (vitamin K) </a:t>
            </a:r>
            <a:r>
              <a:rPr lang="en-US" sz="1800" b="1" dirty="0">
                <a:sym typeface="Wingdings" panose="05000000000000000000" pitchFamily="2" charset="2"/>
              </a:rPr>
              <a:t> </a:t>
            </a:r>
            <a:br>
              <a:rPr lang="en-US" sz="1700" b="1" dirty="0">
                <a:solidFill>
                  <a:schemeClr val="tx2"/>
                </a:solidFill>
                <a:sym typeface="Wingdings" panose="05000000000000000000" pitchFamily="2" charset="2"/>
              </a:rPr>
            </a:br>
            <a:r>
              <a:rPr lang="en-US" sz="1700" b="0" dirty="0">
                <a:sym typeface="Wingdings" panose="05000000000000000000" pitchFamily="2" charset="2"/>
              </a:rPr>
              <a:t>C</a:t>
            </a:r>
            <a:r>
              <a:rPr lang="en-US" sz="1700" b="0" dirty="0"/>
              <a:t>onverts the inactive forms of coagulation factors </a:t>
            </a:r>
            <a:br>
              <a:rPr lang="en-US" sz="1700" b="0" dirty="0"/>
            </a:br>
            <a:r>
              <a:rPr lang="en-US" sz="1700" b="0" dirty="0"/>
              <a:t>II, VII, IX, and X into their active forms; reverse </a:t>
            </a:r>
            <a:br>
              <a:rPr lang="en-US" sz="1700" b="0" dirty="0"/>
            </a:br>
            <a:r>
              <a:rPr lang="en-US" sz="1700" b="0" dirty="0"/>
              <a:t>warfarin effects; </a:t>
            </a:r>
            <a:r>
              <a:rPr lang="en-US" sz="1700" b="0" kern="0" dirty="0">
                <a:effectLst/>
                <a:ea typeface="Times New Roman" panose="02020603050405020304" pitchFamily="18" charset="0"/>
              </a:rPr>
              <a:t>vitamin K requires time for </a:t>
            </a:r>
            <a:br>
              <a:rPr lang="en-US" sz="1700" b="0" kern="0" dirty="0">
                <a:effectLst/>
                <a:ea typeface="Times New Roman" panose="02020603050405020304" pitchFamily="18" charset="0"/>
              </a:rPr>
            </a:br>
            <a:r>
              <a:rPr lang="en-US" sz="1700" b="0" kern="0" dirty="0">
                <a:effectLst/>
                <a:ea typeface="Times New Roman" panose="02020603050405020304" pitchFamily="18" charset="0"/>
              </a:rPr>
              <a:t>clotting factor re-synthesis.</a:t>
            </a:r>
            <a:endParaRPr lang="en-US" sz="1700" b="0" dirty="0"/>
          </a:p>
          <a:p>
            <a:pPr marL="231775" indent="-230188">
              <a:lnSpc>
                <a:spcPct val="105000"/>
              </a:lnSpc>
              <a:spcBef>
                <a:spcPts val="1800"/>
              </a:spcBef>
            </a:pPr>
            <a:r>
              <a:rPr lang="en-US" sz="1800" b="1" dirty="0">
                <a:solidFill>
                  <a:schemeClr val="tx2"/>
                </a:solidFill>
              </a:rPr>
              <a:t>Prothrombin complex concentrates </a:t>
            </a:r>
            <a:r>
              <a:rPr lang="en-US" sz="1800" b="0" dirty="0">
                <a:sym typeface="Wingdings" panose="05000000000000000000" pitchFamily="2" charset="2"/>
              </a:rPr>
              <a:t> </a:t>
            </a:r>
            <a:br>
              <a:rPr lang="en-US" sz="1700" b="0" dirty="0">
                <a:sym typeface="Wingdings" panose="05000000000000000000" pitchFamily="2" charset="2"/>
              </a:rPr>
            </a:br>
            <a:r>
              <a:rPr lang="en-US" sz="1700" b="0" dirty="0"/>
              <a:t>Human plasma-derived blood clotting </a:t>
            </a:r>
            <a:br>
              <a:rPr lang="en-US" sz="1700" b="0" dirty="0"/>
            </a:br>
            <a:r>
              <a:rPr lang="en-US" sz="1700" b="0" dirty="0"/>
              <a:t>factors II, VII, IX and X, as well as </a:t>
            </a:r>
            <a:br>
              <a:rPr lang="en-US" sz="1700" b="0" dirty="0"/>
            </a:br>
            <a:r>
              <a:rPr lang="en-US" sz="1700" b="0" dirty="0"/>
              <a:t>protein C and S; reverse warfarin </a:t>
            </a:r>
            <a:br>
              <a:rPr lang="en-US" sz="1700" b="0" dirty="0"/>
            </a:br>
            <a:r>
              <a:rPr lang="en-US" sz="1700" b="0" dirty="0"/>
              <a:t>effects fast</a:t>
            </a:r>
          </a:p>
          <a:p>
            <a:pPr marL="231775" indent="-230188">
              <a:lnSpc>
                <a:spcPct val="105000"/>
              </a:lnSpc>
              <a:spcBef>
                <a:spcPts val="1800"/>
              </a:spcBef>
            </a:pPr>
            <a:endParaRPr lang="en-US" sz="1700" dirty="0"/>
          </a:p>
          <a:p>
            <a:pPr marL="231775" indent="-230188">
              <a:lnSpc>
                <a:spcPct val="105000"/>
              </a:lnSpc>
              <a:spcBef>
                <a:spcPts val="1800"/>
              </a:spcBef>
            </a:pPr>
            <a:r>
              <a:rPr lang="en-US" sz="1800" b="1" dirty="0">
                <a:solidFill>
                  <a:schemeClr val="tx2"/>
                </a:solidFill>
              </a:rPr>
              <a:t>Fresh frozen plasma </a:t>
            </a:r>
            <a:r>
              <a:rPr lang="en-US" sz="1800" b="0" dirty="0">
                <a:sym typeface="Wingdings" panose="05000000000000000000" pitchFamily="2" charset="2"/>
              </a:rPr>
              <a:t> </a:t>
            </a:r>
            <a:br>
              <a:rPr lang="en-US" sz="1700" b="0" i="0" dirty="0">
                <a:solidFill>
                  <a:srgbClr val="000000"/>
                </a:solidFill>
                <a:effectLst/>
                <a:highlight>
                  <a:srgbClr val="FFFFFF"/>
                </a:highlight>
              </a:rPr>
            </a:br>
            <a:r>
              <a:rPr lang="en-US" sz="1700" b="0" i="0" dirty="0">
                <a:solidFill>
                  <a:srgbClr val="000000"/>
                </a:solidFill>
                <a:effectLst/>
                <a:highlight>
                  <a:srgbClr val="FFFFFF"/>
                </a:highlight>
              </a:rPr>
              <a:t>Contains all coagulation factors except platelets, fibrinogen, albumin, protein C, protein S, antithrombin, and tissue factor pathway inhibitors; </a:t>
            </a:r>
            <a:r>
              <a:rPr lang="en-US" sz="1700" b="0" dirty="0"/>
              <a:t>reverses warfarin </a:t>
            </a:r>
            <a:br>
              <a:rPr lang="en-US" sz="1700" b="0" dirty="0"/>
            </a:br>
            <a:r>
              <a:rPr lang="en-US" sz="1700" b="0" dirty="0"/>
              <a:t>effects fast</a:t>
            </a:r>
          </a:p>
          <a:p>
            <a:pPr marL="231775" indent="-230188">
              <a:lnSpc>
                <a:spcPct val="105000"/>
              </a:lnSpc>
              <a:spcBef>
                <a:spcPts val="1800"/>
              </a:spcBef>
            </a:pPr>
            <a:r>
              <a:rPr lang="en-US" sz="1800" b="1" dirty="0">
                <a:solidFill>
                  <a:schemeClr val="tx2"/>
                </a:solidFill>
              </a:rPr>
              <a:t>Andexanet alfa </a:t>
            </a:r>
            <a:r>
              <a:rPr lang="en-US" sz="1800" b="0" dirty="0">
                <a:sym typeface="Wingdings" panose="05000000000000000000" pitchFamily="2" charset="2"/>
              </a:rPr>
              <a:t> </a:t>
            </a:r>
            <a:br>
              <a:rPr lang="en-US" sz="1700" b="0" kern="0" dirty="0">
                <a:effectLst/>
                <a:ea typeface="Times New Roman" panose="02020603050405020304" pitchFamily="18" charset="0"/>
              </a:rPr>
            </a:br>
            <a:r>
              <a:rPr lang="en-US" sz="1700" b="0" kern="0" dirty="0">
                <a:effectLst/>
                <a:ea typeface="Times New Roman" panose="02020603050405020304" pitchFamily="18" charset="0"/>
              </a:rPr>
              <a:t>A factor Xa decoy, </a:t>
            </a:r>
            <a:br>
              <a:rPr lang="en-US" sz="1700" b="0" kern="0" dirty="0">
                <a:effectLst/>
                <a:ea typeface="Times New Roman" panose="02020603050405020304" pitchFamily="18" charset="0"/>
              </a:rPr>
            </a:br>
            <a:r>
              <a:rPr lang="en-US" sz="1700" b="0" dirty="0"/>
              <a:t>binds and sequester </a:t>
            </a:r>
            <a:br>
              <a:rPr lang="en-US" sz="1700" b="0" dirty="0"/>
            </a:br>
            <a:r>
              <a:rPr lang="en-US" sz="1700" b="0" dirty="0"/>
              <a:t>factor Xa inhibitors </a:t>
            </a:r>
            <a:br>
              <a:rPr lang="en-US" sz="1700" b="0" dirty="0"/>
            </a:br>
            <a:r>
              <a:rPr lang="en-US" sz="1700" b="0" dirty="0"/>
              <a:t>(apixaban and </a:t>
            </a:r>
            <a:br>
              <a:rPr lang="en-US" sz="1700" b="0" dirty="0"/>
            </a:br>
            <a:r>
              <a:rPr lang="en-US" sz="1700" b="0" dirty="0"/>
              <a:t>rivaroxaban)</a:t>
            </a:r>
          </a:p>
          <a:p>
            <a:pPr marL="231775" indent="-230188">
              <a:lnSpc>
                <a:spcPct val="105000"/>
              </a:lnSpc>
              <a:spcBef>
                <a:spcPts val="1800"/>
              </a:spcBef>
            </a:pPr>
            <a:r>
              <a:rPr lang="en-US" sz="1800" b="1" dirty="0" err="1">
                <a:solidFill>
                  <a:schemeClr val="tx2"/>
                </a:solidFill>
              </a:rPr>
              <a:t>Idarucizumab</a:t>
            </a:r>
            <a:r>
              <a:rPr lang="en-US" sz="1800" b="1" dirty="0">
                <a:solidFill>
                  <a:schemeClr val="tx2"/>
                </a:solidFill>
              </a:rPr>
              <a:t> </a:t>
            </a:r>
            <a:r>
              <a:rPr lang="en-US" sz="1800" b="0" dirty="0">
                <a:sym typeface="Wingdings" panose="05000000000000000000" pitchFamily="2" charset="2"/>
              </a:rPr>
              <a:t> </a:t>
            </a:r>
            <a:br>
              <a:rPr lang="en-US" sz="1700" b="0" dirty="0">
                <a:sym typeface="Wingdings" panose="05000000000000000000" pitchFamily="2" charset="2"/>
              </a:rPr>
            </a:br>
            <a:r>
              <a:rPr lang="en-US" sz="1700" b="0" dirty="0">
                <a:sym typeface="Wingdings" panose="05000000000000000000" pitchFamily="2" charset="2"/>
              </a:rPr>
              <a:t>H</a:t>
            </a:r>
            <a:r>
              <a:rPr lang="en-US" sz="1700" b="0" dirty="0"/>
              <a:t>umanized monoclonal </a:t>
            </a:r>
            <a:br>
              <a:rPr lang="en-US" sz="1700" b="0" dirty="0"/>
            </a:br>
            <a:r>
              <a:rPr lang="en-US" sz="1700" b="0" dirty="0"/>
              <a:t>antibody fragment </a:t>
            </a:r>
            <a:br>
              <a:rPr lang="en-US" sz="1700" b="0" dirty="0"/>
            </a:br>
            <a:r>
              <a:rPr lang="en-US" sz="1700" b="0" dirty="0"/>
              <a:t>(Fab) that binds </a:t>
            </a:r>
            <a:br>
              <a:rPr lang="en-US" sz="1700" b="0" dirty="0"/>
            </a:br>
            <a:r>
              <a:rPr lang="en-US" sz="1700" b="0" dirty="0"/>
              <a:t>to dabigatran </a:t>
            </a:r>
          </a:p>
        </p:txBody>
      </p:sp>
      <p:grpSp>
        <p:nvGrpSpPr>
          <p:cNvPr id="5" name="Group 4">
            <a:extLst>
              <a:ext uri="{FF2B5EF4-FFF2-40B4-BE49-F238E27FC236}">
                <a16:creationId xmlns:a16="http://schemas.microsoft.com/office/drawing/2014/main" id="{B7571D08-820B-370C-9D89-1E778BC569EE}"/>
              </a:ext>
            </a:extLst>
          </p:cNvPr>
          <p:cNvGrpSpPr/>
          <p:nvPr/>
        </p:nvGrpSpPr>
        <p:grpSpPr>
          <a:xfrm>
            <a:off x="8946481" y="2762250"/>
            <a:ext cx="2874746" cy="3176535"/>
            <a:chOff x="8156125" y="-1345621"/>
            <a:chExt cx="3552482" cy="2893531"/>
          </a:xfrm>
        </p:grpSpPr>
        <p:sp>
          <p:nvSpPr>
            <p:cNvPr id="7" name="Rectangle: Rounded Corners 6">
              <a:extLst>
                <a:ext uri="{FF2B5EF4-FFF2-40B4-BE49-F238E27FC236}">
                  <a16:creationId xmlns:a16="http://schemas.microsoft.com/office/drawing/2014/main" id="{BE18DD30-4BF0-BE42-B0C4-C9AF91E3909A}"/>
                </a:ext>
              </a:extLst>
            </p:cNvPr>
            <p:cNvSpPr/>
            <p:nvPr/>
          </p:nvSpPr>
          <p:spPr bwMode="auto">
            <a:xfrm>
              <a:off x="8156125" y="-1345621"/>
              <a:ext cx="3552482" cy="2893531"/>
            </a:xfrm>
            <a:prstGeom prst="roundRect">
              <a:avLst>
                <a:gd name="adj" fmla="val 12028"/>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ts val="19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8" name="TextBox 7">
              <a:extLst>
                <a:ext uri="{FF2B5EF4-FFF2-40B4-BE49-F238E27FC236}">
                  <a16:creationId xmlns:a16="http://schemas.microsoft.com/office/drawing/2014/main" id="{EFF13D60-786B-ACAC-DDE1-DDC6BA37E2A6}"/>
                </a:ext>
              </a:extLst>
            </p:cNvPr>
            <p:cNvSpPr txBox="1"/>
            <p:nvPr/>
          </p:nvSpPr>
          <p:spPr>
            <a:xfrm>
              <a:off x="8590274" y="-1075524"/>
              <a:ext cx="2940907" cy="2292145"/>
            </a:xfrm>
            <a:prstGeom prst="rect">
              <a:avLst/>
            </a:prstGeom>
            <a:noFill/>
            <a:ln>
              <a:noFill/>
            </a:ln>
          </p:spPr>
          <p:txBody>
            <a:bodyPr wrap="square">
              <a:spAutoFit/>
            </a:bodyPr>
            <a:lstStyle/>
            <a:p>
              <a:pPr>
                <a:lnSpc>
                  <a:spcPct val="110000"/>
                </a:lnSpc>
              </a:pPr>
              <a:r>
                <a:rPr lang="en-US" sz="1600" b="1" dirty="0">
                  <a:solidFill>
                    <a:srgbClr val="FFFFFF"/>
                  </a:solidFill>
                </a:rPr>
                <a:t>You do not need to memorize specific reversal agent names </a:t>
              </a:r>
              <a:br>
                <a:rPr lang="en-US" sz="1600" b="1" dirty="0">
                  <a:solidFill>
                    <a:srgbClr val="FFFFFF"/>
                  </a:solidFill>
                </a:rPr>
              </a:br>
              <a:r>
                <a:rPr lang="en-US" sz="1600" b="1" dirty="0">
                  <a:solidFill>
                    <a:srgbClr val="FFFFFF"/>
                  </a:solidFill>
                </a:rPr>
                <a:t>or corresponding mechanisms for module 2. These are summarized  in the Anticoagulation Clinical Resource on Pharm Thread Page</a:t>
              </a:r>
            </a:p>
          </p:txBody>
        </p:sp>
      </p:grpSp>
    </p:spTree>
    <p:extLst>
      <p:ext uri="{BB962C8B-B14F-4D97-AF65-F5344CB8AC3E}">
        <p14:creationId xmlns:p14="http://schemas.microsoft.com/office/powerpoint/2010/main" val="20131864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058ED-93FB-923F-BBC9-32975A5FA5AB}"/>
              </a:ext>
            </a:extLst>
          </p:cNvPr>
          <p:cNvSpPr>
            <a:spLocks noGrp="1"/>
          </p:cNvSpPr>
          <p:nvPr>
            <p:ph type="ctrTitle"/>
          </p:nvPr>
        </p:nvSpPr>
        <p:spPr>
          <a:xfrm>
            <a:off x="0" y="5136944"/>
            <a:ext cx="12199127" cy="1090820"/>
          </a:xfrm>
        </p:spPr>
        <p:txBody>
          <a:bodyPr/>
          <a:lstStyle/>
          <a:p>
            <a:r>
              <a:rPr lang="en-US" dirty="0"/>
              <a:t>*More in Module 3*</a:t>
            </a:r>
          </a:p>
        </p:txBody>
      </p:sp>
      <p:sp>
        <p:nvSpPr>
          <p:cNvPr id="6" name="Subtitle 5"/>
          <p:cNvSpPr>
            <a:spLocks noGrp="1"/>
          </p:cNvSpPr>
          <p:nvPr>
            <p:ph type="subTitle" idx="4294967295"/>
          </p:nvPr>
        </p:nvSpPr>
        <p:spPr>
          <a:xfrm>
            <a:off x="0" y="2347913"/>
            <a:ext cx="12192000" cy="1223962"/>
          </a:xfrm>
        </p:spPr>
        <p:txBody>
          <a:bodyPr/>
          <a:lstStyle/>
          <a:p>
            <a:pPr marL="0" indent="0" algn="ctr">
              <a:buNone/>
            </a:pPr>
            <a:r>
              <a:rPr lang="en-US" sz="6500" b="1" dirty="0">
                <a:solidFill>
                  <a:schemeClr val="tx2"/>
                </a:solidFill>
                <a:latin typeface="Georgia" panose="02040502050405020303" pitchFamily="18" charset="0"/>
              </a:rPr>
              <a:t>Fibrinolytics</a:t>
            </a:r>
          </a:p>
          <a:p>
            <a:pPr algn="ctr"/>
            <a:endParaRPr lang="en-US" sz="4400" dirty="0"/>
          </a:p>
        </p:txBody>
      </p:sp>
    </p:spTree>
    <p:extLst>
      <p:ext uri="{BB962C8B-B14F-4D97-AF65-F5344CB8AC3E}">
        <p14:creationId xmlns:p14="http://schemas.microsoft.com/office/powerpoint/2010/main" val="19319878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67892"/>
            <a:ext cx="3490778" cy="676768"/>
          </a:xfrm>
        </p:spPr>
        <p:txBody>
          <a:bodyPr/>
          <a:lstStyle/>
          <a:p>
            <a:r>
              <a:rPr lang="en-US" dirty="0"/>
              <a:t>Fibrinolytics</a:t>
            </a:r>
          </a:p>
        </p:txBody>
      </p:sp>
      <p:pic>
        <p:nvPicPr>
          <p:cNvPr id="3074" name="Picture 2" descr="Thrombolytics | Concise Medical Knowled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922" y="1175688"/>
            <a:ext cx="7049902" cy="474601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CB68243-3A3C-FD7B-5101-46E643ADBFEF}"/>
              </a:ext>
            </a:extLst>
          </p:cNvPr>
          <p:cNvSpPr/>
          <p:nvPr/>
        </p:nvSpPr>
        <p:spPr bwMode="auto">
          <a:xfrm>
            <a:off x="1426143" y="1777329"/>
            <a:ext cx="2007079" cy="2323381"/>
          </a:xfrm>
          <a:prstGeom prst="rect">
            <a:avLst/>
          </a:prstGeom>
          <a:noFill/>
          <a:ln w="25400"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
        <p:nvSpPr>
          <p:cNvPr id="4" name="Rectangle 3">
            <a:extLst>
              <a:ext uri="{FF2B5EF4-FFF2-40B4-BE49-F238E27FC236}">
                <a16:creationId xmlns:a16="http://schemas.microsoft.com/office/drawing/2014/main" id="{F34394E0-CBB7-21C1-D2CE-A11A2117330D}"/>
              </a:ext>
            </a:extLst>
          </p:cNvPr>
          <p:cNvSpPr/>
          <p:nvPr/>
        </p:nvSpPr>
        <p:spPr bwMode="auto">
          <a:xfrm>
            <a:off x="5461008" y="1816693"/>
            <a:ext cx="3027871" cy="1216324"/>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
        <p:nvSpPr>
          <p:cNvPr id="8" name="TextBox 7">
            <a:extLst>
              <a:ext uri="{FF2B5EF4-FFF2-40B4-BE49-F238E27FC236}">
                <a16:creationId xmlns:a16="http://schemas.microsoft.com/office/drawing/2014/main" id="{97A7E17B-D8C6-D11E-5959-BA78BC084DDD}"/>
              </a:ext>
            </a:extLst>
          </p:cNvPr>
          <p:cNvSpPr txBox="1"/>
          <p:nvPr/>
        </p:nvSpPr>
        <p:spPr>
          <a:xfrm>
            <a:off x="1320019" y="1407997"/>
            <a:ext cx="2219325" cy="369332"/>
          </a:xfrm>
          <a:prstGeom prst="rect">
            <a:avLst/>
          </a:prstGeom>
          <a:noFill/>
        </p:spPr>
        <p:txBody>
          <a:bodyPr wrap="square" rtlCol="0">
            <a:spAutoFit/>
          </a:bodyPr>
          <a:lstStyle/>
          <a:p>
            <a:r>
              <a:rPr lang="en-US" sz="1600" b="1" dirty="0">
                <a:solidFill>
                  <a:schemeClr val="tx2"/>
                </a:solidFill>
              </a:rPr>
              <a:t>“clot-busters</a:t>
            </a:r>
            <a:r>
              <a:rPr lang="en-US" dirty="0">
                <a:solidFill>
                  <a:schemeClr val="tx2"/>
                </a:solidFill>
              </a:rPr>
              <a:t>”</a:t>
            </a:r>
          </a:p>
        </p:txBody>
      </p:sp>
      <p:pic>
        <p:nvPicPr>
          <p:cNvPr id="4098" name="Picture 2" descr="Chart depicting mechanism of action. Image of the end of a catheter with thrombus and the three steps of how t-PA resolves the occlusion">
            <a:extLst>
              <a:ext uri="{FF2B5EF4-FFF2-40B4-BE49-F238E27FC236}">
                <a16:creationId xmlns:a16="http://schemas.microsoft.com/office/drawing/2014/main" id="{CD0CDB35-6A89-691C-6E00-B06AC1313A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283" t="10498" b="29036"/>
          <a:stretch/>
        </p:blipFill>
        <p:spPr bwMode="auto">
          <a:xfrm>
            <a:off x="5352760" y="694927"/>
            <a:ext cx="6458240" cy="1883147"/>
          </a:xfrm>
          <a:prstGeom prst="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pic>
      <p:grpSp>
        <p:nvGrpSpPr>
          <p:cNvPr id="7" name="Group 6">
            <a:extLst>
              <a:ext uri="{FF2B5EF4-FFF2-40B4-BE49-F238E27FC236}">
                <a16:creationId xmlns:a16="http://schemas.microsoft.com/office/drawing/2014/main" id="{2F31F53C-45B6-FFB9-0D1E-ABA4DA0158BE}"/>
              </a:ext>
            </a:extLst>
          </p:cNvPr>
          <p:cNvGrpSpPr/>
          <p:nvPr/>
        </p:nvGrpSpPr>
        <p:grpSpPr>
          <a:xfrm>
            <a:off x="8151035" y="3139757"/>
            <a:ext cx="3790104" cy="2574741"/>
            <a:chOff x="7141999" y="-986184"/>
            <a:chExt cx="4683641" cy="2345351"/>
          </a:xfrm>
        </p:grpSpPr>
        <p:sp>
          <p:nvSpPr>
            <p:cNvPr id="10" name="Rectangle: Rounded Corners 9">
              <a:extLst>
                <a:ext uri="{FF2B5EF4-FFF2-40B4-BE49-F238E27FC236}">
                  <a16:creationId xmlns:a16="http://schemas.microsoft.com/office/drawing/2014/main" id="{5A955249-8CCD-69B6-3A8B-FE2CEEAE10A5}"/>
                </a:ext>
              </a:extLst>
            </p:cNvPr>
            <p:cNvSpPr/>
            <p:nvPr/>
          </p:nvSpPr>
          <p:spPr bwMode="auto">
            <a:xfrm>
              <a:off x="7141999" y="-986184"/>
              <a:ext cx="4533064" cy="2345351"/>
            </a:xfrm>
            <a:prstGeom prst="roundRect">
              <a:avLst>
                <a:gd name="adj" fmla="val 10767"/>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ts val="19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11" name="TextBox 10">
              <a:extLst>
                <a:ext uri="{FF2B5EF4-FFF2-40B4-BE49-F238E27FC236}">
                  <a16:creationId xmlns:a16="http://schemas.microsoft.com/office/drawing/2014/main" id="{57CB47A6-E9E9-4082-D90C-804E01FD6D72}"/>
                </a:ext>
              </a:extLst>
            </p:cNvPr>
            <p:cNvSpPr txBox="1"/>
            <p:nvPr/>
          </p:nvSpPr>
          <p:spPr>
            <a:xfrm>
              <a:off x="7543632" y="-794260"/>
              <a:ext cx="4282008" cy="1839602"/>
            </a:xfrm>
            <a:prstGeom prst="rect">
              <a:avLst/>
            </a:prstGeom>
            <a:noFill/>
            <a:ln>
              <a:noFill/>
            </a:ln>
          </p:spPr>
          <p:txBody>
            <a:bodyPr wrap="square">
              <a:spAutoFit/>
            </a:bodyPr>
            <a:lstStyle/>
            <a:p>
              <a:pPr>
                <a:lnSpc>
                  <a:spcPts val="2800"/>
                </a:lnSpc>
              </a:pPr>
              <a:r>
                <a:rPr lang="en-US" sz="2000" b="1" dirty="0">
                  <a:solidFill>
                    <a:srgbClr val="FFFFFF"/>
                  </a:solidFill>
                </a:rPr>
                <a:t>Example of clinical use</a:t>
              </a:r>
              <a:r>
                <a:rPr lang="en-US" sz="2000" b="1" dirty="0">
                  <a:sym typeface="Wingdings" panose="05000000000000000000" pitchFamily="2" charset="2"/>
                </a:rPr>
                <a:t> </a:t>
              </a:r>
              <a:r>
                <a:rPr lang="en-US" sz="2000" b="1" dirty="0">
                  <a:solidFill>
                    <a:srgbClr val="FFFFFF"/>
                  </a:solidFill>
                  <a:sym typeface="Wingdings" panose="05000000000000000000" pitchFamily="2" charset="2"/>
                </a:rPr>
                <a:t></a:t>
              </a:r>
            </a:p>
            <a:p>
              <a:pPr>
                <a:lnSpc>
                  <a:spcPts val="2800"/>
                </a:lnSpc>
                <a:spcBef>
                  <a:spcPts val="1200"/>
                </a:spcBef>
              </a:pPr>
              <a:r>
                <a:rPr lang="en-US" sz="2000" dirty="0">
                  <a:solidFill>
                    <a:srgbClr val="FFFFFF"/>
                  </a:solidFill>
                </a:rPr>
                <a:t>ischemic stroke, myocardial infarction, pulmonary embolism or deep vein thrombosis (Module 3)</a:t>
              </a:r>
            </a:p>
          </p:txBody>
        </p:sp>
      </p:grpSp>
      <p:sp>
        <p:nvSpPr>
          <p:cNvPr id="5" name="Rectangle 4">
            <a:extLst>
              <a:ext uri="{FF2B5EF4-FFF2-40B4-BE49-F238E27FC236}">
                <a16:creationId xmlns:a16="http://schemas.microsoft.com/office/drawing/2014/main" id="{A4F6430D-3FDB-CBC7-A55D-161A37A1CA38}"/>
              </a:ext>
            </a:extLst>
          </p:cNvPr>
          <p:cNvSpPr/>
          <p:nvPr/>
        </p:nvSpPr>
        <p:spPr bwMode="auto">
          <a:xfrm>
            <a:off x="4405178" y="2619375"/>
            <a:ext cx="938348" cy="413642"/>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Tree>
    <p:extLst>
      <p:ext uri="{BB962C8B-B14F-4D97-AF65-F5344CB8AC3E}">
        <p14:creationId xmlns:p14="http://schemas.microsoft.com/office/powerpoint/2010/main" val="35638782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399" y="167892"/>
            <a:ext cx="10389241" cy="670308"/>
          </a:xfrm>
        </p:spPr>
        <p:txBody>
          <a:bodyPr/>
          <a:lstStyle/>
          <a:p>
            <a:r>
              <a:rPr lang="en-US" dirty="0"/>
              <a:t>Fibrinolytics</a:t>
            </a:r>
          </a:p>
        </p:txBody>
      </p:sp>
      <p:sp>
        <p:nvSpPr>
          <p:cNvPr id="5" name="Content Placeholder 4"/>
          <p:cNvSpPr>
            <a:spLocks noGrp="1"/>
          </p:cNvSpPr>
          <p:nvPr>
            <p:ph idx="1"/>
          </p:nvPr>
        </p:nvSpPr>
        <p:spPr>
          <a:xfrm>
            <a:off x="914399" y="1295400"/>
            <a:ext cx="8801102" cy="4402756"/>
          </a:xfrm>
        </p:spPr>
        <p:txBody>
          <a:bodyPr>
            <a:normAutofit fontScale="92500"/>
          </a:bodyPr>
          <a:lstStyle/>
          <a:p>
            <a:pPr marL="228600" indent="-228600">
              <a:lnSpc>
                <a:spcPts val="2500"/>
              </a:lnSpc>
              <a:spcBef>
                <a:spcPts val="1800"/>
              </a:spcBef>
            </a:pPr>
            <a:r>
              <a:rPr lang="en-US" sz="2400" b="0" i="0" dirty="0">
                <a:solidFill>
                  <a:srgbClr val="000000"/>
                </a:solidFill>
                <a:effectLst/>
                <a:highlight>
                  <a:srgbClr val="FFFFFF"/>
                </a:highlight>
              </a:rPr>
              <a:t>Recombinant biotechnology has </a:t>
            </a:r>
            <a:br>
              <a:rPr lang="en-US" sz="2400" b="0" i="0" dirty="0">
                <a:solidFill>
                  <a:srgbClr val="000000"/>
                </a:solidFill>
                <a:effectLst/>
                <a:highlight>
                  <a:srgbClr val="FFFFFF"/>
                </a:highlight>
              </a:rPr>
            </a:br>
            <a:r>
              <a:rPr lang="en-US" sz="2400" b="0" i="0" dirty="0">
                <a:solidFill>
                  <a:srgbClr val="000000"/>
                </a:solidFill>
                <a:effectLst/>
                <a:highlight>
                  <a:srgbClr val="FFFFFF"/>
                </a:highlight>
              </a:rPr>
              <a:t>allowed tPA to be manufactured in labs</a:t>
            </a:r>
          </a:p>
          <a:p>
            <a:pPr marL="228600" indent="-228600">
              <a:lnSpc>
                <a:spcPts val="2500"/>
              </a:lnSpc>
              <a:spcBef>
                <a:spcPts val="1800"/>
              </a:spcBef>
            </a:pPr>
            <a:r>
              <a:rPr lang="en-US" sz="2400" b="0" kern="1200" dirty="0">
                <a:solidFill>
                  <a:srgbClr val="000000"/>
                </a:solidFill>
                <a:highlight>
                  <a:srgbClr val="FFFFFF"/>
                </a:highlight>
              </a:rPr>
              <a:t>Synthetic products are called </a:t>
            </a:r>
            <a:r>
              <a:rPr lang="en-US" sz="2400" b="0" kern="1200" dirty="0">
                <a:solidFill>
                  <a:schemeClr val="tx1"/>
                </a:solidFill>
                <a:highlight>
                  <a:srgbClr val="FFFFFF"/>
                </a:highlight>
              </a:rPr>
              <a:t>r</a:t>
            </a:r>
            <a:r>
              <a:rPr lang="en-US" sz="2400" b="0" kern="1200" dirty="0">
                <a:solidFill>
                  <a:schemeClr val="tx1"/>
                </a:solidFill>
              </a:rPr>
              <a:t>ecombinant </a:t>
            </a:r>
            <a:br>
              <a:rPr lang="en-US" sz="2400" b="0" kern="1200" dirty="0">
                <a:solidFill>
                  <a:schemeClr val="tx1"/>
                </a:solidFill>
              </a:rPr>
            </a:br>
            <a:r>
              <a:rPr lang="en-US" sz="2400" b="0" kern="1200" dirty="0">
                <a:solidFill>
                  <a:schemeClr val="tx1"/>
                </a:solidFill>
              </a:rPr>
              <a:t>Tissue Plasminogen Activators (</a:t>
            </a:r>
            <a:r>
              <a:rPr lang="en-US" sz="2400" b="0" kern="1200" dirty="0" err="1">
                <a:solidFill>
                  <a:schemeClr val="tx1"/>
                </a:solidFill>
              </a:rPr>
              <a:t>rtPA</a:t>
            </a:r>
            <a:r>
              <a:rPr lang="en-US" sz="2400" b="0" kern="1200" dirty="0">
                <a:solidFill>
                  <a:schemeClr val="tx1"/>
                </a:solidFill>
              </a:rPr>
              <a:t>)</a:t>
            </a:r>
          </a:p>
          <a:p>
            <a:pPr marL="228600" indent="-228600">
              <a:lnSpc>
                <a:spcPts val="2500"/>
              </a:lnSpc>
              <a:spcBef>
                <a:spcPts val="1800"/>
              </a:spcBef>
            </a:pPr>
            <a:r>
              <a:rPr lang="en-US" sz="2400" b="0" kern="1200" dirty="0">
                <a:solidFill>
                  <a:schemeClr val="tx1"/>
                </a:solidFill>
              </a:rPr>
              <a:t>Examples include </a:t>
            </a:r>
            <a:r>
              <a:rPr lang="en-US" sz="2400" b="1" kern="1200" dirty="0">
                <a:solidFill>
                  <a:schemeClr val="tx1"/>
                </a:solidFill>
              </a:rPr>
              <a:t>alteplase, </a:t>
            </a:r>
            <a:r>
              <a:rPr lang="en-US" sz="2400" b="1" kern="1200" dirty="0" err="1">
                <a:solidFill>
                  <a:schemeClr val="tx1"/>
                </a:solidFill>
              </a:rPr>
              <a:t>reteplase</a:t>
            </a:r>
            <a:r>
              <a:rPr lang="en-US" sz="2400" b="1" kern="1200" dirty="0">
                <a:solidFill>
                  <a:schemeClr val="tx1"/>
                </a:solidFill>
              </a:rPr>
              <a:t>, </a:t>
            </a:r>
            <a:r>
              <a:rPr lang="en-US" sz="2400" b="1" kern="1200" dirty="0" err="1">
                <a:solidFill>
                  <a:schemeClr val="tx1"/>
                </a:solidFill>
              </a:rPr>
              <a:t>tenecteplase</a:t>
            </a:r>
            <a:r>
              <a:rPr lang="en-US" sz="2400" b="1" kern="1200" dirty="0">
                <a:solidFill>
                  <a:schemeClr val="tx1"/>
                </a:solidFill>
              </a:rPr>
              <a:t> </a:t>
            </a:r>
          </a:p>
          <a:p>
            <a:pPr marL="457200" lvl="1" indent="-228600">
              <a:lnSpc>
                <a:spcPts val="2500"/>
              </a:lnSpc>
              <a:spcBef>
                <a:spcPts val="1200"/>
              </a:spcBef>
              <a:buSzPct val="80000"/>
            </a:pPr>
            <a:r>
              <a:rPr lang="en-US" sz="2400" b="0" i="0" dirty="0">
                <a:solidFill>
                  <a:srgbClr val="000000"/>
                </a:solidFill>
                <a:effectLst/>
                <a:highlight>
                  <a:srgbClr val="FFFFFF"/>
                </a:highlight>
              </a:rPr>
              <a:t>Various modifications to amplify their PK &amp; PD, especially prolonging their short half-life in the circulation and further increasing their fibrin specificity to prevent an unwanted fibrinolytic state. </a:t>
            </a:r>
            <a:endParaRPr lang="en-US" sz="2400" b="0" kern="1200" dirty="0">
              <a:solidFill>
                <a:schemeClr val="tx1"/>
              </a:solidFill>
            </a:endParaRPr>
          </a:p>
          <a:p>
            <a:pPr marL="228600" indent="-228600">
              <a:lnSpc>
                <a:spcPts val="2500"/>
              </a:lnSpc>
              <a:spcBef>
                <a:spcPts val="1800"/>
              </a:spcBef>
            </a:pPr>
            <a:r>
              <a:rPr lang="en-US" sz="2400" b="0" kern="1200" dirty="0">
                <a:solidFill>
                  <a:schemeClr val="tx1"/>
                </a:solidFill>
              </a:rPr>
              <a:t>Many factors that increase bleeding risk </a:t>
            </a:r>
            <a:br>
              <a:rPr lang="en-US" sz="2400" b="0" kern="1200" dirty="0">
                <a:solidFill>
                  <a:schemeClr val="tx1"/>
                </a:solidFill>
              </a:rPr>
            </a:br>
            <a:r>
              <a:rPr lang="en-US" sz="2400" b="0" kern="1200" dirty="0">
                <a:solidFill>
                  <a:schemeClr val="tx1"/>
                </a:solidFill>
              </a:rPr>
              <a:t>must be ruled out before administration</a:t>
            </a:r>
          </a:p>
        </p:txBody>
      </p:sp>
    </p:spTree>
    <p:extLst>
      <p:ext uri="{BB962C8B-B14F-4D97-AF65-F5344CB8AC3E}">
        <p14:creationId xmlns:p14="http://schemas.microsoft.com/office/powerpoint/2010/main" val="13437548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499" y="167892"/>
            <a:ext cx="10389241" cy="670308"/>
          </a:xfrm>
        </p:spPr>
        <p:txBody>
          <a:bodyPr/>
          <a:lstStyle/>
          <a:p>
            <a:r>
              <a:rPr lang="en-US" dirty="0"/>
              <a:t>Antifibrinolytics</a:t>
            </a:r>
          </a:p>
        </p:txBody>
      </p:sp>
      <p:sp>
        <p:nvSpPr>
          <p:cNvPr id="4" name="Rectangle 3">
            <a:extLst>
              <a:ext uri="{FF2B5EF4-FFF2-40B4-BE49-F238E27FC236}">
                <a16:creationId xmlns:a16="http://schemas.microsoft.com/office/drawing/2014/main" id="{F34394E0-CBB7-21C1-D2CE-A11A2117330D}"/>
              </a:ext>
            </a:extLst>
          </p:cNvPr>
          <p:cNvSpPr/>
          <p:nvPr/>
        </p:nvSpPr>
        <p:spPr bwMode="auto">
          <a:xfrm>
            <a:off x="2402995" y="1914899"/>
            <a:ext cx="3027871" cy="1877682"/>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grpSp>
        <p:nvGrpSpPr>
          <p:cNvPr id="7" name="Group 6">
            <a:extLst>
              <a:ext uri="{FF2B5EF4-FFF2-40B4-BE49-F238E27FC236}">
                <a16:creationId xmlns:a16="http://schemas.microsoft.com/office/drawing/2014/main" id="{FB675D73-14A8-7305-D229-10B019761639}"/>
              </a:ext>
            </a:extLst>
          </p:cNvPr>
          <p:cNvGrpSpPr/>
          <p:nvPr/>
        </p:nvGrpSpPr>
        <p:grpSpPr>
          <a:xfrm>
            <a:off x="2259732" y="838200"/>
            <a:ext cx="7163200" cy="4557342"/>
            <a:chOff x="1790300" y="1290914"/>
            <a:chExt cx="7163200" cy="4557342"/>
          </a:xfrm>
        </p:grpSpPr>
        <p:sp>
          <p:nvSpPr>
            <p:cNvPr id="6" name="Rectangle 5">
              <a:extLst>
                <a:ext uri="{FF2B5EF4-FFF2-40B4-BE49-F238E27FC236}">
                  <a16:creationId xmlns:a16="http://schemas.microsoft.com/office/drawing/2014/main" id="{CF396E3E-0229-8E9C-EC89-18A0F82C518B}"/>
                </a:ext>
              </a:extLst>
            </p:cNvPr>
            <p:cNvSpPr/>
            <p:nvPr/>
          </p:nvSpPr>
          <p:spPr bwMode="auto">
            <a:xfrm>
              <a:off x="1790300" y="1290914"/>
              <a:ext cx="7163200" cy="4557342"/>
            </a:xfrm>
            <a:prstGeom prst="rect">
              <a:avLst/>
            </a:prstGeom>
            <a:solidFill>
              <a:schemeClr val="bg1"/>
            </a:solidFill>
            <a:ln w="9525" cap="flat" cmpd="sng" algn="ctr">
              <a:solidFill>
                <a:schemeClr val="bg1">
                  <a:lumMod val="50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pic>
          <p:nvPicPr>
            <p:cNvPr id="3074" name="Picture 2" descr="Thrombolytics | Concise Medical Knowledge"/>
            <p:cNvPicPr>
              <a:picLocks noChangeAspect="1" noChangeArrowheads="1"/>
            </p:cNvPicPr>
            <p:nvPr/>
          </p:nvPicPr>
          <p:blipFill rotWithShape="1">
            <a:blip r:embed="rId3">
              <a:extLst>
                <a:ext uri="{28A0092B-C50C-407E-A947-70E740481C1C}">
                  <a14:useLocalDpi xmlns:a14="http://schemas.microsoft.com/office/drawing/2010/main" val="0"/>
                </a:ext>
              </a:extLst>
            </a:blip>
            <a:srcRect t="5308"/>
            <a:stretch>
              <a:fillRect/>
            </a:stretch>
          </p:blipFill>
          <p:spPr bwMode="auto">
            <a:xfrm>
              <a:off x="1903598" y="1354154"/>
              <a:ext cx="7049902" cy="449410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CB68243-3A3C-FD7B-5101-46E643ADBFEF}"/>
                </a:ext>
              </a:extLst>
            </p:cNvPr>
            <p:cNvSpPr/>
            <p:nvPr/>
          </p:nvSpPr>
          <p:spPr bwMode="auto">
            <a:xfrm>
              <a:off x="6530196" y="1490932"/>
              <a:ext cx="2007079" cy="2323381"/>
            </a:xfrm>
            <a:prstGeom prst="rect">
              <a:avLst/>
            </a:prstGeom>
            <a:noFill/>
            <a:ln w="25400"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grpSp>
      <p:sp>
        <p:nvSpPr>
          <p:cNvPr id="5" name="TextBox 4">
            <a:extLst>
              <a:ext uri="{FF2B5EF4-FFF2-40B4-BE49-F238E27FC236}">
                <a16:creationId xmlns:a16="http://schemas.microsoft.com/office/drawing/2014/main" id="{6603E865-1AB5-995C-1EAA-0E366B7D9200}"/>
              </a:ext>
            </a:extLst>
          </p:cNvPr>
          <p:cNvSpPr txBox="1"/>
          <p:nvPr/>
        </p:nvSpPr>
        <p:spPr>
          <a:xfrm>
            <a:off x="1246573" y="5553427"/>
            <a:ext cx="10095167" cy="923330"/>
          </a:xfrm>
          <a:prstGeom prst="rect">
            <a:avLst/>
          </a:prstGeom>
          <a:noFill/>
        </p:spPr>
        <p:txBody>
          <a:bodyPr wrap="square" rtlCol="0">
            <a:spAutoFit/>
          </a:bodyPr>
          <a:lstStyle/>
          <a:p>
            <a:pPr marL="118745" indent="-337820"/>
            <a:r>
              <a:rPr lang="en-US" u="sng" dirty="0"/>
              <a:t>Examples of use</a:t>
            </a:r>
            <a:r>
              <a:rPr lang="en-US" dirty="0"/>
              <a:t>: Bleeding during surgery and bleeding due to trauma; postpartum hemorrhage, heavy menstrual bleeding, dental procedures in patients with bleeding disorders</a:t>
            </a:r>
          </a:p>
          <a:p>
            <a:endParaRPr lang="en-US" dirty="0"/>
          </a:p>
        </p:txBody>
      </p:sp>
      <p:sp>
        <p:nvSpPr>
          <p:cNvPr id="8" name="TextBox 7">
            <a:extLst>
              <a:ext uri="{FF2B5EF4-FFF2-40B4-BE49-F238E27FC236}">
                <a16:creationId xmlns:a16="http://schemas.microsoft.com/office/drawing/2014/main" id="{B376EDEE-A912-FF05-F827-18772AB0A6F8}"/>
              </a:ext>
            </a:extLst>
          </p:cNvPr>
          <p:cNvSpPr txBox="1"/>
          <p:nvPr/>
        </p:nvSpPr>
        <p:spPr>
          <a:xfrm>
            <a:off x="9789005" y="1914899"/>
            <a:ext cx="2142262" cy="1200329"/>
          </a:xfrm>
          <a:prstGeom prst="rect">
            <a:avLst/>
          </a:prstGeom>
          <a:noFill/>
          <a:ln>
            <a:solidFill>
              <a:srgbClr val="FF0000"/>
            </a:solidFill>
          </a:ln>
        </p:spPr>
        <p:txBody>
          <a:bodyPr wrap="square" rtlCol="0">
            <a:spAutoFit/>
          </a:bodyPr>
          <a:lstStyle/>
          <a:p>
            <a:r>
              <a:rPr lang="en-US" dirty="0"/>
              <a:t>*Because they stabilize clots, they can increase risk of thrombosis</a:t>
            </a:r>
          </a:p>
        </p:txBody>
      </p:sp>
    </p:spTree>
    <p:extLst>
      <p:ext uri="{BB962C8B-B14F-4D97-AF65-F5344CB8AC3E}">
        <p14:creationId xmlns:p14="http://schemas.microsoft.com/office/powerpoint/2010/main" val="40893879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7A9BA-8685-DEAA-5EE4-80DEF16E82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C53779-F558-D029-233B-F951996808D9}"/>
              </a:ext>
            </a:extLst>
          </p:cNvPr>
          <p:cNvSpPr>
            <a:spLocks noGrp="1"/>
          </p:cNvSpPr>
          <p:nvPr>
            <p:ph type="ctrTitle"/>
          </p:nvPr>
        </p:nvSpPr>
        <p:spPr>
          <a:xfrm>
            <a:off x="0" y="5136944"/>
            <a:ext cx="12199127" cy="1090820"/>
          </a:xfrm>
        </p:spPr>
        <p:txBody>
          <a:bodyPr/>
          <a:lstStyle/>
          <a:p>
            <a:r>
              <a:rPr lang="en-US" dirty="0"/>
              <a:t>*More in Module 3*</a:t>
            </a:r>
          </a:p>
        </p:txBody>
      </p:sp>
      <p:sp>
        <p:nvSpPr>
          <p:cNvPr id="6" name="Subtitle 5">
            <a:extLst>
              <a:ext uri="{FF2B5EF4-FFF2-40B4-BE49-F238E27FC236}">
                <a16:creationId xmlns:a16="http://schemas.microsoft.com/office/drawing/2014/main" id="{98B0A4EF-9073-C655-91DD-B2901E2CFF91}"/>
              </a:ext>
            </a:extLst>
          </p:cNvPr>
          <p:cNvSpPr>
            <a:spLocks noGrp="1"/>
          </p:cNvSpPr>
          <p:nvPr>
            <p:ph type="subTitle" idx="4294967295"/>
          </p:nvPr>
        </p:nvSpPr>
        <p:spPr>
          <a:xfrm>
            <a:off x="0" y="2347913"/>
            <a:ext cx="12192000" cy="1223962"/>
          </a:xfrm>
        </p:spPr>
        <p:txBody>
          <a:bodyPr/>
          <a:lstStyle/>
          <a:p>
            <a:pPr marL="0" indent="0" algn="ctr">
              <a:buNone/>
            </a:pPr>
            <a:r>
              <a:rPr lang="en-US" sz="6500" b="1" dirty="0">
                <a:solidFill>
                  <a:schemeClr val="tx2"/>
                </a:solidFill>
                <a:latin typeface="Georgia" panose="02040502050405020303" pitchFamily="18" charset="0"/>
              </a:rPr>
              <a:t>Antiplatelets</a:t>
            </a:r>
          </a:p>
        </p:txBody>
      </p:sp>
    </p:spTree>
    <p:extLst>
      <p:ext uri="{BB962C8B-B14F-4D97-AF65-F5344CB8AC3E}">
        <p14:creationId xmlns:p14="http://schemas.microsoft.com/office/powerpoint/2010/main" val="230568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05D7308-D3B7-6ECE-D8F4-12B8DADBEFEB}"/>
              </a:ext>
            </a:extLst>
          </p:cNvPr>
          <p:cNvSpPr/>
          <p:nvPr/>
        </p:nvSpPr>
        <p:spPr>
          <a:xfrm>
            <a:off x="7667625" y="3190875"/>
            <a:ext cx="4524375" cy="303688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rotWithShape="1">
          <a:blip r:embed="rId3"/>
          <a:srcRect l="2391"/>
          <a:stretch/>
        </p:blipFill>
        <p:spPr>
          <a:xfrm>
            <a:off x="1643820" y="1034623"/>
            <a:ext cx="8395146" cy="4955004"/>
          </a:xfrm>
          <a:prstGeom prst="rect">
            <a:avLst/>
          </a:prstGeom>
        </p:spPr>
      </p:pic>
      <p:sp>
        <p:nvSpPr>
          <p:cNvPr id="4" name="Title 3"/>
          <p:cNvSpPr>
            <a:spLocks noGrp="1"/>
          </p:cNvSpPr>
          <p:nvPr>
            <p:ph type="title"/>
          </p:nvPr>
        </p:nvSpPr>
        <p:spPr>
          <a:xfrm>
            <a:off x="914399" y="167891"/>
            <a:ext cx="7372351" cy="670309"/>
          </a:xfrm>
        </p:spPr>
        <p:txBody>
          <a:bodyPr/>
          <a:lstStyle/>
          <a:p>
            <a:r>
              <a:rPr lang="en-US" dirty="0"/>
              <a:t>Mechanisms of Action</a:t>
            </a:r>
          </a:p>
        </p:txBody>
      </p:sp>
      <p:sp>
        <p:nvSpPr>
          <p:cNvPr id="5" name="Rectangle 4"/>
          <p:cNvSpPr/>
          <p:nvPr/>
        </p:nvSpPr>
        <p:spPr>
          <a:xfrm>
            <a:off x="854181" y="5919710"/>
            <a:ext cx="1579278" cy="215444"/>
          </a:xfrm>
          <a:prstGeom prst="rect">
            <a:avLst/>
          </a:prstGeom>
        </p:spPr>
        <p:txBody>
          <a:bodyPr wrap="none">
            <a:spAutoFit/>
          </a:bodyPr>
          <a:lstStyle/>
          <a:p>
            <a:r>
              <a:rPr lang="en-US" sz="800" dirty="0"/>
              <a:t>Source: Lancet 2015; 386: 281–91</a:t>
            </a:r>
          </a:p>
        </p:txBody>
      </p:sp>
      <p:grpSp>
        <p:nvGrpSpPr>
          <p:cNvPr id="12" name="Group 11">
            <a:extLst>
              <a:ext uri="{FF2B5EF4-FFF2-40B4-BE49-F238E27FC236}">
                <a16:creationId xmlns:a16="http://schemas.microsoft.com/office/drawing/2014/main" id="{E38F5654-AFE7-ECF5-E248-39210076F3A0}"/>
              </a:ext>
            </a:extLst>
          </p:cNvPr>
          <p:cNvGrpSpPr/>
          <p:nvPr/>
        </p:nvGrpSpPr>
        <p:grpSpPr>
          <a:xfrm>
            <a:off x="9128788" y="1923803"/>
            <a:ext cx="2838783" cy="3222839"/>
            <a:chOff x="9141727" y="2158750"/>
            <a:chExt cx="2838783" cy="2993153"/>
          </a:xfrm>
        </p:grpSpPr>
        <p:sp>
          <p:nvSpPr>
            <p:cNvPr id="9" name="Rectangle: Rounded Corners 8">
              <a:extLst>
                <a:ext uri="{FF2B5EF4-FFF2-40B4-BE49-F238E27FC236}">
                  <a16:creationId xmlns:a16="http://schemas.microsoft.com/office/drawing/2014/main" id="{637CF0D3-388B-5544-FB0E-EE31AD5431AA}"/>
                </a:ext>
              </a:extLst>
            </p:cNvPr>
            <p:cNvSpPr/>
            <p:nvPr/>
          </p:nvSpPr>
          <p:spPr bwMode="auto">
            <a:xfrm>
              <a:off x="9141727" y="2158750"/>
              <a:ext cx="2838783" cy="2424081"/>
            </a:xfrm>
            <a:prstGeom prst="roundRect">
              <a:avLst>
                <a:gd name="adj" fmla="val 9285"/>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ts val="19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8" name="TextBox 7">
              <a:extLst>
                <a:ext uri="{FF2B5EF4-FFF2-40B4-BE49-F238E27FC236}">
                  <a16:creationId xmlns:a16="http://schemas.microsoft.com/office/drawing/2014/main" id="{A98E7961-D604-D7CA-5C71-8141B4B0F6DC}"/>
                </a:ext>
              </a:extLst>
            </p:cNvPr>
            <p:cNvSpPr txBox="1"/>
            <p:nvPr/>
          </p:nvSpPr>
          <p:spPr>
            <a:xfrm>
              <a:off x="9298008" y="2265151"/>
              <a:ext cx="2592035" cy="2886752"/>
            </a:xfrm>
            <a:prstGeom prst="rect">
              <a:avLst/>
            </a:prstGeom>
            <a:noFill/>
            <a:ln>
              <a:noFill/>
            </a:ln>
          </p:spPr>
          <p:txBody>
            <a:bodyPr wrap="square">
              <a:spAutoFit/>
            </a:bodyPr>
            <a:lstStyle/>
            <a:p>
              <a:pPr>
                <a:lnSpc>
                  <a:spcPts val="2000"/>
                </a:lnSpc>
                <a:spcAft>
                  <a:spcPts val="600"/>
                </a:spcAft>
              </a:pPr>
              <a:r>
                <a:rPr lang="en-US" sz="1400" kern="0" dirty="0">
                  <a:solidFill>
                    <a:srgbClr val="FFFFFF"/>
                  </a:solidFill>
                  <a:effectLst/>
                  <a:ea typeface="Times New Roman" panose="02020603050405020304" pitchFamily="18" charset="0"/>
                  <a:cs typeface="Times New Roman" panose="02020603050405020304" pitchFamily="18" charset="0"/>
                </a:rPr>
                <a:t>Glycoprotein IIb/IIIa inhibitors inhibit binding of platelet glycoprotein IIb/IIIa with fibrinogen and fibronectin.  </a:t>
              </a:r>
              <a:r>
                <a:rPr lang="en-US" sz="1400" kern="0" dirty="0" err="1">
                  <a:solidFill>
                    <a:srgbClr val="FFFFFF"/>
                  </a:solidFill>
                  <a:effectLst/>
                  <a:ea typeface="Times New Roman" panose="02020603050405020304" pitchFamily="18" charset="0"/>
                  <a:cs typeface="Times New Roman" panose="02020603050405020304" pitchFamily="18" charset="0"/>
                </a:rPr>
                <a:t>e.g</a:t>
              </a:r>
              <a:r>
                <a:rPr lang="en-US" sz="1400" kern="0" dirty="0">
                  <a:solidFill>
                    <a:srgbClr val="FFFFFF"/>
                  </a:solidFill>
                  <a:effectLst/>
                  <a:ea typeface="Times New Roman" panose="02020603050405020304" pitchFamily="18" charset="0"/>
                  <a:cs typeface="Times New Roman" panose="02020603050405020304" pitchFamily="18" charset="0"/>
                </a:rPr>
                <a:t> abciximab, eptifibatide and tirofiban are approved for percutaneous intervention (PCI) acute coronary syndrome. </a:t>
              </a:r>
              <a:br>
                <a:rPr lang="en-US" sz="1400" kern="0" dirty="0">
                  <a:solidFill>
                    <a:srgbClr val="FFFFFF"/>
                  </a:solidFill>
                  <a:effectLst/>
                  <a:ea typeface="Times New Roman" panose="02020603050405020304" pitchFamily="18" charset="0"/>
                  <a:cs typeface="Times New Roman" panose="02020603050405020304" pitchFamily="18" charset="0"/>
                </a:rPr>
              </a:br>
              <a:r>
                <a:rPr lang="en-US" sz="1400" kern="0" dirty="0">
                  <a:solidFill>
                    <a:srgbClr val="FFFFFF"/>
                  </a:solidFill>
                  <a:effectLst/>
                  <a:ea typeface="Times New Roman" panose="02020603050405020304" pitchFamily="18" charset="0"/>
                  <a:cs typeface="Times New Roman" panose="02020603050405020304" pitchFamily="18" charset="0"/>
                </a:rPr>
                <a:t>*More in M3</a:t>
              </a:r>
              <a:endParaRPr lang="en-US" sz="1400" kern="100" dirty="0">
                <a:solidFill>
                  <a:srgbClr val="FFFFFF"/>
                </a:solidFill>
                <a:effectLst/>
                <a:ea typeface="Aptos" panose="020B0004020202020204" pitchFamily="34" charset="0"/>
                <a:cs typeface="Times New Roman" panose="02020603050405020304" pitchFamily="18" charset="0"/>
              </a:endParaRPr>
            </a:p>
          </p:txBody>
        </p:sp>
      </p:grpSp>
      <p:sp>
        <p:nvSpPr>
          <p:cNvPr id="2" name="Rectangle 1"/>
          <p:cNvSpPr/>
          <p:nvPr/>
        </p:nvSpPr>
        <p:spPr bwMode="auto">
          <a:xfrm>
            <a:off x="8181976" y="1123950"/>
            <a:ext cx="1790700" cy="466725"/>
          </a:xfrm>
          <a:prstGeom prst="rect">
            <a:avLst/>
          </a:prstGeom>
          <a:noFill/>
          <a:ln w="50800"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
        <p:nvSpPr>
          <p:cNvPr id="6" name="Rectangle 5"/>
          <p:cNvSpPr/>
          <p:nvPr/>
        </p:nvSpPr>
        <p:spPr bwMode="auto">
          <a:xfrm>
            <a:off x="1704975" y="3438526"/>
            <a:ext cx="1200149" cy="457200"/>
          </a:xfrm>
          <a:prstGeom prst="rect">
            <a:avLst/>
          </a:prstGeom>
          <a:noFill/>
          <a:ln w="50800"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Tree>
    <p:extLst>
      <p:ext uri="{BB962C8B-B14F-4D97-AF65-F5344CB8AC3E}">
        <p14:creationId xmlns:p14="http://schemas.microsoft.com/office/powerpoint/2010/main" val="33973671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FAD75B2-F115-ABE8-72F4-107D3143FA93}"/>
              </a:ext>
            </a:extLst>
          </p:cNvPr>
          <p:cNvSpPr/>
          <p:nvPr/>
        </p:nvSpPr>
        <p:spPr>
          <a:xfrm>
            <a:off x="7557681" y="3183439"/>
            <a:ext cx="4524375" cy="303688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7607AD-9259-48B4-A995-F85CF8043E06}"/>
              </a:ext>
            </a:extLst>
          </p:cNvPr>
          <p:cNvSpPr>
            <a:spLocks noGrp="1"/>
          </p:cNvSpPr>
          <p:nvPr>
            <p:ph type="title"/>
          </p:nvPr>
        </p:nvSpPr>
        <p:spPr>
          <a:xfrm>
            <a:off x="914399" y="167892"/>
            <a:ext cx="10389241" cy="1123022"/>
          </a:xfrm>
        </p:spPr>
        <p:txBody>
          <a:bodyPr/>
          <a:lstStyle/>
          <a:p>
            <a:r>
              <a:rPr lang="en-US" dirty="0"/>
              <a:t>Mechanisms of Action: </a:t>
            </a:r>
            <a:br>
              <a:rPr lang="en-US" dirty="0"/>
            </a:br>
            <a:r>
              <a:rPr lang="en-US" dirty="0"/>
              <a:t>Phosphodiesterase Inhibitors</a:t>
            </a:r>
          </a:p>
        </p:txBody>
      </p:sp>
      <p:pic>
        <p:nvPicPr>
          <p:cNvPr id="1026" name="Picture 2">
            <a:extLst>
              <a:ext uri="{FF2B5EF4-FFF2-40B4-BE49-F238E27FC236}">
                <a16:creationId xmlns:a16="http://schemas.microsoft.com/office/drawing/2014/main" id="{475DA751-C21A-FD8C-F5EF-C4B25F1FCE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6110" y="1436798"/>
            <a:ext cx="7518509" cy="440304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F5EFB3B-3009-78B8-7840-2C36D3A7994C}"/>
              </a:ext>
            </a:extLst>
          </p:cNvPr>
          <p:cNvSpPr txBox="1"/>
          <p:nvPr/>
        </p:nvSpPr>
        <p:spPr>
          <a:xfrm>
            <a:off x="835725" y="5960709"/>
            <a:ext cx="4293354" cy="215444"/>
          </a:xfrm>
          <a:prstGeom prst="rect">
            <a:avLst/>
          </a:prstGeom>
          <a:solidFill>
            <a:srgbClr val="FFFFFF"/>
          </a:solidFill>
        </p:spPr>
        <p:txBody>
          <a:bodyPr wrap="square">
            <a:spAutoFit/>
          </a:bodyPr>
          <a:lstStyle/>
          <a:p>
            <a:r>
              <a:rPr lang="en-US" sz="800" b="0" dirty="0">
                <a:solidFill>
                  <a:srgbClr val="494949"/>
                </a:solidFill>
                <a:effectLst/>
                <a:highlight>
                  <a:srgbClr val="FFFFFF"/>
                </a:highlight>
              </a:rPr>
              <a:t>Source: Rondina MT, Weyrich AS. Handbook of Experimental Pharmacology. 2012 (210):225-238. </a:t>
            </a:r>
            <a:endParaRPr lang="en-US" sz="800" dirty="0"/>
          </a:p>
        </p:txBody>
      </p:sp>
      <p:sp>
        <p:nvSpPr>
          <p:cNvPr id="5" name="Rectangle 4">
            <a:extLst>
              <a:ext uri="{FF2B5EF4-FFF2-40B4-BE49-F238E27FC236}">
                <a16:creationId xmlns:a16="http://schemas.microsoft.com/office/drawing/2014/main" id="{49A36B6D-AAA7-50CE-28AD-02350162EA62}"/>
              </a:ext>
            </a:extLst>
          </p:cNvPr>
          <p:cNvSpPr/>
          <p:nvPr/>
        </p:nvSpPr>
        <p:spPr bwMode="auto">
          <a:xfrm>
            <a:off x="2049517" y="1676714"/>
            <a:ext cx="1282262" cy="404334"/>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
        <p:nvSpPr>
          <p:cNvPr id="6" name="Rectangle 5">
            <a:extLst>
              <a:ext uri="{FF2B5EF4-FFF2-40B4-BE49-F238E27FC236}">
                <a16:creationId xmlns:a16="http://schemas.microsoft.com/office/drawing/2014/main" id="{0B87E5AE-AC6A-8264-CDB3-249D322EDB4C}"/>
              </a:ext>
            </a:extLst>
          </p:cNvPr>
          <p:cNvSpPr/>
          <p:nvPr/>
        </p:nvSpPr>
        <p:spPr bwMode="auto">
          <a:xfrm>
            <a:off x="6311462" y="1359271"/>
            <a:ext cx="1487214" cy="404334"/>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
        <p:nvSpPr>
          <p:cNvPr id="7" name="Rectangle 6">
            <a:extLst>
              <a:ext uri="{FF2B5EF4-FFF2-40B4-BE49-F238E27FC236}">
                <a16:creationId xmlns:a16="http://schemas.microsoft.com/office/drawing/2014/main" id="{43A245F9-A9EA-8424-EF63-8D1D83EEDBC8}"/>
              </a:ext>
            </a:extLst>
          </p:cNvPr>
          <p:cNvSpPr/>
          <p:nvPr/>
        </p:nvSpPr>
        <p:spPr bwMode="auto">
          <a:xfrm>
            <a:off x="5391149" y="5514974"/>
            <a:ext cx="1352551" cy="381001"/>
          </a:xfrm>
          <a:prstGeom prst="rect">
            <a:avLst/>
          </a:prstGeom>
          <a:noFill/>
          <a:ln w="38100"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
        <p:nvSpPr>
          <p:cNvPr id="10" name="Rectangle 9">
            <a:extLst>
              <a:ext uri="{FF2B5EF4-FFF2-40B4-BE49-F238E27FC236}">
                <a16:creationId xmlns:a16="http://schemas.microsoft.com/office/drawing/2014/main" id="{0304E641-6623-6318-A197-4682A616ACBD}"/>
              </a:ext>
            </a:extLst>
          </p:cNvPr>
          <p:cNvSpPr/>
          <p:nvPr/>
        </p:nvSpPr>
        <p:spPr bwMode="auto">
          <a:xfrm>
            <a:off x="8063846" y="4162425"/>
            <a:ext cx="1917366" cy="371476"/>
          </a:xfrm>
          <a:prstGeom prst="rect">
            <a:avLst/>
          </a:prstGeom>
          <a:noFill/>
          <a:ln w="38100"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grpSp>
        <p:nvGrpSpPr>
          <p:cNvPr id="8" name="Group 7">
            <a:extLst>
              <a:ext uri="{FF2B5EF4-FFF2-40B4-BE49-F238E27FC236}">
                <a16:creationId xmlns:a16="http://schemas.microsoft.com/office/drawing/2014/main" id="{3A9EC882-E553-403D-482D-380EF3D8C5B7}"/>
              </a:ext>
            </a:extLst>
          </p:cNvPr>
          <p:cNvGrpSpPr/>
          <p:nvPr/>
        </p:nvGrpSpPr>
        <p:grpSpPr>
          <a:xfrm>
            <a:off x="8315325" y="903010"/>
            <a:ext cx="3774865" cy="1296063"/>
            <a:chOff x="9384964" y="2240049"/>
            <a:chExt cx="4479697" cy="951018"/>
          </a:xfrm>
        </p:grpSpPr>
        <p:sp>
          <p:nvSpPr>
            <p:cNvPr id="11" name="Rectangle: Rounded Corners 10">
              <a:extLst>
                <a:ext uri="{FF2B5EF4-FFF2-40B4-BE49-F238E27FC236}">
                  <a16:creationId xmlns:a16="http://schemas.microsoft.com/office/drawing/2014/main" id="{F096AA0F-B12D-B44A-D4C6-9D303AF96915}"/>
                </a:ext>
              </a:extLst>
            </p:cNvPr>
            <p:cNvSpPr/>
            <p:nvPr/>
          </p:nvSpPr>
          <p:spPr bwMode="auto">
            <a:xfrm>
              <a:off x="9384964" y="2240049"/>
              <a:ext cx="4479697" cy="951018"/>
            </a:xfrm>
            <a:prstGeom prst="roundRect">
              <a:avLst>
                <a:gd name="adj" fmla="val 11007"/>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ts val="19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13" name="TextBox 12">
              <a:extLst>
                <a:ext uri="{FF2B5EF4-FFF2-40B4-BE49-F238E27FC236}">
                  <a16:creationId xmlns:a16="http://schemas.microsoft.com/office/drawing/2014/main" id="{03019897-E229-4A8A-D4F5-550A82D7A53B}"/>
                </a:ext>
              </a:extLst>
            </p:cNvPr>
            <p:cNvSpPr txBox="1"/>
            <p:nvPr/>
          </p:nvSpPr>
          <p:spPr>
            <a:xfrm>
              <a:off x="9573146" y="2367022"/>
              <a:ext cx="4055353" cy="671823"/>
            </a:xfrm>
            <a:prstGeom prst="rect">
              <a:avLst/>
            </a:prstGeom>
            <a:noFill/>
            <a:ln>
              <a:noFill/>
            </a:ln>
          </p:spPr>
          <p:txBody>
            <a:bodyPr wrap="square">
              <a:spAutoFit/>
            </a:bodyPr>
            <a:lstStyle/>
            <a:p>
              <a:pPr>
                <a:lnSpc>
                  <a:spcPts val="2200"/>
                </a:lnSpc>
                <a:spcAft>
                  <a:spcPts val="600"/>
                </a:spcAft>
              </a:pPr>
              <a:r>
                <a:rPr lang="en-US" sz="1400" b="1" kern="0" dirty="0">
                  <a:solidFill>
                    <a:srgbClr val="FFFFFF"/>
                  </a:solidFill>
                  <a:effectLst/>
                  <a:ea typeface="Times New Roman" panose="02020603050405020304" pitchFamily="18" charset="0"/>
                  <a:cs typeface="Times New Roman" panose="02020603050405020304" pitchFamily="18" charset="0"/>
                </a:rPr>
                <a:t>*cAMP and cGMP serve as intracellular signals to suppress platelet activation and subsequent aggregation. </a:t>
              </a:r>
            </a:p>
          </p:txBody>
        </p:sp>
      </p:grpSp>
      <p:grpSp>
        <p:nvGrpSpPr>
          <p:cNvPr id="17" name="Group 16">
            <a:extLst>
              <a:ext uri="{FF2B5EF4-FFF2-40B4-BE49-F238E27FC236}">
                <a16:creationId xmlns:a16="http://schemas.microsoft.com/office/drawing/2014/main" id="{C5F1C069-7739-3585-3A0B-59F6306636ED}"/>
              </a:ext>
            </a:extLst>
          </p:cNvPr>
          <p:cNvGrpSpPr/>
          <p:nvPr/>
        </p:nvGrpSpPr>
        <p:grpSpPr>
          <a:xfrm>
            <a:off x="6915369" y="4907888"/>
            <a:ext cx="5412080" cy="1077835"/>
            <a:chOff x="9178463" y="2052964"/>
            <a:chExt cx="4734230" cy="1001020"/>
          </a:xfrm>
        </p:grpSpPr>
        <p:sp>
          <p:nvSpPr>
            <p:cNvPr id="18" name="Rectangle: Rounded Corners 17">
              <a:extLst>
                <a:ext uri="{FF2B5EF4-FFF2-40B4-BE49-F238E27FC236}">
                  <a16:creationId xmlns:a16="http://schemas.microsoft.com/office/drawing/2014/main" id="{75A25438-3DA2-3B19-DCF7-14C9079FA92C}"/>
                </a:ext>
              </a:extLst>
            </p:cNvPr>
            <p:cNvSpPr/>
            <p:nvPr/>
          </p:nvSpPr>
          <p:spPr bwMode="auto">
            <a:xfrm>
              <a:off x="9178463" y="2052964"/>
              <a:ext cx="4531240" cy="1001020"/>
            </a:xfrm>
            <a:prstGeom prst="roundRect">
              <a:avLst>
                <a:gd name="adj" fmla="val 13882"/>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ts val="19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19" name="TextBox 18">
              <a:extLst>
                <a:ext uri="{FF2B5EF4-FFF2-40B4-BE49-F238E27FC236}">
                  <a16:creationId xmlns:a16="http://schemas.microsoft.com/office/drawing/2014/main" id="{73BA5938-8D7E-3261-9F94-62044B1592CB}"/>
                </a:ext>
              </a:extLst>
            </p:cNvPr>
            <p:cNvSpPr txBox="1"/>
            <p:nvPr/>
          </p:nvSpPr>
          <p:spPr>
            <a:xfrm>
              <a:off x="9381453" y="2118124"/>
              <a:ext cx="4531240" cy="784816"/>
            </a:xfrm>
            <a:prstGeom prst="rect">
              <a:avLst/>
            </a:prstGeom>
            <a:noFill/>
            <a:ln>
              <a:noFill/>
            </a:ln>
          </p:spPr>
          <p:txBody>
            <a:bodyPr wrap="square">
              <a:spAutoFit/>
            </a:bodyPr>
            <a:lstStyle/>
            <a:p>
              <a:pPr>
                <a:lnSpc>
                  <a:spcPts val="2000"/>
                </a:lnSpc>
                <a:defRPr/>
              </a:pPr>
              <a:r>
                <a:rPr lang="en-US" sz="1400" b="1" i="0" dirty="0">
                  <a:solidFill>
                    <a:srgbClr val="FFFFFF"/>
                  </a:solidFill>
                  <a:effectLst/>
                </a:rPr>
                <a:t>*dipyridamole also blocks adenosine reuptake (</a:t>
              </a:r>
              <a:r>
                <a:rPr lang="en-US" sz="1400" b="1" i="0">
                  <a:solidFill>
                    <a:srgbClr val="FFFFFF"/>
                  </a:solidFill>
                  <a:effectLst/>
                </a:rPr>
                <a:t>which </a:t>
              </a:r>
            </a:p>
            <a:p>
              <a:pPr>
                <a:lnSpc>
                  <a:spcPts val="2000"/>
                </a:lnSpc>
                <a:defRPr/>
              </a:pPr>
              <a:r>
                <a:rPr lang="en-US" sz="1400" b="1" i="0">
                  <a:solidFill>
                    <a:srgbClr val="FFFFFF"/>
                  </a:solidFill>
                  <a:effectLst/>
                </a:rPr>
                <a:t>consequently </a:t>
              </a:r>
              <a:r>
                <a:rPr lang="en-US" sz="1400" b="1" i="0" dirty="0">
                  <a:solidFill>
                    <a:srgbClr val="FFFFFF"/>
                  </a:solidFill>
                  <a:effectLst/>
                </a:rPr>
                <a:t>increases intracellular cAMP levels)</a:t>
              </a:r>
              <a:r>
                <a:rPr lang="en-US" sz="1400" b="1" i="0" dirty="0">
                  <a:solidFill>
                    <a:srgbClr val="FFFFFF"/>
                  </a:solidFill>
                  <a:effectLst/>
                  <a:sym typeface="Wingdings" panose="05000000000000000000" pitchFamily="2" charset="2"/>
                </a:rPr>
                <a:t> </a:t>
              </a:r>
            </a:p>
            <a:p>
              <a:pPr>
                <a:lnSpc>
                  <a:spcPts val="2000"/>
                </a:lnSpc>
                <a:defRPr/>
              </a:pPr>
              <a:r>
                <a:rPr lang="en-US" sz="1400" b="1" i="0" dirty="0">
                  <a:solidFill>
                    <a:srgbClr val="FFFFFF"/>
                  </a:solidFill>
                  <a:effectLst/>
                  <a:sym typeface="Wingdings" panose="05000000000000000000" pitchFamily="2" charset="2"/>
                </a:rPr>
                <a:t>PDE inhibitors have </a:t>
              </a:r>
              <a:r>
                <a:rPr lang="en-US" sz="1400" b="1" i="0" dirty="0">
                  <a:solidFill>
                    <a:srgbClr val="FFFFFF"/>
                  </a:solidFill>
                  <a:effectLst/>
                </a:rPr>
                <a:t>both antiplatelet and vasodilator properties. </a:t>
              </a:r>
              <a:endParaRPr lang="en-US" sz="1400" b="1" dirty="0">
                <a:solidFill>
                  <a:srgbClr val="FFFFFF"/>
                </a:solidFill>
              </a:endParaRPr>
            </a:p>
          </p:txBody>
        </p:sp>
      </p:grpSp>
    </p:spTree>
    <p:extLst>
      <p:ext uri="{BB962C8B-B14F-4D97-AF65-F5344CB8AC3E}">
        <p14:creationId xmlns:p14="http://schemas.microsoft.com/office/powerpoint/2010/main" val="4194669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399" y="167892"/>
            <a:ext cx="11420476" cy="670308"/>
          </a:xfrm>
        </p:spPr>
        <p:txBody>
          <a:bodyPr/>
          <a:lstStyle/>
          <a:p>
            <a:r>
              <a:rPr lang="en-US" sz="3400" dirty="0"/>
              <a:t>Pharmacology of Oral P2Y12 Receptor Inhibitors</a:t>
            </a:r>
          </a:p>
        </p:txBody>
      </p:sp>
      <p:graphicFrame>
        <p:nvGraphicFramePr>
          <p:cNvPr id="4" name="Content Placeholder 14"/>
          <p:cNvGraphicFramePr>
            <a:graphicFrameLocks/>
          </p:cNvGraphicFramePr>
          <p:nvPr>
            <p:extLst>
              <p:ext uri="{D42A27DB-BD31-4B8C-83A1-F6EECF244321}">
                <p14:modId xmlns:p14="http://schemas.microsoft.com/office/powerpoint/2010/main" val="1000038544"/>
              </p:ext>
            </p:extLst>
          </p:nvPr>
        </p:nvGraphicFramePr>
        <p:xfrm>
          <a:off x="1028700" y="1079690"/>
          <a:ext cx="10614872" cy="3633120"/>
        </p:xfrm>
        <a:graphic>
          <a:graphicData uri="http://schemas.openxmlformats.org/drawingml/2006/table">
            <a:tbl>
              <a:tblPr firstRow="1" bandRow="1">
                <a:tableStyleId>{5940675A-B579-460E-94D1-54222C63F5DA}</a:tableStyleId>
              </a:tblPr>
              <a:tblGrid>
                <a:gridCol w="2707463">
                  <a:extLst>
                    <a:ext uri="{9D8B030D-6E8A-4147-A177-3AD203B41FA5}">
                      <a16:colId xmlns:a16="http://schemas.microsoft.com/office/drawing/2014/main" val="20000"/>
                    </a:ext>
                  </a:extLst>
                </a:gridCol>
                <a:gridCol w="2599972">
                  <a:extLst>
                    <a:ext uri="{9D8B030D-6E8A-4147-A177-3AD203B41FA5}">
                      <a16:colId xmlns:a16="http://schemas.microsoft.com/office/drawing/2014/main" val="20001"/>
                    </a:ext>
                  </a:extLst>
                </a:gridCol>
                <a:gridCol w="2653719">
                  <a:extLst>
                    <a:ext uri="{9D8B030D-6E8A-4147-A177-3AD203B41FA5}">
                      <a16:colId xmlns:a16="http://schemas.microsoft.com/office/drawing/2014/main" val="20002"/>
                    </a:ext>
                  </a:extLst>
                </a:gridCol>
                <a:gridCol w="2653718">
                  <a:extLst>
                    <a:ext uri="{9D8B030D-6E8A-4147-A177-3AD203B41FA5}">
                      <a16:colId xmlns:a16="http://schemas.microsoft.com/office/drawing/2014/main" val="20003"/>
                    </a:ext>
                  </a:extLst>
                </a:gridCol>
              </a:tblGrid>
              <a:tr h="612965">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endParaRPr lang="en-US" sz="1600" dirty="0">
                        <a:latin typeface="+mn-lt"/>
                      </a:endParaRPr>
                    </a:p>
                  </a:txBody>
                  <a:tcPr marL="68580" marR="68580" marT="34290" marB="34290">
                    <a:lnL w="12700" cap="flat" cmpd="sng" algn="ctr">
                      <a:solidFill>
                        <a:schemeClr val="tx1">
                          <a:lumMod val="50000"/>
                          <a:lumOff val="50000"/>
                        </a:schemeClr>
                      </a:solidFill>
                      <a:prstDash val="solid"/>
                      <a:round/>
                      <a:headEnd type="none" w="med" len="med"/>
                      <a:tailEnd type="none" w="med" len="med"/>
                    </a:lnL>
                    <a:lnR w="12700" cmpd="sng">
                      <a:noFill/>
                    </a:lnR>
                    <a:lnT w="12700" cap="flat" cmpd="sng" algn="ctr">
                      <a:solidFill>
                        <a:schemeClr val="tx1">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1600" dirty="0">
                          <a:solidFill>
                            <a:srgbClr val="FFFFFF"/>
                          </a:solidFill>
                          <a:latin typeface="+mn-lt"/>
                        </a:rPr>
                        <a:t>Clopidogrel</a:t>
                      </a:r>
                    </a:p>
                  </a:txBody>
                  <a:tcPr marL="68580" marR="68580" marT="34290" marB="3429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1600" dirty="0">
                          <a:solidFill>
                            <a:srgbClr val="FFFFFF"/>
                          </a:solidFill>
                          <a:latin typeface="+mn-lt"/>
                        </a:rPr>
                        <a:t>Prasugrel</a:t>
                      </a:r>
                    </a:p>
                  </a:txBody>
                  <a:tcPr marL="68580" marR="68580" marT="34290" marB="3429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1600" dirty="0">
                          <a:solidFill>
                            <a:srgbClr val="FFFFFF"/>
                          </a:solidFill>
                          <a:latin typeface="+mn-lt"/>
                        </a:rPr>
                        <a:t>Ticagrelor</a:t>
                      </a:r>
                    </a:p>
                  </a:txBody>
                  <a:tcPr marL="68580" marR="68580" marT="34290" marB="34290" anchor="ctr">
                    <a:lnL w="12700" cmpd="sng">
                      <a:no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540445">
                <a:tc>
                  <a:txBody>
                    <a:bodyPr/>
                    <a:lstStyle/>
                    <a:p>
                      <a:pPr algn="l"/>
                      <a:r>
                        <a:rPr lang="en-US" sz="1600" b="1" dirty="0">
                          <a:solidFill>
                            <a:srgbClr val="FFFFFF"/>
                          </a:solidFill>
                          <a:latin typeface="+mn-lt"/>
                        </a:rPr>
                        <a:t>Receptor Binding*</a:t>
                      </a:r>
                    </a:p>
                  </a:txBody>
                  <a:tcPr marL="182880" marR="68580" marT="34290" marB="34290" anchor="ctr">
                    <a:lnL w="12700" cap="flat" cmpd="sng" algn="ctr">
                      <a:solidFill>
                        <a:schemeClr val="tx1">
                          <a:lumMod val="50000"/>
                          <a:lumOff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tx1">
                        <a:lumMod val="65000"/>
                        <a:lumOff val="35000"/>
                      </a:schemeClr>
                    </a:solidFill>
                  </a:tcPr>
                </a:tc>
                <a:tc gridSpan="2">
                  <a:txBody>
                    <a:bodyPr/>
                    <a:lstStyle/>
                    <a:p>
                      <a:pPr lvl="0" algn="ctr">
                        <a:buNone/>
                      </a:pPr>
                      <a:r>
                        <a:rPr lang="en-US" sz="1600" dirty="0">
                          <a:latin typeface="+mn-lt"/>
                        </a:rPr>
                        <a:t>Irreversible</a:t>
                      </a:r>
                    </a:p>
                  </a:txBody>
                  <a:tcPr marL="68580" marR="68580" marT="34290" marB="3429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en-US"/>
                    </a:p>
                  </a:txBody>
                  <a:tcPr/>
                </a:tc>
                <a:tc>
                  <a:txBody>
                    <a:bodyPr/>
                    <a:lstStyle/>
                    <a:p>
                      <a:pPr algn="ctr"/>
                      <a:r>
                        <a:rPr lang="en-US" sz="1600" dirty="0"/>
                        <a:t>Reversible </a:t>
                      </a:r>
                    </a:p>
                  </a:txBody>
                  <a:tcPr marL="68580" marR="68580" marT="34290" marB="3429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75495956"/>
                  </a:ext>
                </a:extLst>
              </a:tr>
              <a:tr h="540445">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US" sz="1600" b="1" dirty="0">
                          <a:solidFill>
                            <a:srgbClr val="FFFFFF"/>
                          </a:solidFill>
                          <a:latin typeface="+mn-lt"/>
                        </a:rPr>
                        <a:t>CYP450 metabolism*</a:t>
                      </a:r>
                    </a:p>
                  </a:txBody>
                  <a:tcPr marL="182880" marR="68580" marT="34290" marB="34290" anchor="ctr">
                    <a:lnL w="12700" cap="flat" cmpd="sng" algn="ctr">
                      <a:solidFill>
                        <a:schemeClr val="tx1">
                          <a:lumMod val="50000"/>
                          <a:lumOff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696969"/>
                    </a:solidFill>
                  </a:tcPr>
                </a:tc>
                <a:tc gridSpan="3">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lvl="0" algn="ctr">
                        <a:buNone/>
                      </a:pPr>
                      <a:r>
                        <a:rPr lang="en-US" sz="1600" dirty="0">
                          <a:latin typeface="+mn-lt"/>
                        </a:rPr>
                        <a:t>Yes</a:t>
                      </a:r>
                    </a:p>
                  </a:txBody>
                  <a:tcPr marL="68580" marR="68580" marT="34290" marB="3429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a:p>
                  </a:txBody>
                  <a:tcPr marL="68580" marR="68580" marT="34290" marB="34290" anchor="ctr"/>
                </a:tc>
                <a:tc hMerge="1">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a:p>
                  </a:txBody>
                  <a:tcPr marL="68580" marR="68580" marT="34290" marB="3429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US" sz="1600" b="1" dirty="0">
                          <a:solidFill>
                            <a:srgbClr val="FFFFFF"/>
                          </a:solidFill>
                          <a:latin typeface="+mn-lt"/>
                        </a:rPr>
                        <a:t>Prodrug*</a:t>
                      </a:r>
                    </a:p>
                  </a:txBody>
                  <a:tcPr marL="182880" marR="68580" marT="34290" marB="34290" anchor="ctr">
                    <a:lnL w="12700" cap="flat" cmpd="sng" algn="ctr">
                      <a:solidFill>
                        <a:schemeClr val="tx1">
                          <a:lumMod val="50000"/>
                          <a:lumOff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tx1">
                        <a:lumMod val="65000"/>
                        <a:lumOff val="35000"/>
                      </a:schemeClr>
                    </a:solidFill>
                  </a:tcPr>
                </a:tc>
                <a:tc gridSpan="2">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600" b="0" dirty="0">
                          <a:solidFill>
                            <a:schemeClr val="tx1"/>
                          </a:solidFill>
                          <a:latin typeface="+mn-lt"/>
                        </a:rPr>
                        <a:t>Yes</a:t>
                      </a:r>
                      <a:endParaRPr lang="en-US" sz="1600" dirty="0">
                        <a:latin typeface="+mn-lt"/>
                      </a:endParaRPr>
                    </a:p>
                  </a:txBody>
                  <a:tcPr marL="68580" marR="68580" marT="34290" marB="3429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600" dirty="0">
                          <a:latin typeface="+mn-lt"/>
                        </a:rPr>
                        <a:t>No</a:t>
                      </a:r>
                    </a:p>
                  </a:txBody>
                  <a:tcPr marL="68580" marR="68580" marT="34290" marB="3429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r h="552188">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US" sz="1600" b="1" dirty="0">
                          <a:solidFill>
                            <a:srgbClr val="FFFFFF"/>
                          </a:solidFill>
                          <a:latin typeface="+mn-lt"/>
                        </a:rPr>
                        <a:t>PD effect dependent </a:t>
                      </a:r>
                      <a:br>
                        <a:rPr lang="en-US" sz="1600" b="1" dirty="0">
                          <a:solidFill>
                            <a:srgbClr val="FFFFFF"/>
                          </a:solidFill>
                          <a:latin typeface="+mn-lt"/>
                        </a:rPr>
                      </a:br>
                      <a:r>
                        <a:rPr lang="en-US" sz="1600" b="1" dirty="0">
                          <a:solidFill>
                            <a:srgbClr val="FFFFFF"/>
                          </a:solidFill>
                          <a:latin typeface="+mn-lt"/>
                        </a:rPr>
                        <a:t>on 2C19</a:t>
                      </a:r>
                      <a:r>
                        <a:rPr lang="en-US" sz="1600" b="1" baseline="0" dirty="0">
                          <a:solidFill>
                            <a:srgbClr val="FFFFFF"/>
                          </a:solidFill>
                          <a:latin typeface="+mn-lt"/>
                        </a:rPr>
                        <a:t> genotype*</a:t>
                      </a:r>
                      <a:endParaRPr lang="en-US" sz="1600" b="1" dirty="0">
                        <a:solidFill>
                          <a:srgbClr val="FFFFFF"/>
                        </a:solidFill>
                        <a:latin typeface="+mn-lt"/>
                      </a:endParaRPr>
                    </a:p>
                  </a:txBody>
                  <a:tcPr marL="182880" marR="68580" marT="34290" marB="34290" anchor="ctr">
                    <a:lnL w="12700" cap="flat" cmpd="sng" algn="ctr">
                      <a:solidFill>
                        <a:schemeClr val="tx1">
                          <a:lumMod val="50000"/>
                          <a:lumOff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696969"/>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600" b="0" dirty="0">
                          <a:solidFill>
                            <a:schemeClr val="tx1"/>
                          </a:solidFill>
                          <a:latin typeface="+mn-lt"/>
                        </a:rPr>
                        <a:t>Yes* </a:t>
                      </a:r>
                    </a:p>
                  </a:txBody>
                  <a:tcPr marL="68580" marR="68580" marT="34290" marB="3429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600" dirty="0">
                          <a:latin typeface="+mn-lt"/>
                        </a:rPr>
                        <a:t>No</a:t>
                      </a:r>
                      <a:endParaRPr lang="en-US" sz="1600" b="1" dirty="0">
                        <a:solidFill>
                          <a:schemeClr val="tx1"/>
                        </a:solidFill>
                        <a:latin typeface="+mn-lt"/>
                      </a:endParaRPr>
                    </a:p>
                  </a:txBody>
                  <a:tcPr marL="68580" marR="68580" marT="34290" marB="3429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endParaRPr lang="en-US" sz="1600" b="1" dirty="0">
                        <a:solidFill>
                          <a:schemeClr val="tx1"/>
                        </a:solidFill>
                        <a:latin typeface="+mn-lt"/>
                      </a:endParaRPr>
                    </a:p>
                  </a:txBody>
                  <a:tcPr marL="68580" marR="68580" marT="34290" marB="34290" anchor="ctr"/>
                </a:tc>
                <a:extLst>
                  <a:ext uri="{0D108BD9-81ED-4DB2-BD59-A6C34878D82A}">
                    <a16:rowId xmlns:a16="http://schemas.microsoft.com/office/drawing/2014/main" val="10005"/>
                  </a:ext>
                </a:extLst>
              </a:tr>
              <a:tr h="523656">
                <a:tc>
                  <a:txBody>
                    <a:bodyPr/>
                    <a:lstStyle/>
                    <a:p>
                      <a:pPr algn="l"/>
                      <a:r>
                        <a:rPr lang="en-US" sz="1600" b="1" dirty="0">
                          <a:solidFill>
                            <a:srgbClr val="FFFFFF"/>
                          </a:solidFill>
                          <a:latin typeface="+mn-lt"/>
                        </a:rPr>
                        <a:t>Onset of Effect</a:t>
                      </a:r>
                      <a:r>
                        <a:rPr lang="en-US" sz="1600" b="1" baseline="30000" dirty="0">
                          <a:solidFill>
                            <a:srgbClr val="FFFFFF"/>
                          </a:solidFill>
                          <a:latin typeface="+mn-lt"/>
                        </a:rPr>
                        <a:t>#</a:t>
                      </a:r>
                    </a:p>
                  </a:txBody>
                  <a:tcPr marL="182880" marR="68580" marT="34290" marB="34290" anchor="ctr">
                    <a:lnL w="12700" cap="flat" cmpd="sng" algn="ctr">
                      <a:solidFill>
                        <a:schemeClr val="tx1">
                          <a:lumMod val="50000"/>
                          <a:lumOff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1600" dirty="0">
                          <a:latin typeface="+mn-lt"/>
                        </a:rPr>
                        <a:t>Long (2-6 hours)</a:t>
                      </a:r>
                      <a:endParaRPr lang="en-US" sz="1600" b="1" dirty="0">
                        <a:solidFill>
                          <a:schemeClr val="tx1"/>
                        </a:solidFill>
                        <a:latin typeface="+mn-lt"/>
                      </a:endParaRPr>
                    </a:p>
                  </a:txBody>
                  <a:tcPr marL="68580" marR="68580" marT="34290" marB="3429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2">
                  <a:txBody>
                    <a:bodyPr/>
                    <a:lstStyle/>
                    <a:p>
                      <a:pPr algn="ctr"/>
                      <a:r>
                        <a:rPr lang="en-US" sz="1600" dirty="0">
                          <a:latin typeface="+mn-lt"/>
                        </a:rPr>
                        <a:t>Intermediate (30 min- 4 hours)</a:t>
                      </a:r>
                      <a:endParaRPr lang="en-US" sz="1600" b="1" dirty="0">
                        <a:solidFill>
                          <a:schemeClr val="tx1"/>
                        </a:solidFill>
                        <a:latin typeface="+mn-lt"/>
                      </a:endParaRPr>
                    </a:p>
                  </a:txBody>
                  <a:tcPr marL="68580" marR="68580" marT="34290" marB="3429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dirty="0"/>
                    </a:p>
                  </a:txBody>
                  <a:tcPr marL="68580" marR="68580" marT="34290" marB="34290" anchor="ctr"/>
                </a:tc>
                <a:extLst>
                  <a:ext uri="{0D108BD9-81ED-4DB2-BD59-A6C34878D82A}">
                    <a16:rowId xmlns:a16="http://schemas.microsoft.com/office/drawing/2014/main" val="10006"/>
                  </a:ext>
                </a:extLst>
              </a:tr>
              <a:tr h="546929">
                <a:tc>
                  <a:txBody>
                    <a:bodyPr/>
                    <a:lstStyle/>
                    <a:p>
                      <a:pPr algn="l"/>
                      <a:r>
                        <a:rPr lang="en-US" sz="1600" b="1" dirty="0">
                          <a:solidFill>
                            <a:srgbClr val="FFFFFF"/>
                          </a:solidFill>
                          <a:latin typeface="+mn-lt"/>
                        </a:rPr>
                        <a:t>Duration of Effect</a:t>
                      </a:r>
                      <a:r>
                        <a:rPr lang="en-US" sz="1600" b="1" baseline="30000" dirty="0">
                          <a:solidFill>
                            <a:srgbClr val="FFFFFF"/>
                          </a:solidFill>
                          <a:latin typeface="+mn-lt"/>
                        </a:rPr>
                        <a:t>#</a:t>
                      </a:r>
                      <a:endParaRPr lang="en-US" sz="1600" b="1" dirty="0">
                        <a:solidFill>
                          <a:srgbClr val="FFFFFF"/>
                        </a:solidFill>
                        <a:latin typeface="+mn-lt"/>
                      </a:endParaRPr>
                    </a:p>
                  </a:txBody>
                  <a:tcPr marL="182880" marR="68580" marT="34290" marB="34290" anchor="ctr">
                    <a:lnL w="12700" cap="flat" cmpd="sng" algn="ctr">
                      <a:solidFill>
                        <a:schemeClr val="tx1">
                          <a:lumMod val="50000"/>
                          <a:lumOff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12700" cmpd="sng">
                      <a:noFill/>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696969"/>
                    </a:solidFill>
                  </a:tcPr>
                </a:tc>
                <a:tc gridSpan="2">
                  <a:txBody>
                    <a:bodyPr/>
                    <a:lstStyle/>
                    <a:p>
                      <a:pPr lvl="0" algn="ctr">
                        <a:buNone/>
                      </a:pPr>
                      <a:r>
                        <a:rPr lang="en-US" sz="1600" dirty="0">
                          <a:latin typeface="+mn-lt"/>
                        </a:rPr>
                        <a:t>Long (up to 10 days)</a:t>
                      </a:r>
                    </a:p>
                  </a:txBody>
                  <a:tcPr marL="68580" marR="68580" marT="34290" marB="3429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p>
                  </a:txBody>
                  <a:tcPr marL="68580" marR="68580" marT="34290" marB="34290" anchor="ctr"/>
                </a:tc>
                <a:tc>
                  <a:txBody>
                    <a:bodyPr/>
                    <a:lstStyle/>
                    <a:p>
                      <a:pPr algn="ctr"/>
                      <a:r>
                        <a:rPr lang="en-US" sz="1600" dirty="0">
                          <a:latin typeface="+mn-lt"/>
                        </a:rPr>
                        <a:t>Intermediate (3-4 days)</a:t>
                      </a:r>
                      <a:endParaRPr lang="en-US" sz="1600" b="1" dirty="0">
                        <a:solidFill>
                          <a:schemeClr val="tx1"/>
                        </a:solidFill>
                        <a:latin typeface="+mn-lt"/>
                      </a:endParaRPr>
                    </a:p>
                  </a:txBody>
                  <a:tcPr marL="68580" marR="68580" marT="34290" marB="3429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7"/>
                  </a:ext>
                </a:extLst>
              </a:tr>
            </a:tbl>
          </a:graphicData>
        </a:graphic>
      </p:graphicFrame>
      <p:grpSp>
        <p:nvGrpSpPr>
          <p:cNvPr id="3" name="Group 2">
            <a:extLst>
              <a:ext uri="{FF2B5EF4-FFF2-40B4-BE49-F238E27FC236}">
                <a16:creationId xmlns:a16="http://schemas.microsoft.com/office/drawing/2014/main" id="{0DDD36D4-CB21-3B0A-9BC3-DBC04A3E3D66}"/>
              </a:ext>
            </a:extLst>
          </p:cNvPr>
          <p:cNvGrpSpPr/>
          <p:nvPr/>
        </p:nvGrpSpPr>
        <p:grpSpPr>
          <a:xfrm>
            <a:off x="1028700" y="4924908"/>
            <a:ext cx="11163300" cy="1252675"/>
            <a:chOff x="-1659463" y="989131"/>
            <a:chExt cx="13795105" cy="887323"/>
          </a:xfrm>
        </p:grpSpPr>
        <p:sp>
          <p:nvSpPr>
            <p:cNvPr id="6" name="Rectangle: Rounded Corners 5">
              <a:extLst>
                <a:ext uri="{FF2B5EF4-FFF2-40B4-BE49-F238E27FC236}">
                  <a16:creationId xmlns:a16="http://schemas.microsoft.com/office/drawing/2014/main" id="{5993B264-5626-04CE-272C-BD5358CA5F1B}"/>
                </a:ext>
              </a:extLst>
            </p:cNvPr>
            <p:cNvSpPr/>
            <p:nvPr/>
          </p:nvSpPr>
          <p:spPr bwMode="auto">
            <a:xfrm>
              <a:off x="-1659463" y="989131"/>
              <a:ext cx="13368070" cy="692143"/>
            </a:xfrm>
            <a:prstGeom prst="roundRect">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ts val="19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eorgia" pitchFamily="-111" charset="0"/>
                <a:ea typeface="Osaka" pitchFamily="-111" charset="-128"/>
                <a:cs typeface="Osaka" pitchFamily="-111" charset="-128"/>
              </a:endParaRPr>
            </a:p>
          </p:txBody>
        </p:sp>
        <p:sp>
          <p:nvSpPr>
            <p:cNvPr id="8" name="TextBox 7">
              <a:extLst>
                <a:ext uri="{FF2B5EF4-FFF2-40B4-BE49-F238E27FC236}">
                  <a16:creationId xmlns:a16="http://schemas.microsoft.com/office/drawing/2014/main" id="{D74BA06E-A0B4-7ABB-026B-9147F5819974}"/>
                </a:ext>
              </a:extLst>
            </p:cNvPr>
            <p:cNvSpPr txBox="1"/>
            <p:nvPr/>
          </p:nvSpPr>
          <p:spPr>
            <a:xfrm>
              <a:off x="-1510231" y="1048011"/>
              <a:ext cx="13645873" cy="828443"/>
            </a:xfrm>
            <a:prstGeom prst="rect">
              <a:avLst/>
            </a:prstGeom>
            <a:noFill/>
            <a:ln>
              <a:noFill/>
            </a:ln>
          </p:spPr>
          <p:txBody>
            <a:bodyPr wrap="square" numCol="2" spcCol="457200">
              <a:spAutoFit/>
            </a:bodyPr>
            <a:lstStyle/>
            <a:p>
              <a:pPr marL="225425" indent="-225425">
                <a:lnSpc>
                  <a:spcPts val="2800"/>
                </a:lnSpc>
                <a:tabLst>
                  <a:tab pos="225425" algn="l"/>
                </a:tabLst>
              </a:pPr>
              <a:r>
                <a:rPr lang="en-US" sz="2000" b="1" dirty="0">
                  <a:solidFill>
                    <a:srgbClr val="FFFFFF"/>
                  </a:solidFill>
                </a:rPr>
                <a:t>*	Revisit Foundation of Pharmacology, M1</a:t>
              </a:r>
              <a:br>
                <a:rPr lang="en-US" sz="2000" dirty="0">
                  <a:solidFill>
                    <a:srgbClr val="FFFFFF"/>
                  </a:solidFill>
                </a:rPr>
              </a:br>
              <a:endParaRPr lang="en-US" sz="2000" dirty="0">
                <a:solidFill>
                  <a:srgbClr val="FFFFFF"/>
                </a:solidFill>
              </a:endParaRPr>
            </a:p>
            <a:p>
              <a:pPr marL="225425" indent="-225425">
                <a:lnSpc>
                  <a:spcPts val="2800"/>
                </a:lnSpc>
                <a:tabLst>
                  <a:tab pos="225425" algn="l"/>
                </a:tabLst>
              </a:pPr>
              <a:endParaRPr lang="en-US" sz="2000" dirty="0">
                <a:solidFill>
                  <a:srgbClr val="FFFFFF"/>
                </a:solidFill>
              </a:endParaRPr>
            </a:p>
            <a:p>
              <a:pPr marL="225425" indent="-225425">
                <a:lnSpc>
                  <a:spcPts val="2800"/>
                </a:lnSpc>
                <a:tabLst>
                  <a:tab pos="225425" algn="l"/>
                </a:tabLst>
              </a:pPr>
              <a:r>
                <a:rPr lang="en-US" sz="2000" dirty="0">
                  <a:solidFill>
                    <a:srgbClr val="FFFFFF"/>
                  </a:solidFill>
                </a:rPr>
                <a:t>#	Do not need to memorize </a:t>
              </a:r>
              <a:br>
                <a:rPr lang="en-US" sz="2000" dirty="0">
                  <a:solidFill>
                    <a:srgbClr val="FFFFFF"/>
                  </a:solidFill>
                </a:rPr>
              </a:br>
              <a:r>
                <a:rPr lang="en-US" sz="2000" dirty="0">
                  <a:solidFill>
                    <a:srgbClr val="FFFFFF"/>
                  </a:solidFill>
                </a:rPr>
                <a:t>specific numbers</a:t>
              </a:r>
            </a:p>
          </p:txBody>
        </p:sp>
      </p:grpSp>
      <p:sp>
        <p:nvSpPr>
          <p:cNvPr id="5" name="Rectangle 4">
            <a:extLst>
              <a:ext uri="{FF2B5EF4-FFF2-40B4-BE49-F238E27FC236}">
                <a16:creationId xmlns:a16="http://schemas.microsoft.com/office/drawing/2014/main" id="{8B5B6A87-62AE-D368-0058-CA580F00A42A}"/>
              </a:ext>
            </a:extLst>
          </p:cNvPr>
          <p:cNvSpPr/>
          <p:nvPr/>
        </p:nvSpPr>
        <p:spPr bwMode="auto">
          <a:xfrm>
            <a:off x="1028700" y="1714500"/>
            <a:ext cx="2705100" cy="2994238"/>
          </a:xfrm>
          <a:prstGeom prst="rect">
            <a:avLst/>
          </a:prstGeom>
          <a:noFill/>
          <a:ln w="603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Tree>
    <p:extLst>
      <p:ext uri="{BB962C8B-B14F-4D97-AF65-F5344CB8AC3E}">
        <p14:creationId xmlns:p14="http://schemas.microsoft.com/office/powerpoint/2010/main" val="20588662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23924" y="251732"/>
            <a:ext cx="10389241" cy="576943"/>
          </a:xfrm>
        </p:spPr>
        <p:txBody>
          <a:bodyPr/>
          <a:lstStyle/>
          <a:p>
            <a:r>
              <a:rPr lang="en-US" sz="3000" dirty="0"/>
              <a:t>P2Y12 Receptor Inhibitors: </a:t>
            </a:r>
            <a:r>
              <a:rPr lang="en-US" sz="3000" dirty="0" err="1"/>
              <a:t>Clopidogrel</a:t>
            </a:r>
            <a:r>
              <a:rPr lang="en-US" sz="3000" dirty="0"/>
              <a:t> &amp; Prasugrel</a:t>
            </a:r>
          </a:p>
        </p:txBody>
      </p:sp>
      <p:sp>
        <p:nvSpPr>
          <p:cNvPr id="11" name="Content Placeholder 6"/>
          <p:cNvSpPr txBox="1">
            <a:spLocks/>
          </p:cNvSpPr>
          <p:nvPr/>
        </p:nvSpPr>
        <p:spPr bwMode="auto">
          <a:xfrm>
            <a:off x="5259580" y="3602437"/>
            <a:ext cx="6851555" cy="2625325"/>
          </a:xfrm>
          <a:prstGeom prst="rect">
            <a:avLst/>
          </a:prstGeom>
          <a:solidFill>
            <a:srgbClr val="FFFFFF"/>
          </a:solidFill>
          <a:ln>
            <a:noFill/>
          </a:ln>
        </p:spPr>
        <p:txBody>
          <a:bodyPr vert="horz" wrap="square" lIns="91440" tIns="45720" rIns="91440" bIns="45720" numCol="1" anchor="t" anchorCtr="0" compatLnSpc="1">
            <a:prstTxWarp prst="textNoShape">
              <a:avLst/>
            </a:prstTxWarp>
          </a:bodyPr>
          <a:lstStyle>
            <a:lvl1pPr marL="347638" indent="-347638" algn="l" rtl="0" eaLnBrk="1" fontAlgn="base" hangingPunct="1">
              <a:spcBef>
                <a:spcPts val="1000"/>
              </a:spcBef>
              <a:spcAft>
                <a:spcPct val="0"/>
              </a:spcAft>
              <a:buClr>
                <a:schemeClr val="accent1"/>
              </a:buClr>
              <a:buSzPct val="150000"/>
              <a:buFont typeface="Times" panose="02020603050405020304" pitchFamily="18" charset="0"/>
              <a:buChar char="•"/>
              <a:defRPr sz="2800">
                <a:solidFill>
                  <a:srgbClr val="131313"/>
                </a:solidFill>
                <a:latin typeface="+mn-lt"/>
                <a:ea typeface="+mn-ea"/>
                <a:cs typeface="+mn-cs"/>
              </a:defRPr>
            </a:lvl1pPr>
            <a:lvl2pPr marL="685750" indent="-338114" algn="l" rtl="0" eaLnBrk="1" fontAlgn="base" hangingPunct="1">
              <a:spcBef>
                <a:spcPts val="1000"/>
              </a:spcBef>
              <a:spcAft>
                <a:spcPct val="0"/>
              </a:spcAft>
              <a:buClr>
                <a:schemeClr val="accent1"/>
              </a:buClr>
              <a:buSzPct val="70000"/>
              <a:buFont typeface="Wingdings" panose="05000000000000000000" pitchFamily="2" charset="2"/>
              <a:buChar char=""/>
              <a:defRPr sz="2400">
                <a:solidFill>
                  <a:srgbClr val="131313"/>
                </a:solidFill>
                <a:latin typeface="+mn-lt"/>
                <a:ea typeface="+mn-ea"/>
                <a:cs typeface="+mn-cs"/>
              </a:defRPr>
            </a:lvl2pPr>
            <a:lvl3pPr marL="1033385" indent="-338114" algn="l" rtl="0" eaLnBrk="1" fontAlgn="base" hangingPunct="1">
              <a:spcBef>
                <a:spcPts val="1000"/>
              </a:spcBef>
              <a:spcAft>
                <a:spcPct val="0"/>
              </a:spcAft>
              <a:buClr>
                <a:schemeClr val="accent1"/>
              </a:buClr>
              <a:buSzPct val="110000"/>
              <a:buFont typeface="Courier New" panose="02070309020205020404" pitchFamily="49" charset="0"/>
              <a:buChar char="o"/>
              <a:defRPr sz="2200">
                <a:solidFill>
                  <a:srgbClr val="131313"/>
                </a:solidFill>
                <a:latin typeface="+mn-lt"/>
                <a:ea typeface="+mn-ea"/>
                <a:cs typeface="+mn-cs"/>
              </a:defRPr>
            </a:lvl3pPr>
            <a:lvl4pPr marL="1371498" indent="-338114" algn="l" rtl="0" eaLnBrk="1" fontAlgn="base" hangingPunct="1">
              <a:spcBef>
                <a:spcPts val="1000"/>
              </a:spcBef>
              <a:spcAft>
                <a:spcPct val="0"/>
              </a:spcAft>
              <a:buClr>
                <a:schemeClr val="accent1"/>
              </a:buClr>
              <a:buSzPct val="75000"/>
              <a:buFont typeface="Wingdings" panose="05000000000000000000" pitchFamily="2" charset="2"/>
              <a:buChar char="¨"/>
              <a:defRPr sz="2000">
                <a:solidFill>
                  <a:srgbClr val="131313"/>
                </a:solidFill>
                <a:latin typeface="+mn-lt"/>
                <a:ea typeface="+mn-ea"/>
                <a:cs typeface="+mn-cs"/>
              </a:defRPr>
            </a:lvl4pPr>
            <a:lvl5pPr marL="2057247" indent="-228584" algn="l" rtl="0" eaLnBrk="1" fontAlgn="base" hangingPunct="1">
              <a:spcBef>
                <a:spcPts val="1000"/>
              </a:spcBef>
              <a:spcAft>
                <a:spcPct val="0"/>
              </a:spcAft>
              <a:buFont typeface="Times" panose="02020603050405020304" pitchFamily="18" charset="0"/>
              <a:buChar char="•"/>
              <a:defRPr>
                <a:solidFill>
                  <a:srgbClr val="131313"/>
                </a:solidFill>
                <a:latin typeface="+mn-lt"/>
                <a:ea typeface="+mn-ea"/>
                <a:cs typeface="+mn-cs"/>
              </a:defRPr>
            </a:lvl5pPr>
            <a:lvl6pPr marL="2514412"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6pPr>
            <a:lvl7pPr marL="2971578"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7pPr>
            <a:lvl8pPr marL="3428744"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8pPr>
            <a:lvl9pPr marL="3885910"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9pPr>
          </a:lstStyle>
          <a:p>
            <a:pPr marL="171450" indent="-171450">
              <a:spcBef>
                <a:spcPts val="1200"/>
              </a:spcBef>
              <a:buClr>
                <a:schemeClr val="tx2"/>
              </a:buClr>
              <a:buSzPct val="100000"/>
            </a:pPr>
            <a:r>
              <a:rPr lang="en-US" sz="2000" kern="0" dirty="0">
                <a:solidFill>
                  <a:schemeClr val="tx1"/>
                </a:solidFill>
              </a:rPr>
              <a:t>Noncompetitive, </a:t>
            </a:r>
            <a:r>
              <a:rPr lang="en-US" sz="2000" b="1" kern="0" dirty="0">
                <a:solidFill>
                  <a:schemeClr val="tx2"/>
                </a:solidFill>
              </a:rPr>
              <a:t>irreversible binding </a:t>
            </a:r>
            <a:r>
              <a:rPr lang="en-US" sz="2000" kern="0" dirty="0"/>
              <a:t>to the P2Y</a:t>
            </a:r>
            <a:r>
              <a:rPr lang="en-US" sz="2000" kern="0" baseline="-25000" dirty="0"/>
              <a:t>12</a:t>
            </a:r>
            <a:r>
              <a:rPr lang="en-US" sz="2000" kern="0" dirty="0"/>
              <a:t> receptor; </a:t>
            </a:r>
            <a:br>
              <a:rPr lang="en-US" sz="2000" kern="0" dirty="0"/>
            </a:br>
            <a:r>
              <a:rPr lang="en-US" sz="2000" kern="0" dirty="0"/>
              <a:t>inhibiting ADP binding</a:t>
            </a:r>
          </a:p>
          <a:p>
            <a:pPr marL="171450" indent="-171450">
              <a:spcBef>
                <a:spcPts val="1200"/>
              </a:spcBef>
              <a:buClr>
                <a:schemeClr val="tx2"/>
              </a:buClr>
              <a:buSzPct val="100000"/>
              <a:buFont typeface="Arial" panose="020B0604020202020204" pitchFamily="34" charset="0"/>
              <a:buChar char="•"/>
            </a:pPr>
            <a:r>
              <a:rPr lang="en-US" sz="2000" b="1" dirty="0"/>
              <a:t>Prodrugs</a:t>
            </a:r>
            <a:r>
              <a:rPr lang="en-US" sz="2000" dirty="0"/>
              <a:t>: must be metabolized to active forms in the liver. Active metabolites form a </a:t>
            </a:r>
            <a:r>
              <a:rPr lang="en-US" sz="2000" b="1" dirty="0"/>
              <a:t>covalent bond</a:t>
            </a:r>
            <a:r>
              <a:rPr lang="en-US" sz="2000" dirty="0"/>
              <a:t> with the P2Y₁₂ receptor on platelets</a:t>
            </a:r>
          </a:p>
          <a:p>
            <a:pPr marL="171450" indent="-171450">
              <a:spcBef>
                <a:spcPts val="1200"/>
              </a:spcBef>
              <a:buClr>
                <a:schemeClr val="tx2"/>
              </a:buClr>
              <a:buSzPct val="100000"/>
              <a:buFont typeface="Arial" panose="020B0604020202020204" pitchFamily="34" charset="0"/>
              <a:buChar char="•"/>
            </a:pPr>
            <a:r>
              <a:rPr lang="en-US" sz="2000" b="1" dirty="0"/>
              <a:t>Permanent inactivation</a:t>
            </a:r>
            <a:r>
              <a:rPr lang="en-US" sz="2000" dirty="0"/>
              <a:t> of the receptor for the life of the platelet (~7–10 days)</a:t>
            </a:r>
            <a:endParaRPr lang="en-US" sz="2000" kern="0" dirty="0"/>
          </a:p>
        </p:txBody>
      </p:sp>
      <p:pic>
        <p:nvPicPr>
          <p:cNvPr id="13" name="Main graphic"/>
          <p:cNvPicPr/>
          <p:nvPr/>
        </p:nvPicPr>
        <p:blipFill rotWithShape="1">
          <a:blip r:embed="rId3"/>
          <a:srcRect l="2589" r="1606" b="50060"/>
          <a:stretch/>
        </p:blipFill>
        <p:spPr>
          <a:xfrm>
            <a:off x="961900" y="1066139"/>
            <a:ext cx="7368302" cy="2382567"/>
          </a:xfrm>
          <a:prstGeom prst="rect">
            <a:avLst/>
          </a:prstGeom>
          <a:ln>
            <a:noFill/>
          </a:ln>
        </p:spPr>
      </p:pic>
      <p:grpSp>
        <p:nvGrpSpPr>
          <p:cNvPr id="9" name="Group 8">
            <a:extLst>
              <a:ext uri="{FF2B5EF4-FFF2-40B4-BE49-F238E27FC236}">
                <a16:creationId xmlns:a16="http://schemas.microsoft.com/office/drawing/2014/main" id="{99C5DF28-8D46-7760-3D95-943D750ACB93}"/>
              </a:ext>
            </a:extLst>
          </p:cNvPr>
          <p:cNvGrpSpPr/>
          <p:nvPr/>
        </p:nvGrpSpPr>
        <p:grpSpPr>
          <a:xfrm>
            <a:off x="961900" y="3487913"/>
            <a:ext cx="4297680" cy="2485247"/>
            <a:chOff x="1827275" y="3429000"/>
            <a:chExt cx="4297680" cy="2485247"/>
          </a:xfrm>
        </p:grpSpPr>
        <p:pic>
          <p:nvPicPr>
            <p:cNvPr id="10" name="Main graphic"/>
            <p:cNvPicPr/>
            <p:nvPr/>
          </p:nvPicPr>
          <p:blipFill rotWithShape="1">
            <a:blip r:embed="rId3"/>
            <a:srcRect l="2589" t="49154" r="49662"/>
            <a:stretch/>
          </p:blipFill>
          <p:spPr>
            <a:xfrm>
              <a:off x="1827275" y="3429000"/>
              <a:ext cx="4297680" cy="2485247"/>
            </a:xfrm>
            <a:prstGeom prst="rect">
              <a:avLst/>
            </a:prstGeom>
            <a:ln>
              <a:noFill/>
            </a:ln>
          </p:spPr>
        </p:pic>
        <p:sp>
          <p:nvSpPr>
            <p:cNvPr id="14" name="Rectangle 13"/>
            <p:cNvSpPr/>
            <p:nvPr/>
          </p:nvSpPr>
          <p:spPr bwMode="auto">
            <a:xfrm>
              <a:off x="1940216" y="3767237"/>
              <a:ext cx="1229360" cy="336254"/>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FFFFFF"/>
                  </a:solidFill>
                  <a:effectLst/>
                  <a:latin typeface="+mj-lt"/>
                  <a:ea typeface="Osaka" pitchFamily="-111" charset="-128"/>
                  <a:cs typeface="Arial" panose="020B0604020202020204" pitchFamily="34" charset="0"/>
                </a:rPr>
                <a:t>Prasugrel</a:t>
              </a:r>
            </a:p>
          </p:txBody>
        </p:sp>
      </p:grpSp>
      <p:sp>
        <p:nvSpPr>
          <p:cNvPr id="19" name="TextBox 18"/>
          <p:cNvSpPr txBox="1"/>
          <p:nvPr/>
        </p:nvSpPr>
        <p:spPr>
          <a:xfrm>
            <a:off x="8375593" y="1514761"/>
            <a:ext cx="3578282" cy="1015663"/>
          </a:xfrm>
          <a:prstGeom prst="rect">
            <a:avLst/>
          </a:prstGeom>
          <a:noFill/>
        </p:spPr>
        <p:txBody>
          <a:bodyPr wrap="square" rtlCol="0">
            <a:spAutoFit/>
          </a:bodyPr>
          <a:lstStyle/>
          <a:p>
            <a:pPr>
              <a:buClr>
                <a:schemeClr val="accent1"/>
              </a:buClr>
              <a:buSzPct val="150000"/>
            </a:pPr>
            <a:r>
              <a:rPr lang="en-US" sz="2000" dirty="0"/>
              <a:t>ADP binds to the P2Y</a:t>
            </a:r>
            <a:r>
              <a:rPr lang="en-US" sz="2000" baseline="-25000" dirty="0"/>
              <a:t>12</a:t>
            </a:r>
            <a:r>
              <a:rPr lang="en-US" sz="2000" dirty="0"/>
              <a:t> receptor, resulting in conformational change and G-protein activation</a:t>
            </a:r>
          </a:p>
        </p:txBody>
      </p:sp>
      <p:sp>
        <p:nvSpPr>
          <p:cNvPr id="8" name="Rectangle 7">
            <a:extLst>
              <a:ext uri="{FF2B5EF4-FFF2-40B4-BE49-F238E27FC236}">
                <a16:creationId xmlns:a16="http://schemas.microsoft.com/office/drawing/2014/main" id="{CC619D30-8AC1-A699-F462-0B0C33196A8F}"/>
              </a:ext>
            </a:extLst>
          </p:cNvPr>
          <p:cNvSpPr/>
          <p:nvPr/>
        </p:nvSpPr>
        <p:spPr>
          <a:xfrm>
            <a:off x="9557260" y="5766097"/>
            <a:ext cx="2782395" cy="461665"/>
          </a:xfrm>
          <a:prstGeom prst="rect">
            <a:avLst/>
          </a:prstGeom>
        </p:spPr>
        <p:txBody>
          <a:bodyPr wrap="square">
            <a:spAutoFit/>
          </a:bodyPr>
          <a:lstStyle/>
          <a:p>
            <a:r>
              <a:rPr lang="en-US" sz="800" spc="-1" dirty="0"/>
              <a:t>Source: Cardiovascular Therapeutics, Volume: 27, Issue: 4, Pages: 259-274, First published: 09 November 2009, DOI: (10.1111/j.1755-5922.2009.00096.x) </a:t>
            </a:r>
          </a:p>
        </p:txBody>
      </p:sp>
    </p:spTree>
    <p:extLst>
      <p:ext uri="{BB962C8B-B14F-4D97-AF65-F5344CB8AC3E}">
        <p14:creationId xmlns:p14="http://schemas.microsoft.com/office/powerpoint/2010/main" val="20076002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Main graphic"/>
          <p:cNvPicPr/>
          <p:nvPr/>
        </p:nvPicPr>
        <p:blipFill rotWithShape="1">
          <a:blip r:embed="rId3"/>
          <a:srcRect l="2589" r="1606" b="50060"/>
          <a:stretch/>
        </p:blipFill>
        <p:spPr>
          <a:xfrm>
            <a:off x="961900" y="1083876"/>
            <a:ext cx="7368302" cy="2382567"/>
          </a:xfrm>
          <a:prstGeom prst="rect">
            <a:avLst/>
          </a:prstGeom>
          <a:ln>
            <a:noFill/>
          </a:ln>
        </p:spPr>
      </p:pic>
      <p:sp>
        <p:nvSpPr>
          <p:cNvPr id="5" name="Title 4"/>
          <p:cNvSpPr>
            <a:spLocks noGrp="1"/>
          </p:cNvSpPr>
          <p:nvPr>
            <p:ph type="title"/>
          </p:nvPr>
        </p:nvSpPr>
        <p:spPr>
          <a:xfrm>
            <a:off x="914400" y="249071"/>
            <a:ext cx="10153650" cy="592710"/>
          </a:xfrm>
        </p:spPr>
        <p:txBody>
          <a:bodyPr/>
          <a:lstStyle/>
          <a:p>
            <a:r>
              <a:rPr lang="en-US" dirty="0"/>
              <a:t>P2Y12 Receptor Inhibitor: </a:t>
            </a:r>
            <a:r>
              <a:rPr lang="en-US" dirty="0" err="1"/>
              <a:t>Ticagrelor</a:t>
            </a:r>
            <a:endParaRPr lang="en-US" dirty="0"/>
          </a:p>
        </p:txBody>
      </p:sp>
      <p:pic>
        <p:nvPicPr>
          <p:cNvPr id="10" name="Main graphic"/>
          <p:cNvPicPr/>
          <p:nvPr/>
        </p:nvPicPr>
        <p:blipFill rotWithShape="1">
          <a:blip r:embed="rId3"/>
          <a:srcRect l="50213" t="49154" r="2160"/>
          <a:stretch/>
        </p:blipFill>
        <p:spPr>
          <a:xfrm>
            <a:off x="942850" y="3560718"/>
            <a:ext cx="4297679" cy="2485247"/>
          </a:xfrm>
          <a:prstGeom prst="rect">
            <a:avLst/>
          </a:prstGeom>
          <a:ln>
            <a:noFill/>
          </a:ln>
        </p:spPr>
      </p:pic>
      <p:sp>
        <p:nvSpPr>
          <p:cNvPr id="3" name="TextBox 2">
            <a:extLst>
              <a:ext uri="{FF2B5EF4-FFF2-40B4-BE49-F238E27FC236}">
                <a16:creationId xmlns:a16="http://schemas.microsoft.com/office/drawing/2014/main" id="{3A169BDD-9390-8A30-9DB2-CCC66E59B776}"/>
              </a:ext>
            </a:extLst>
          </p:cNvPr>
          <p:cNvSpPr txBox="1"/>
          <p:nvPr/>
        </p:nvSpPr>
        <p:spPr>
          <a:xfrm>
            <a:off x="8375592" y="1514761"/>
            <a:ext cx="3597047" cy="1015663"/>
          </a:xfrm>
          <a:prstGeom prst="rect">
            <a:avLst/>
          </a:prstGeom>
          <a:noFill/>
        </p:spPr>
        <p:txBody>
          <a:bodyPr wrap="square" rtlCol="0">
            <a:spAutoFit/>
          </a:bodyPr>
          <a:lstStyle/>
          <a:p>
            <a:r>
              <a:rPr lang="en-US" sz="2000" dirty="0"/>
              <a:t>ADP binds to the P2Y</a:t>
            </a:r>
            <a:r>
              <a:rPr lang="en-US" sz="2000" baseline="-25000" dirty="0"/>
              <a:t>12</a:t>
            </a:r>
            <a:r>
              <a:rPr lang="en-US" sz="2000" dirty="0"/>
              <a:t> receptor, resulting in conformational change and G-protein activation</a:t>
            </a:r>
          </a:p>
        </p:txBody>
      </p:sp>
      <p:sp>
        <p:nvSpPr>
          <p:cNvPr id="9" name="Content Placeholder 6">
            <a:extLst>
              <a:ext uri="{FF2B5EF4-FFF2-40B4-BE49-F238E27FC236}">
                <a16:creationId xmlns:a16="http://schemas.microsoft.com/office/drawing/2014/main" id="{CBB10EC8-E863-ECB4-1080-688472D44774}"/>
              </a:ext>
            </a:extLst>
          </p:cNvPr>
          <p:cNvSpPr txBox="1">
            <a:spLocks/>
          </p:cNvSpPr>
          <p:nvPr/>
        </p:nvSpPr>
        <p:spPr bwMode="auto">
          <a:xfrm>
            <a:off x="5146716" y="3613206"/>
            <a:ext cx="7045283" cy="2614557"/>
          </a:xfrm>
          <a:prstGeom prst="rect">
            <a:avLst/>
          </a:prstGeom>
          <a:solidFill>
            <a:srgbClr val="FFFFFF"/>
          </a:solidFill>
          <a:ln>
            <a:noFill/>
          </a:ln>
        </p:spPr>
        <p:txBody>
          <a:bodyPr vert="horz" wrap="square" lIns="91440" tIns="45720" rIns="91440" bIns="45720" numCol="1" anchor="t" anchorCtr="0" compatLnSpc="1">
            <a:prstTxWarp prst="textNoShape">
              <a:avLst/>
            </a:prstTxWarp>
          </a:bodyPr>
          <a:lstStyle>
            <a:lvl1pPr marL="347638" indent="-347638" algn="l" rtl="0" eaLnBrk="1" fontAlgn="base" hangingPunct="1">
              <a:spcBef>
                <a:spcPts val="1000"/>
              </a:spcBef>
              <a:spcAft>
                <a:spcPct val="0"/>
              </a:spcAft>
              <a:buClr>
                <a:schemeClr val="accent1"/>
              </a:buClr>
              <a:buSzPct val="150000"/>
              <a:buFont typeface="Times" panose="02020603050405020304" pitchFamily="18" charset="0"/>
              <a:buChar char="•"/>
              <a:defRPr sz="2800">
                <a:solidFill>
                  <a:srgbClr val="131313"/>
                </a:solidFill>
                <a:latin typeface="+mn-lt"/>
                <a:ea typeface="+mn-ea"/>
                <a:cs typeface="+mn-cs"/>
              </a:defRPr>
            </a:lvl1pPr>
            <a:lvl2pPr marL="685750" indent="-338114" algn="l" rtl="0" eaLnBrk="1" fontAlgn="base" hangingPunct="1">
              <a:spcBef>
                <a:spcPts val="1000"/>
              </a:spcBef>
              <a:spcAft>
                <a:spcPct val="0"/>
              </a:spcAft>
              <a:buClr>
                <a:schemeClr val="accent1"/>
              </a:buClr>
              <a:buSzPct val="70000"/>
              <a:buFont typeface="Wingdings" panose="05000000000000000000" pitchFamily="2" charset="2"/>
              <a:buChar char=""/>
              <a:defRPr sz="2400">
                <a:solidFill>
                  <a:srgbClr val="131313"/>
                </a:solidFill>
                <a:latin typeface="+mn-lt"/>
                <a:ea typeface="+mn-ea"/>
                <a:cs typeface="+mn-cs"/>
              </a:defRPr>
            </a:lvl2pPr>
            <a:lvl3pPr marL="1033385" indent="-338114" algn="l" rtl="0" eaLnBrk="1" fontAlgn="base" hangingPunct="1">
              <a:spcBef>
                <a:spcPts val="1000"/>
              </a:spcBef>
              <a:spcAft>
                <a:spcPct val="0"/>
              </a:spcAft>
              <a:buClr>
                <a:schemeClr val="accent1"/>
              </a:buClr>
              <a:buSzPct val="110000"/>
              <a:buFont typeface="Courier New" panose="02070309020205020404" pitchFamily="49" charset="0"/>
              <a:buChar char="o"/>
              <a:defRPr sz="2200">
                <a:solidFill>
                  <a:srgbClr val="131313"/>
                </a:solidFill>
                <a:latin typeface="+mn-lt"/>
                <a:ea typeface="+mn-ea"/>
                <a:cs typeface="+mn-cs"/>
              </a:defRPr>
            </a:lvl3pPr>
            <a:lvl4pPr marL="1371498" indent="-338114" algn="l" rtl="0" eaLnBrk="1" fontAlgn="base" hangingPunct="1">
              <a:spcBef>
                <a:spcPts val="1000"/>
              </a:spcBef>
              <a:spcAft>
                <a:spcPct val="0"/>
              </a:spcAft>
              <a:buClr>
                <a:schemeClr val="accent1"/>
              </a:buClr>
              <a:buSzPct val="75000"/>
              <a:buFont typeface="Wingdings" panose="05000000000000000000" pitchFamily="2" charset="2"/>
              <a:buChar char="¨"/>
              <a:defRPr sz="2000">
                <a:solidFill>
                  <a:srgbClr val="131313"/>
                </a:solidFill>
                <a:latin typeface="+mn-lt"/>
                <a:ea typeface="+mn-ea"/>
                <a:cs typeface="+mn-cs"/>
              </a:defRPr>
            </a:lvl4pPr>
            <a:lvl5pPr marL="2057247" indent="-228584" algn="l" rtl="0" eaLnBrk="1" fontAlgn="base" hangingPunct="1">
              <a:spcBef>
                <a:spcPts val="1000"/>
              </a:spcBef>
              <a:spcAft>
                <a:spcPct val="0"/>
              </a:spcAft>
              <a:buFont typeface="Times" panose="02020603050405020304" pitchFamily="18" charset="0"/>
              <a:buChar char="•"/>
              <a:defRPr>
                <a:solidFill>
                  <a:srgbClr val="131313"/>
                </a:solidFill>
                <a:latin typeface="+mn-lt"/>
                <a:ea typeface="+mn-ea"/>
                <a:cs typeface="+mn-cs"/>
              </a:defRPr>
            </a:lvl5pPr>
            <a:lvl6pPr marL="2514412"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6pPr>
            <a:lvl7pPr marL="2971578"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7pPr>
            <a:lvl8pPr marL="3428744"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8pPr>
            <a:lvl9pPr marL="3885910"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9pPr>
          </a:lstStyle>
          <a:p>
            <a:pPr marL="171450" indent="-171450">
              <a:buClr>
                <a:schemeClr val="tx2"/>
              </a:buClr>
              <a:buSzPct val="100000"/>
            </a:pPr>
            <a:r>
              <a:rPr lang="en-US" sz="1900" kern="0" dirty="0">
                <a:solidFill>
                  <a:schemeClr val="tx1"/>
                </a:solidFill>
              </a:rPr>
              <a:t>Noncompetitive, </a:t>
            </a:r>
            <a:r>
              <a:rPr lang="en-US" sz="1900" b="1" kern="0" dirty="0">
                <a:solidFill>
                  <a:schemeClr val="tx2"/>
                </a:solidFill>
              </a:rPr>
              <a:t>reversible</a:t>
            </a:r>
            <a:r>
              <a:rPr lang="en-US" sz="1900" kern="0" dirty="0"/>
              <a:t> binding to an area on the P2Y</a:t>
            </a:r>
            <a:r>
              <a:rPr lang="en-US" sz="1900" kern="0" baseline="-25000" dirty="0"/>
              <a:t>12</a:t>
            </a:r>
            <a:r>
              <a:rPr lang="en-US" sz="1900" kern="0" dirty="0"/>
              <a:t> receptor that is distinct from the ADP binding site</a:t>
            </a:r>
          </a:p>
          <a:p>
            <a:pPr marL="171450" indent="-171450">
              <a:buClr>
                <a:schemeClr val="tx2"/>
              </a:buClr>
              <a:buSzPct val="100000"/>
            </a:pPr>
            <a:r>
              <a:rPr lang="en-US" sz="2000" dirty="0"/>
              <a:t>Does </a:t>
            </a:r>
            <a:r>
              <a:rPr lang="en-US" sz="2000" b="1" dirty="0"/>
              <a:t>not</a:t>
            </a:r>
            <a:r>
              <a:rPr lang="en-US" sz="2000" dirty="0"/>
              <a:t> need liver activation (not a prodrug)</a:t>
            </a:r>
          </a:p>
          <a:p>
            <a:pPr marL="171450" indent="-171450">
              <a:buClr>
                <a:schemeClr val="tx2"/>
              </a:buClr>
              <a:buSzPct val="100000"/>
            </a:pPr>
            <a:r>
              <a:rPr lang="en-US" sz="2000" dirty="0"/>
              <a:t>Negative </a:t>
            </a:r>
            <a:r>
              <a:rPr lang="en-US" sz="2000" b="1" dirty="0"/>
              <a:t>allosteric modulator</a:t>
            </a:r>
            <a:endParaRPr lang="en-US" sz="2000" dirty="0"/>
          </a:p>
          <a:p>
            <a:pPr marL="171450" indent="-171450">
              <a:buClr>
                <a:schemeClr val="tx2"/>
              </a:buClr>
              <a:buSzPct val="100000"/>
            </a:pPr>
            <a:r>
              <a:rPr lang="en-US" sz="1900" dirty="0">
                <a:solidFill>
                  <a:schemeClr val="tx1"/>
                </a:solidFill>
              </a:rPr>
              <a:t>Inhibits ADP signaling and receptor conformational </a:t>
            </a:r>
            <a:br>
              <a:rPr lang="en-US" sz="1900" dirty="0">
                <a:solidFill>
                  <a:schemeClr val="tx1"/>
                </a:solidFill>
              </a:rPr>
            </a:br>
            <a:r>
              <a:rPr lang="en-US" sz="1900" dirty="0">
                <a:solidFill>
                  <a:schemeClr val="tx1"/>
                </a:solidFill>
              </a:rPr>
              <a:t>change by “locking” the receptor in an inactive state</a:t>
            </a:r>
          </a:p>
        </p:txBody>
      </p:sp>
      <p:sp>
        <p:nvSpPr>
          <p:cNvPr id="11" name="Rectangle 10">
            <a:extLst>
              <a:ext uri="{FF2B5EF4-FFF2-40B4-BE49-F238E27FC236}">
                <a16:creationId xmlns:a16="http://schemas.microsoft.com/office/drawing/2014/main" id="{7F85CD68-0B44-0376-2749-696ED60E9554}"/>
              </a:ext>
            </a:extLst>
          </p:cNvPr>
          <p:cNvSpPr/>
          <p:nvPr/>
        </p:nvSpPr>
        <p:spPr>
          <a:xfrm>
            <a:off x="9444395" y="5757665"/>
            <a:ext cx="2623780" cy="461665"/>
          </a:xfrm>
          <a:prstGeom prst="rect">
            <a:avLst/>
          </a:prstGeom>
        </p:spPr>
        <p:txBody>
          <a:bodyPr wrap="square">
            <a:spAutoFit/>
          </a:bodyPr>
          <a:lstStyle/>
          <a:p>
            <a:r>
              <a:rPr lang="en-US" sz="800" i="1" spc="-1" dirty="0"/>
              <a:t>Source: Cardiovascular Therapeutics, Volume: 27, Issue: 4, Pages: 259-274, First published: 09 November 2009, DOI: (10.1111/j.1755-5922.2009.00096.x) </a:t>
            </a:r>
          </a:p>
        </p:txBody>
      </p:sp>
    </p:spTree>
    <p:extLst>
      <p:ext uri="{BB962C8B-B14F-4D97-AF65-F5344CB8AC3E}">
        <p14:creationId xmlns:p14="http://schemas.microsoft.com/office/powerpoint/2010/main" val="23168530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399" y="167892"/>
            <a:ext cx="10389241" cy="670308"/>
          </a:xfrm>
        </p:spPr>
        <p:txBody>
          <a:bodyPr/>
          <a:lstStyle/>
          <a:p>
            <a:r>
              <a:rPr lang="en-US" dirty="0"/>
              <a:t>Question 4</a:t>
            </a:r>
          </a:p>
        </p:txBody>
      </p:sp>
      <p:sp>
        <p:nvSpPr>
          <p:cNvPr id="4" name="Content Placeholder 2">
            <a:extLst>
              <a:ext uri="{FF2B5EF4-FFF2-40B4-BE49-F238E27FC236}">
                <a16:creationId xmlns:a16="http://schemas.microsoft.com/office/drawing/2014/main" id="{DFC72127-1F5C-24EA-F96D-D0A3A52D47BB}"/>
              </a:ext>
            </a:extLst>
          </p:cNvPr>
          <p:cNvSpPr txBox="1">
            <a:spLocks/>
          </p:cNvSpPr>
          <p:nvPr/>
        </p:nvSpPr>
        <p:spPr bwMode="auto">
          <a:xfrm>
            <a:off x="2145051" y="1798968"/>
            <a:ext cx="8530865" cy="1630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6075" indent="-346075" algn="l" rtl="0" eaLnBrk="1" fontAlgn="base" hangingPunct="1">
              <a:spcBef>
                <a:spcPts val="1000"/>
              </a:spcBef>
              <a:spcAft>
                <a:spcPct val="0"/>
              </a:spcAft>
              <a:buClr>
                <a:schemeClr val="accent1"/>
              </a:buClr>
              <a:buSzPct val="150000"/>
              <a:buFont typeface="Times" panose="02020603050405020304" pitchFamily="18" charset="0"/>
              <a:buChar char="•"/>
              <a:defRPr sz="2600" b="1">
                <a:solidFill>
                  <a:srgbClr val="131313"/>
                </a:solidFill>
                <a:latin typeface="+mn-lt"/>
                <a:ea typeface="+mn-ea"/>
                <a:cs typeface="+mn-cs"/>
              </a:defRPr>
            </a:lvl1pPr>
            <a:lvl2pPr marL="685750" indent="-338114" algn="l" rtl="0" eaLnBrk="1" fontAlgn="base" hangingPunct="1">
              <a:spcBef>
                <a:spcPts val="1000"/>
              </a:spcBef>
              <a:spcAft>
                <a:spcPct val="0"/>
              </a:spcAft>
              <a:buClr>
                <a:schemeClr val="accent1"/>
              </a:buClr>
              <a:buSzPct val="70000"/>
              <a:buFont typeface="Wingdings" panose="05000000000000000000" pitchFamily="2" charset="2"/>
              <a:buChar char=""/>
              <a:defRPr sz="2000">
                <a:solidFill>
                  <a:srgbClr val="131313"/>
                </a:solidFill>
                <a:latin typeface="+mn-lt"/>
                <a:ea typeface="+mn-ea"/>
                <a:cs typeface="+mn-cs"/>
              </a:defRPr>
            </a:lvl2pPr>
            <a:lvl3pPr marL="1033385" indent="-338114" algn="l" rtl="0" eaLnBrk="1" fontAlgn="base" hangingPunct="1">
              <a:spcBef>
                <a:spcPts val="1000"/>
              </a:spcBef>
              <a:spcAft>
                <a:spcPct val="0"/>
              </a:spcAft>
              <a:buClr>
                <a:schemeClr val="accent1"/>
              </a:buClr>
              <a:buSzPct val="110000"/>
              <a:buFont typeface="Courier New" panose="02070309020205020404" pitchFamily="49" charset="0"/>
              <a:buChar char="o"/>
              <a:defRPr sz="1800">
                <a:solidFill>
                  <a:srgbClr val="131313"/>
                </a:solidFill>
                <a:latin typeface="+mn-lt"/>
                <a:ea typeface="+mn-ea"/>
                <a:cs typeface="+mn-cs"/>
              </a:defRPr>
            </a:lvl3pPr>
            <a:lvl4pPr marL="1371498" indent="-338114" algn="l" rtl="0" eaLnBrk="1" fontAlgn="base" hangingPunct="1">
              <a:spcBef>
                <a:spcPts val="1000"/>
              </a:spcBef>
              <a:spcAft>
                <a:spcPct val="0"/>
              </a:spcAft>
              <a:buClr>
                <a:schemeClr val="accent1"/>
              </a:buClr>
              <a:buSzPct val="75000"/>
              <a:buFont typeface="Wingdings" panose="05000000000000000000" pitchFamily="2" charset="2"/>
              <a:buChar char="¨"/>
              <a:defRPr sz="1600">
                <a:solidFill>
                  <a:srgbClr val="131313"/>
                </a:solidFill>
                <a:latin typeface="+mn-lt"/>
                <a:ea typeface="+mn-ea"/>
                <a:cs typeface="+mn-cs"/>
              </a:defRPr>
            </a:lvl4pPr>
            <a:lvl5pPr marL="1828664" indent="0" algn="l" rtl="0" eaLnBrk="1" fontAlgn="base" hangingPunct="1">
              <a:spcBef>
                <a:spcPts val="1000"/>
              </a:spcBef>
              <a:spcAft>
                <a:spcPct val="0"/>
              </a:spcAft>
              <a:buFont typeface="Times" panose="02020603050405020304" pitchFamily="18" charset="0"/>
              <a:buNone/>
              <a:defRPr>
                <a:solidFill>
                  <a:srgbClr val="131313"/>
                </a:solidFill>
                <a:latin typeface="+mn-lt"/>
                <a:ea typeface="+mn-ea"/>
                <a:cs typeface="+mn-cs"/>
              </a:defRPr>
            </a:lvl5pPr>
            <a:lvl6pPr marL="2514412"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6pPr>
            <a:lvl7pPr marL="2971578"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7pPr>
            <a:lvl8pPr marL="3428744"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8pPr>
            <a:lvl9pPr marL="3885910" indent="-228584" algn="l" rtl="0" eaLnBrk="1" fontAlgn="base" hangingPunct="1">
              <a:spcBef>
                <a:spcPct val="20000"/>
              </a:spcBef>
              <a:spcAft>
                <a:spcPct val="0"/>
              </a:spcAft>
              <a:buFont typeface="Times" pitchFamily="-111" charset="0"/>
              <a:buChar char="•"/>
              <a:defRPr sz="1600">
                <a:solidFill>
                  <a:srgbClr val="131313"/>
                </a:solidFill>
                <a:latin typeface="+mn-lt"/>
                <a:ea typeface="+mn-ea"/>
                <a:cs typeface="+mn-cs"/>
              </a:defRPr>
            </a:lvl9pPr>
          </a:lstStyle>
          <a:p>
            <a:pPr marL="0" indent="0">
              <a:lnSpc>
                <a:spcPts val="3700"/>
              </a:lnSpc>
              <a:buNone/>
            </a:pPr>
            <a:r>
              <a:rPr lang="en-US" dirty="0"/>
              <a:t>Which of the following does NOT describe </a:t>
            </a:r>
            <a:br>
              <a:rPr lang="en-US" dirty="0"/>
            </a:br>
            <a:r>
              <a:rPr lang="en-US" dirty="0"/>
              <a:t>a mechanism of action of available antiplatelet agents?</a:t>
            </a:r>
          </a:p>
        </p:txBody>
      </p:sp>
      <p:pic>
        <p:nvPicPr>
          <p:cNvPr id="5" name="Picture 4">
            <a:extLst>
              <a:ext uri="{FF2B5EF4-FFF2-40B4-BE49-F238E27FC236}">
                <a16:creationId xmlns:a16="http://schemas.microsoft.com/office/drawing/2014/main" id="{224E3E7D-862D-DED0-6234-BCC072F3DFE8}"/>
              </a:ext>
            </a:extLst>
          </p:cNvPr>
          <p:cNvPicPr>
            <a:picLocks noChangeAspect="1"/>
          </p:cNvPicPr>
          <p:nvPr/>
        </p:nvPicPr>
        <p:blipFill>
          <a:blip r:embed="rId3"/>
          <a:stretch>
            <a:fillRect/>
          </a:stretch>
        </p:blipFill>
        <p:spPr>
          <a:xfrm>
            <a:off x="902524" y="1638300"/>
            <a:ext cx="1242527" cy="1489620"/>
          </a:xfrm>
          <a:prstGeom prst="rect">
            <a:avLst/>
          </a:prstGeom>
        </p:spPr>
      </p:pic>
    </p:spTree>
    <p:extLst>
      <p:ext uri="{BB962C8B-B14F-4D97-AF65-F5344CB8AC3E}">
        <p14:creationId xmlns:p14="http://schemas.microsoft.com/office/powerpoint/2010/main" val="3136398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37039072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18203955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26749156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DE07D-1AB5-AD33-2F2F-CE7D8179829E}"/>
              </a:ext>
            </a:extLst>
          </p:cNvPr>
          <p:cNvSpPr>
            <a:spLocks noGrp="1"/>
          </p:cNvSpPr>
          <p:nvPr>
            <p:ph type="title"/>
          </p:nvPr>
        </p:nvSpPr>
        <p:spPr/>
        <p:txBody>
          <a:bodyPr/>
          <a:lstStyle/>
          <a:p>
            <a:r>
              <a:rPr lang="en-US" dirty="0"/>
              <a:t>Antithrombotic Clinical Resource Page</a:t>
            </a:r>
          </a:p>
        </p:txBody>
      </p:sp>
      <p:pic>
        <p:nvPicPr>
          <p:cNvPr id="3" name="Content Placeholder 4">
            <a:extLst>
              <a:ext uri="{FF2B5EF4-FFF2-40B4-BE49-F238E27FC236}">
                <a16:creationId xmlns:a16="http://schemas.microsoft.com/office/drawing/2014/main" id="{D8267DDB-3BC2-CBBA-EF9F-5A7A377A8559}"/>
              </a:ext>
            </a:extLst>
          </p:cNvPr>
          <p:cNvPicPr>
            <a:picLocks noGrp="1" noChangeAspect="1"/>
          </p:cNvPicPr>
          <p:nvPr>
            <p:ph idx="1"/>
          </p:nvPr>
        </p:nvPicPr>
        <p:blipFill>
          <a:blip r:embed="rId3"/>
          <a:stretch>
            <a:fillRect/>
          </a:stretch>
        </p:blipFill>
        <p:spPr>
          <a:xfrm>
            <a:off x="1023938" y="1146262"/>
            <a:ext cx="8519160" cy="4816601"/>
          </a:xfrm>
          <a:solidFill>
            <a:schemeClr val="bg1"/>
          </a:solidFill>
          <a:ln>
            <a:solidFill>
              <a:schemeClr val="bg1">
                <a:lumMod val="50000"/>
              </a:schemeClr>
            </a:solidFill>
          </a:ln>
          <a:effectLst>
            <a:outerShdw blurRad="50800" dist="38100" dir="5400000" algn="t" rotWithShape="0">
              <a:prstClr val="black">
                <a:alpha val="40000"/>
              </a:prstClr>
            </a:outerShdw>
          </a:effectLst>
        </p:spPr>
      </p:pic>
      <p:sp>
        <p:nvSpPr>
          <p:cNvPr id="4" name="Rectangle 3">
            <a:extLst>
              <a:ext uri="{FF2B5EF4-FFF2-40B4-BE49-F238E27FC236}">
                <a16:creationId xmlns:a16="http://schemas.microsoft.com/office/drawing/2014/main" id="{DC34752A-89A6-2F98-517C-07C19E0AB3A4}"/>
              </a:ext>
            </a:extLst>
          </p:cNvPr>
          <p:cNvSpPr/>
          <p:nvPr/>
        </p:nvSpPr>
        <p:spPr bwMode="auto">
          <a:xfrm>
            <a:off x="1176974" y="3324225"/>
            <a:ext cx="2133600" cy="276931"/>
          </a:xfrm>
          <a:prstGeom prst="rect">
            <a:avLst/>
          </a:prstGeom>
          <a:noFill/>
          <a:ln w="25400"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eorgia" pitchFamily="-111" charset="0"/>
              <a:ea typeface="Osaka" pitchFamily="-111" charset="-128"/>
              <a:cs typeface="Osaka" pitchFamily="-111" charset="-128"/>
            </a:endParaRPr>
          </a:p>
        </p:txBody>
      </p:sp>
    </p:spTree>
    <p:extLst>
      <p:ext uri="{BB962C8B-B14F-4D97-AF65-F5344CB8AC3E}">
        <p14:creationId xmlns:p14="http://schemas.microsoft.com/office/powerpoint/2010/main" val="3586526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B0F78-5625-1A48-815A-5A2CD42F1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6BBFA-0CDB-1358-08BA-5C7F7033FE2E}"/>
              </a:ext>
            </a:extLst>
          </p:cNvPr>
          <p:cNvSpPr>
            <a:spLocks noGrp="1"/>
          </p:cNvSpPr>
          <p:nvPr>
            <p:ph type="ctrTitle"/>
          </p:nvPr>
        </p:nvSpPr>
        <p:spPr>
          <a:xfrm>
            <a:off x="734311" y="872620"/>
            <a:ext cx="7304789" cy="1754440"/>
          </a:xfrm>
        </p:spPr>
        <p:txBody>
          <a:bodyPr/>
          <a:lstStyle/>
          <a:p>
            <a:r>
              <a:rPr lang="en-US" sz="3400" dirty="0"/>
              <a:t>Antithrombotic Pharmacology:</a:t>
            </a:r>
            <a:br>
              <a:rPr lang="en-US" sz="3400" dirty="0"/>
            </a:br>
            <a:r>
              <a:rPr lang="en-US" sz="3400" dirty="0"/>
              <a:t>Anticoagulants, Thrombolytics </a:t>
            </a:r>
            <a:br>
              <a:rPr lang="en-US" sz="3400" dirty="0"/>
            </a:br>
            <a:r>
              <a:rPr lang="en-US" sz="3400" dirty="0"/>
              <a:t>&amp; Antiplatelets</a:t>
            </a:r>
          </a:p>
        </p:txBody>
      </p:sp>
      <p:sp>
        <p:nvSpPr>
          <p:cNvPr id="3" name="Subtitle 2">
            <a:extLst>
              <a:ext uri="{FF2B5EF4-FFF2-40B4-BE49-F238E27FC236}">
                <a16:creationId xmlns:a16="http://schemas.microsoft.com/office/drawing/2014/main" id="{281F8187-27EF-54BE-D88B-D45750570FF8}"/>
              </a:ext>
            </a:extLst>
          </p:cNvPr>
          <p:cNvSpPr>
            <a:spLocks noGrp="1"/>
          </p:cNvSpPr>
          <p:nvPr>
            <p:ph type="subTitle" idx="1"/>
          </p:nvPr>
        </p:nvSpPr>
        <p:spPr>
          <a:xfrm>
            <a:off x="743478" y="3290635"/>
            <a:ext cx="6914521" cy="1319465"/>
          </a:xfrm>
        </p:spPr>
        <p:txBody>
          <a:bodyPr>
            <a:normAutofit/>
          </a:bodyPr>
          <a:lstStyle/>
          <a:p>
            <a:pPr>
              <a:spcBef>
                <a:spcPts val="0"/>
              </a:spcBef>
            </a:pPr>
            <a:r>
              <a:rPr lang="en-US" sz="2800" b="1" dirty="0"/>
              <a:t>Bethany Pennington, PharmD, BCPS</a:t>
            </a:r>
          </a:p>
          <a:p>
            <a:pPr>
              <a:spcBef>
                <a:spcPts val="0"/>
              </a:spcBef>
            </a:pPr>
            <a:r>
              <a:rPr lang="en-US" sz="2600" dirty="0"/>
              <a:t>Associate Professor of Anesthesiology</a:t>
            </a:r>
          </a:p>
          <a:p>
            <a:pPr>
              <a:spcBef>
                <a:spcPts val="0"/>
              </a:spcBef>
            </a:pPr>
            <a:r>
              <a:rPr lang="en-US" sz="2600" dirty="0" err="1"/>
              <a:t>PollEv</a:t>
            </a:r>
            <a:r>
              <a:rPr lang="en-US" sz="2600" dirty="0"/>
              <a:t>: </a:t>
            </a:r>
            <a:r>
              <a:rPr lang="en-US" sz="2600" dirty="0" err="1"/>
              <a:t>fmolly</a:t>
            </a:r>
            <a:endParaRPr lang="en-US" sz="2600" dirty="0"/>
          </a:p>
          <a:p>
            <a:pPr>
              <a:spcBef>
                <a:spcPts val="0"/>
              </a:spcBef>
            </a:pPr>
            <a:endParaRPr lang="en-US" sz="2600" b="1" dirty="0"/>
          </a:p>
        </p:txBody>
      </p:sp>
    </p:spTree>
    <p:extLst>
      <p:ext uri="{BB962C8B-B14F-4D97-AF65-F5344CB8AC3E}">
        <p14:creationId xmlns:p14="http://schemas.microsoft.com/office/powerpoint/2010/main" val="2225870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1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9724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POLL_EMBED_ID" val="83090a73-9886-4217-b1d3-51bba32bc69d"/>
</p:tagLst>
</file>

<file path=ppt/tags/tag2.xml><?xml version="1.0" encoding="utf-8"?>
<p:tagLst xmlns:a="http://schemas.openxmlformats.org/drawingml/2006/main" xmlns:r="http://schemas.openxmlformats.org/officeDocument/2006/relationships" xmlns:p="http://schemas.openxmlformats.org/presentationml/2006/main">
  <p:tag name="__PE_POLL_EMBED_ID" val="c45109e4-7d54-4017-8de5-4171bd6d3880"/>
</p:tagLst>
</file>

<file path=ppt/tags/tag3.xml><?xml version="1.0" encoding="utf-8"?>
<p:tagLst xmlns:a="http://schemas.openxmlformats.org/drawingml/2006/main" xmlns:r="http://schemas.openxmlformats.org/officeDocument/2006/relationships" xmlns:p="http://schemas.openxmlformats.org/presentationml/2006/main">
  <p:tag name="__PE_POLL_EMBED_ID" val="4a147eb6-72a3-4f43-aa4d-fb0a81755ba6"/>
</p:tagLst>
</file>

<file path=ppt/tags/tag4.xml><?xml version="1.0" encoding="utf-8"?>
<p:tagLst xmlns:a="http://schemas.openxmlformats.org/drawingml/2006/main" xmlns:r="http://schemas.openxmlformats.org/officeDocument/2006/relationships" xmlns:p="http://schemas.openxmlformats.org/presentationml/2006/main">
  <p:tag name="__PE_POLL_EMBED_ID" val="1444a087-e9c4-46ad-b9d5-64080d96b2bd"/>
</p:tagLst>
</file>

<file path=ppt/tags/tag5.xml><?xml version="1.0" encoding="utf-8"?>
<p:tagLst xmlns:a="http://schemas.openxmlformats.org/drawingml/2006/main" xmlns:r="http://schemas.openxmlformats.org/officeDocument/2006/relationships" xmlns:p="http://schemas.openxmlformats.org/presentationml/2006/main">
  <p:tag name="__PE_POLL_EMBED_ID" val="ab0b5f1b-f3a7-49fc-87f7-67ed0d3f3c4b"/>
</p:tagLst>
</file>

<file path=ppt/tags/tag6.xml><?xml version="1.0" encoding="utf-8"?>
<p:tagLst xmlns:a="http://schemas.openxmlformats.org/drawingml/2006/main" xmlns:r="http://schemas.openxmlformats.org/officeDocument/2006/relationships" xmlns:p="http://schemas.openxmlformats.org/presentationml/2006/main">
  <p:tag name="__PE_POLL_EMBED_ID" val="b0c01d10-76f6-468f-84c7-341e2324b4b0"/>
</p:tagLst>
</file>

<file path=ppt/tags/tag7.xml><?xml version="1.0" encoding="utf-8"?>
<p:tagLst xmlns:a="http://schemas.openxmlformats.org/drawingml/2006/main" xmlns:r="http://schemas.openxmlformats.org/officeDocument/2006/relationships" xmlns:p="http://schemas.openxmlformats.org/presentationml/2006/main">
  <p:tag name="__PE_POLL_EMBED_ID" val="f0f4205e-2813-4ccb-b99a-3657b5b4f7c3"/>
</p:tagLst>
</file>

<file path=ppt/tags/tag8.xml><?xml version="1.0" encoding="utf-8"?>
<p:tagLst xmlns:a="http://schemas.openxmlformats.org/drawingml/2006/main" xmlns:r="http://schemas.openxmlformats.org/officeDocument/2006/relationships" xmlns:p="http://schemas.openxmlformats.org/presentationml/2006/main">
  <p:tag name="__PE_POLL_EMBED_ID" val="ceb3f850-6433-4641-9426-c71de87702e5"/>
</p:tagLst>
</file>

<file path=ppt/tags/tag9.xml><?xml version="1.0" encoding="utf-8"?>
<p:tagLst xmlns:a="http://schemas.openxmlformats.org/drawingml/2006/main" xmlns:r="http://schemas.openxmlformats.org/officeDocument/2006/relationships" xmlns:p="http://schemas.openxmlformats.org/presentationml/2006/main">
  <p:tag name="__PE_POLL_EMBED_ID" val="75d75ac7-f1d2-4da6-976c-8712316813cd"/>
</p:tagLst>
</file>

<file path=ppt/tags/tag10.xml><?xml version="1.0" encoding="utf-8"?>
<p:tagLst xmlns:a="http://schemas.openxmlformats.org/drawingml/2006/main" xmlns:r="http://schemas.openxmlformats.org/officeDocument/2006/relationships" xmlns:p="http://schemas.openxmlformats.org/presentationml/2006/main">
  <p:tag name="__PE_POLL_EMBED_ID" val="4e583c0e-e8d6-4bb0-8d21-30242841039d"/>
</p:tagLst>
</file>

<file path=ppt/theme/theme1.xml><?xml version="1.0" encoding="utf-8"?>
<a:theme xmlns:a="http://schemas.openxmlformats.org/drawingml/2006/main" name="New Gateway 1-13-25">
  <a:themeElements>
    <a:clrScheme name="NEW Gateway 1-13-25">
      <a:dk1>
        <a:srgbClr val="000000"/>
      </a:dk1>
      <a:lt1>
        <a:srgbClr val="FFFFFF"/>
      </a:lt1>
      <a:dk2>
        <a:srgbClr val="BA0C2F"/>
      </a:dk2>
      <a:lt2>
        <a:srgbClr val="D7D2CB"/>
      </a:lt2>
      <a:accent1>
        <a:srgbClr val="1A5675"/>
      </a:accent1>
      <a:accent2>
        <a:srgbClr val="347F77"/>
      </a:accent2>
      <a:accent3>
        <a:srgbClr val="719449"/>
      </a:accent3>
      <a:accent4>
        <a:srgbClr val="C59D42"/>
      </a:accent4>
      <a:accent5>
        <a:srgbClr val="D9D9D9"/>
      </a:accent5>
      <a:accent6>
        <a:srgbClr val="215732"/>
      </a:accent6>
      <a:hlink>
        <a:srgbClr val="BA0C2F"/>
      </a:hlink>
      <a:folHlink>
        <a:srgbClr val="40404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ew Gateway 1-13-25" id="{7C96718A-4905-4A67-B426-5F55EC0AB40E}" vid="{0D08E1C9-2868-48B4-970D-CDFF377A1945}"/>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New Gateway 1-13-25</Template>
  <TotalTime>4060</TotalTime>
  <Words>4040</Words>
  <Application>Microsoft Office PowerPoint</Application>
  <PresentationFormat>Widescreen</PresentationFormat>
  <Paragraphs>412</Paragraphs>
  <Slides>58</Slides>
  <Notes>56</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58</vt:i4>
      </vt:variant>
    </vt:vector>
  </HeadingPairs>
  <TitlesOfParts>
    <vt:vector size="73" baseType="lpstr">
      <vt:lpstr>Aptos</vt:lpstr>
      <vt:lpstr>Arial</vt:lpstr>
      <vt:lpstr>Calibri</vt:lpstr>
      <vt:lpstr>Georgia</vt:lpstr>
      <vt:lpstr>Montserrat</vt:lpstr>
      <vt:lpstr>Open Sans</vt:lpstr>
      <vt:lpstr>Osaka</vt:lpstr>
      <vt:lpstr>Source Sans Pro Semibold</vt:lpstr>
      <vt:lpstr>Symbol</vt:lpstr>
      <vt:lpstr>Times</vt:lpstr>
      <vt:lpstr>Times New Roman</vt:lpstr>
      <vt:lpstr>Verdana</vt:lpstr>
      <vt:lpstr>Wingdings</vt:lpstr>
      <vt:lpstr>New Gateway 1-13-25</vt:lpstr>
      <vt:lpstr>Custom Design</vt:lpstr>
      <vt:lpstr>Antithrombotic Pharmacology: Anticoagulants, Thrombolytics  &amp; Antiplatelets</vt:lpstr>
      <vt:lpstr>Pharmacology Drug Tables</vt:lpstr>
      <vt:lpstr>Pharmacology Drug Table Contents </vt:lpstr>
      <vt:lpstr>Medications Introduced in Module 2</vt:lpstr>
      <vt:lpstr>Pharmacology Thread Page</vt:lpstr>
      <vt:lpstr>Objectives </vt:lpstr>
      <vt:lpstr>Importance</vt:lpstr>
      <vt:lpstr>*More in Module 3*</vt:lpstr>
      <vt:lpstr>Anticoagulant History</vt:lpstr>
      <vt:lpstr>Anticoagulant Mechanisms: AT activators</vt:lpstr>
      <vt:lpstr>Anticoagulant Mechanisms: AT activators</vt:lpstr>
      <vt:lpstr>Heparin Structure</vt:lpstr>
      <vt:lpstr>Antithrombin (AT) activators</vt:lpstr>
      <vt:lpstr>Pentasaccharide Binding to AT</vt:lpstr>
      <vt:lpstr>Heparins</vt:lpstr>
      <vt:lpstr>Heparins</vt:lpstr>
      <vt:lpstr>Heparin Adverse Effects</vt:lpstr>
      <vt:lpstr>Heparin-induced thrombocytopenia (HIT)</vt:lpstr>
      <vt:lpstr>Question 1</vt:lpstr>
      <vt:lpstr>PowerPoint Presentation</vt:lpstr>
      <vt:lpstr>PowerPoint Presentation</vt:lpstr>
      <vt:lpstr>PowerPoint Presentation</vt:lpstr>
      <vt:lpstr>Warfarin</vt:lpstr>
      <vt:lpstr>Warfarin</vt:lpstr>
      <vt:lpstr>Warfarin</vt:lpstr>
      <vt:lpstr>Warfarin Pitfalls</vt:lpstr>
      <vt:lpstr>Selected Drug Interactions</vt:lpstr>
      <vt:lpstr>Anticoagulant Mechanisms:  Direct Thrombin Inhibitors</vt:lpstr>
      <vt:lpstr>Direct Thrombin Inhibitors</vt:lpstr>
      <vt:lpstr>Anticoagulant Mechanisms:  Direct FXa Inhibitors</vt:lpstr>
      <vt:lpstr>Direct Factor Xa Inhibitors</vt:lpstr>
      <vt:lpstr>Direct Oral Anticoagulants (DOAC)  versus Warfarin </vt:lpstr>
      <vt:lpstr>Summary of  Mechanisms</vt:lpstr>
      <vt:lpstr>Question 2</vt:lpstr>
      <vt:lpstr>PowerPoint Presentation</vt:lpstr>
      <vt:lpstr>Question 3</vt:lpstr>
      <vt:lpstr>PowerPoint Presentation</vt:lpstr>
      <vt:lpstr>PowerPoint Presentation</vt:lpstr>
      <vt:lpstr>PowerPoint Presentation</vt:lpstr>
      <vt:lpstr>Reversal Agents</vt:lpstr>
      <vt:lpstr>*More in Module 3*</vt:lpstr>
      <vt:lpstr>Fibrinolytics</vt:lpstr>
      <vt:lpstr>Fibrinolytics</vt:lpstr>
      <vt:lpstr>Antifibrinolytics</vt:lpstr>
      <vt:lpstr>*More in Module 3*</vt:lpstr>
      <vt:lpstr>Mechanisms of Action</vt:lpstr>
      <vt:lpstr>Mechanisms of Action:  Phosphodiesterase Inhibitors</vt:lpstr>
      <vt:lpstr>Pharmacology of Oral P2Y12 Receptor Inhibitors</vt:lpstr>
      <vt:lpstr>P2Y12 Receptor Inhibitors: Clopidogrel &amp; Prasugrel</vt:lpstr>
      <vt:lpstr>P2Y12 Receptor Inhibitor: Ticagrelor</vt:lpstr>
      <vt:lpstr>Question 4</vt:lpstr>
      <vt:lpstr>PowerPoint Presentation</vt:lpstr>
      <vt:lpstr>PowerPoint Presentation</vt:lpstr>
      <vt:lpstr>PowerPoint Presentation</vt:lpstr>
      <vt:lpstr>Antithrombotic Clinical Resource Page</vt:lpstr>
      <vt:lpstr>Antithrombotic Pharmacology: Anticoagulants, Thrombolytics  &amp; Antiplatelets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default</dc:creator>
  <cp:lastModifiedBy>Pennington, Bethany</cp:lastModifiedBy>
  <cp:revision>245</cp:revision>
  <dcterms:created xsi:type="dcterms:W3CDTF">2013-07-09T17:46:55Z</dcterms:created>
  <dcterms:modified xsi:type="dcterms:W3CDTF">2025-11-03T16:10:54Z</dcterms:modified>
</cp:coreProperties>
</file>